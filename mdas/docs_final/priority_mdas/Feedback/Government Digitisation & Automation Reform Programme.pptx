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Quattrocento Sans" charset="-122" pitchFamily="34"/>
      <p:regular r:id="rId19"/>
    </p:embeddedFont>
    <p:embeddedFont>
      <p:font typeface="Liter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f55d0e58887084f0f21368c4bef6b0d74d03eee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3A52">
                  <a:alpha val="95000"/>
                </a:srgbClr>
              </a:gs>
              <a:gs pos="50000">
                <a:srgbClr val="1A3A52">
                  <a:alpha val="90000"/>
                </a:srgbClr>
              </a:gs>
              <a:gs pos="100000">
                <a:srgbClr val="4A6B82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381000"/>
            <a:ext cx="2152650" cy="342900"/>
          </a:xfrm>
          <a:custGeom>
            <a:avLst/>
            <a:gdLst/>
            <a:ahLst/>
            <a:cxnLst/>
            <a:rect l="l" t="t" r="r" b="b"/>
            <a:pathLst>
              <a:path w="2152650" h="342900">
                <a:moveTo>
                  <a:pt x="0" y="0"/>
                </a:moveTo>
                <a:lnTo>
                  <a:pt x="2152650" y="0"/>
                </a:lnTo>
                <a:lnTo>
                  <a:pt x="21526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381000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4572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OF KENYA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61699" y="3810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Reform Initiative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61699" y="5715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1954560"/>
            <a:ext cx="62484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Government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Digitisation</a:t>
            </a:r>
            <a:pPr>
              <a:lnSpc>
                <a:spcPct val="9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&amp;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Reform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1000" y="4522366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4789066"/>
            <a:ext cx="601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spc="45" kern="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Architecture | Governance | Implementation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6719" y="63150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16669"/>
                </a:lnTo>
                <a:cubicBezTo>
                  <a:pt x="100013" y="7475"/>
                  <a:pt x="92538" y="0"/>
                  <a:pt x="83344" y="0"/>
                </a:cubicBezTo>
                <a:lnTo>
                  <a:pt x="16669" y="0"/>
                </a:lnTo>
                <a:close/>
                <a:moveTo>
                  <a:pt x="45839" y="91678"/>
                </a:moveTo>
                <a:lnTo>
                  <a:pt x="54173" y="91678"/>
                </a:lnTo>
                <a:cubicBezTo>
                  <a:pt x="58783" y="91678"/>
                  <a:pt x="62508" y="95403"/>
                  <a:pt x="62508" y="100013"/>
                </a:cubicBezTo>
                <a:lnTo>
                  <a:pt x="62508" y="120848"/>
                </a:lnTo>
                <a:lnTo>
                  <a:pt x="37505" y="120848"/>
                </a:lnTo>
                <a:lnTo>
                  <a:pt x="37505" y="100013"/>
                </a:lnTo>
                <a:cubicBezTo>
                  <a:pt x="37505" y="95403"/>
                  <a:pt x="41229" y="91678"/>
                  <a:pt x="45839" y="91678"/>
                </a:cubicBezTo>
                <a:close/>
                <a:moveTo>
                  <a:pt x="25003" y="29170"/>
                </a:moveTo>
                <a:cubicBezTo>
                  <a:pt x="25003" y="26878"/>
                  <a:pt x="26878" y="25003"/>
                  <a:pt x="29170" y="25003"/>
                </a:cubicBezTo>
                <a:lnTo>
                  <a:pt x="37505" y="25003"/>
                </a:lnTo>
                <a:cubicBezTo>
                  <a:pt x="39797" y="25003"/>
                  <a:pt x="41672" y="26878"/>
                  <a:pt x="41672" y="29170"/>
                </a:cubicBezTo>
                <a:lnTo>
                  <a:pt x="41672" y="37505"/>
                </a:lnTo>
                <a:cubicBezTo>
                  <a:pt x="41672" y="39797"/>
                  <a:pt x="39797" y="41672"/>
                  <a:pt x="37505" y="41672"/>
                </a:cubicBezTo>
                <a:lnTo>
                  <a:pt x="29170" y="41672"/>
                </a:lnTo>
                <a:cubicBezTo>
                  <a:pt x="26878" y="41672"/>
                  <a:pt x="25003" y="39797"/>
                  <a:pt x="25003" y="37505"/>
                </a:cubicBezTo>
                <a:lnTo>
                  <a:pt x="25003" y="29170"/>
                </a:lnTo>
                <a:close/>
                <a:moveTo>
                  <a:pt x="62508" y="25003"/>
                </a:moveTo>
                <a:lnTo>
                  <a:pt x="70842" y="25003"/>
                </a:lnTo>
                <a:cubicBezTo>
                  <a:pt x="73134" y="25003"/>
                  <a:pt x="75009" y="26878"/>
                  <a:pt x="75009" y="29170"/>
                </a:cubicBezTo>
                <a:lnTo>
                  <a:pt x="75009" y="37505"/>
                </a:lnTo>
                <a:cubicBezTo>
                  <a:pt x="75009" y="39797"/>
                  <a:pt x="73134" y="41672"/>
                  <a:pt x="70842" y="41672"/>
                </a:cubicBezTo>
                <a:lnTo>
                  <a:pt x="62508" y="41672"/>
                </a:lnTo>
                <a:cubicBezTo>
                  <a:pt x="60216" y="41672"/>
                  <a:pt x="58341" y="39797"/>
                  <a:pt x="58341" y="37505"/>
                </a:cubicBezTo>
                <a:lnTo>
                  <a:pt x="58341" y="29170"/>
                </a:lnTo>
                <a:cubicBezTo>
                  <a:pt x="58341" y="26878"/>
                  <a:pt x="60216" y="25003"/>
                  <a:pt x="62508" y="25003"/>
                </a:cubicBezTo>
                <a:close/>
                <a:moveTo>
                  <a:pt x="25003" y="62508"/>
                </a:moveTo>
                <a:cubicBezTo>
                  <a:pt x="25003" y="60216"/>
                  <a:pt x="26878" y="58341"/>
                  <a:pt x="29170" y="58341"/>
                </a:cubicBezTo>
                <a:lnTo>
                  <a:pt x="37505" y="58341"/>
                </a:lnTo>
                <a:cubicBezTo>
                  <a:pt x="39797" y="58341"/>
                  <a:pt x="41672" y="60216"/>
                  <a:pt x="41672" y="62508"/>
                </a:cubicBezTo>
                <a:lnTo>
                  <a:pt x="41672" y="70842"/>
                </a:lnTo>
                <a:cubicBezTo>
                  <a:pt x="41672" y="73134"/>
                  <a:pt x="39797" y="75009"/>
                  <a:pt x="37505" y="75009"/>
                </a:cubicBezTo>
                <a:lnTo>
                  <a:pt x="29170" y="75009"/>
                </a:lnTo>
                <a:cubicBezTo>
                  <a:pt x="26878" y="75009"/>
                  <a:pt x="25003" y="73134"/>
                  <a:pt x="25003" y="70842"/>
                </a:cubicBezTo>
                <a:lnTo>
                  <a:pt x="25003" y="62508"/>
                </a:lnTo>
                <a:close/>
                <a:moveTo>
                  <a:pt x="62508" y="58341"/>
                </a:moveTo>
                <a:lnTo>
                  <a:pt x="70842" y="58341"/>
                </a:lnTo>
                <a:cubicBezTo>
                  <a:pt x="73134" y="58341"/>
                  <a:pt x="75009" y="60216"/>
                  <a:pt x="75009" y="62508"/>
                </a:cubicBezTo>
                <a:lnTo>
                  <a:pt x="75009" y="70842"/>
                </a:lnTo>
                <a:cubicBezTo>
                  <a:pt x="75009" y="73134"/>
                  <a:pt x="73134" y="75009"/>
                  <a:pt x="70842" y="75009"/>
                </a:cubicBezTo>
                <a:lnTo>
                  <a:pt x="62508" y="75009"/>
                </a:lnTo>
                <a:cubicBezTo>
                  <a:pt x="60216" y="75009"/>
                  <a:pt x="58341" y="73134"/>
                  <a:pt x="58341" y="70842"/>
                </a:cubicBezTo>
                <a:lnTo>
                  <a:pt x="58341" y="62508"/>
                </a:lnTo>
                <a:cubicBezTo>
                  <a:pt x="58341" y="60216"/>
                  <a:pt x="60216" y="58341"/>
                  <a:pt x="62508" y="5834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623888" y="62865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Whole-of-Government Model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694161" y="6315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2926333" y="6286500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Interoperability Framework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821064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5044901" y="62865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&amp; Security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00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33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6162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MESSAGE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533400"/>
            <a:ext cx="6248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Kenya at a Digital Transformation Inflection Point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104900"/>
            <a:ext cx="5600700" cy="2038350"/>
          </a:xfrm>
          <a:custGeom>
            <a:avLst/>
            <a:gdLst/>
            <a:ahLst/>
            <a:cxnLst/>
            <a:rect l="l" t="t" r="r" b="b"/>
            <a:pathLst>
              <a:path w="5600700" h="2038350">
                <a:moveTo>
                  <a:pt x="38100" y="0"/>
                </a:moveTo>
                <a:lnTo>
                  <a:pt x="5524506" y="0"/>
                </a:lnTo>
                <a:cubicBezTo>
                  <a:pt x="5566587" y="0"/>
                  <a:pt x="5600700" y="34113"/>
                  <a:pt x="5600700" y="76194"/>
                </a:cubicBezTo>
                <a:lnTo>
                  <a:pt x="5600700" y="1962156"/>
                </a:lnTo>
                <a:cubicBezTo>
                  <a:pt x="5600700" y="2004237"/>
                  <a:pt x="5566587" y="2038350"/>
                  <a:pt x="5524506" y="2038350"/>
                </a:cubicBezTo>
                <a:lnTo>
                  <a:pt x="38100" y="2038350"/>
                </a:lnTo>
                <a:cubicBezTo>
                  <a:pt x="17058" y="2038350"/>
                  <a:pt x="0" y="2021292"/>
                  <a:pt x="0" y="2000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0050" y="1104900"/>
            <a:ext cx="38100" cy="2038350"/>
          </a:xfrm>
          <a:custGeom>
            <a:avLst/>
            <a:gdLst/>
            <a:ahLst/>
            <a:cxnLst/>
            <a:rect l="l" t="t" r="r" b="b"/>
            <a:pathLst>
              <a:path w="38100" h="2038350">
                <a:moveTo>
                  <a:pt x="38100" y="0"/>
                </a:moveTo>
                <a:lnTo>
                  <a:pt x="38100" y="0"/>
                </a:lnTo>
                <a:lnTo>
                  <a:pt x="38100" y="2038350"/>
                </a:lnTo>
                <a:lnTo>
                  <a:pt x="38100" y="2038350"/>
                </a:lnTo>
                <a:cubicBezTo>
                  <a:pt x="17072" y="2038350"/>
                  <a:pt x="0" y="2021278"/>
                  <a:pt x="0" y="2000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8" name="Shape 6"/>
          <p:cNvSpPr/>
          <p:nvPr/>
        </p:nvSpPr>
        <p:spPr>
          <a:xfrm>
            <a:off x="633413" y="1343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28675" y="129540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1676400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Fragmentation is limiting the impact of digital investments.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significant public expenditure on ICT, government services remain siloed, creating inefficiencies and diminishing returns on technology spending.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533650"/>
            <a:ext cx="5200650" cy="419100"/>
          </a:xfrm>
          <a:custGeom>
            <a:avLst/>
            <a:gdLst/>
            <a:ahLst/>
            <a:cxnLst/>
            <a:rect l="l" t="t" r="r" b="b"/>
            <a:pathLst>
              <a:path w="5200650" h="419100">
                <a:moveTo>
                  <a:pt x="38100" y="0"/>
                </a:moveTo>
                <a:lnTo>
                  <a:pt x="5162550" y="0"/>
                </a:lnTo>
                <a:cubicBezTo>
                  <a:pt x="5183592" y="0"/>
                  <a:pt x="5200650" y="17058"/>
                  <a:pt x="5200650" y="38100"/>
                </a:cubicBezTo>
                <a:lnTo>
                  <a:pt x="5200650" y="381000"/>
                </a:lnTo>
                <a:cubicBezTo>
                  <a:pt x="5200650" y="402042"/>
                  <a:pt x="5183592" y="419100"/>
                  <a:pt x="516255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742950" y="26717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952500" y="2647950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digital maturity is insufficient to meet citizen expectations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295650"/>
            <a:ext cx="5600700" cy="3181350"/>
          </a:xfrm>
          <a:custGeom>
            <a:avLst/>
            <a:gdLst/>
            <a:ahLst/>
            <a:cxnLst/>
            <a:rect l="l" t="t" r="r" b="b"/>
            <a:pathLst>
              <a:path w="5600700" h="3181350">
                <a:moveTo>
                  <a:pt x="38100" y="0"/>
                </a:moveTo>
                <a:lnTo>
                  <a:pt x="5524507" y="0"/>
                </a:lnTo>
                <a:cubicBezTo>
                  <a:pt x="5566587" y="0"/>
                  <a:pt x="5600700" y="34113"/>
                  <a:pt x="5600700" y="76193"/>
                </a:cubicBezTo>
                <a:lnTo>
                  <a:pt x="5600700" y="3105157"/>
                </a:lnTo>
                <a:cubicBezTo>
                  <a:pt x="5600700" y="3147237"/>
                  <a:pt x="5566587" y="3181350"/>
                  <a:pt x="5524507" y="3181350"/>
                </a:cubicBezTo>
                <a:lnTo>
                  <a:pt x="38100" y="3181350"/>
                </a:lnTo>
                <a:cubicBezTo>
                  <a:pt x="17072" y="3181350"/>
                  <a:pt x="0" y="3164278"/>
                  <a:pt x="0" y="3143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050" y="3295650"/>
            <a:ext cx="38100" cy="3181350"/>
          </a:xfrm>
          <a:custGeom>
            <a:avLst/>
            <a:gdLst/>
            <a:ahLst/>
            <a:cxnLst/>
            <a:rect l="l" t="t" r="r" b="b"/>
            <a:pathLst>
              <a:path w="38100" h="3181350">
                <a:moveTo>
                  <a:pt x="38100" y="0"/>
                </a:moveTo>
                <a:lnTo>
                  <a:pt x="38100" y="0"/>
                </a:lnTo>
                <a:lnTo>
                  <a:pt x="38100" y="3181350"/>
                </a:lnTo>
                <a:lnTo>
                  <a:pt x="38100" y="3181350"/>
                </a:lnTo>
                <a:cubicBezTo>
                  <a:pt x="17072" y="3181350"/>
                  <a:pt x="0" y="3164278"/>
                  <a:pt x="0" y="3143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844" y="35337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28675" y="348615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867150"/>
            <a:ext cx="5276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to a Whole-of-Government digital operating model.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strategic pivot moves from isolated digitisation efforts to coordinated, interoperable systems that maximize value and service delivery.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4724400"/>
            <a:ext cx="2543175" cy="647700"/>
          </a:xfrm>
          <a:custGeom>
            <a:avLst/>
            <a:gdLst/>
            <a:ahLst/>
            <a:cxnLst/>
            <a:rect l="l" t="t" r="r" b="b"/>
            <a:pathLst>
              <a:path w="2543175" h="647700">
                <a:moveTo>
                  <a:pt x="38098" y="0"/>
                </a:moveTo>
                <a:lnTo>
                  <a:pt x="2505077" y="0"/>
                </a:lnTo>
                <a:cubicBezTo>
                  <a:pt x="2526104" y="0"/>
                  <a:pt x="2543175" y="17071"/>
                  <a:pt x="2543175" y="38098"/>
                </a:cubicBezTo>
                <a:lnTo>
                  <a:pt x="2543175" y="609602"/>
                </a:lnTo>
                <a:cubicBezTo>
                  <a:pt x="2543175" y="630643"/>
                  <a:pt x="2526118" y="647700"/>
                  <a:pt x="25050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3A52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85938" y="4838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90563" y="50673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Architecture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67075" y="4724400"/>
            <a:ext cx="2543175" cy="647700"/>
          </a:xfrm>
          <a:custGeom>
            <a:avLst/>
            <a:gdLst/>
            <a:ahLst/>
            <a:cxnLst/>
            <a:rect l="l" t="t" r="r" b="b"/>
            <a:pathLst>
              <a:path w="2543175" h="647700">
                <a:moveTo>
                  <a:pt x="38098" y="0"/>
                </a:moveTo>
                <a:lnTo>
                  <a:pt x="2505077" y="0"/>
                </a:lnTo>
                <a:cubicBezTo>
                  <a:pt x="2526104" y="0"/>
                  <a:pt x="2543175" y="17071"/>
                  <a:pt x="2543175" y="38098"/>
                </a:cubicBezTo>
                <a:lnTo>
                  <a:pt x="2543175" y="609602"/>
                </a:lnTo>
                <a:cubicBezTo>
                  <a:pt x="2543175" y="630643"/>
                  <a:pt x="2526118" y="647700"/>
                  <a:pt x="250507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3A52">
              <a:alpha val="5098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43413" y="4838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3348038" y="506730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Integration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1250" y="1123950"/>
            <a:ext cx="5619750" cy="2495550"/>
          </a:xfrm>
          <a:custGeom>
            <a:avLst/>
            <a:gdLst/>
            <a:ahLst/>
            <a:cxnLst/>
            <a:rect l="l" t="t" r="r" b="b"/>
            <a:pathLst>
              <a:path w="5619750" h="249555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2419361"/>
                </a:lnTo>
                <a:cubicBezTo>
                  <a:pt x="5619750" y="2461439"/>
                  <a:pt x="5585639" y="2495550"/>
                  <a:pt x="5543561" y="2495550"/>
                </a:cubicBezTo>
                <a:lnTo>
                  <a:pt x="76189" y="2495550"/>
                </a:lnTo>
                <a:cubicBezTo>
                  <a:pt x="34139" y="2495550"/>
                  <a:pt x="0" y="2461411"/>
                  <a:pt x="0" y="24193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1250" y="1123950"/>
            <a:ext cx="5619750" cy="38100"/>
          </a:xfrm>
          <a:custGeom>
            <a:avLst/>
            <a:gdLst/>
            <a:ahLst/>
            <a:cxnLst/>
            <a:rect l="l" t="t" r="r" b="b"/>
            <a:pathLst>
              <a:path w="5619750" h="38100">
                <a:moveTo>
                  <a:pt x="38100" y="0"/>
                </a:moveTo>
                <a:lnTo>
                  <a:pt x="5581650" y="0"/>
                </a:lnTo>
                <a:cubicBezTo>
                  <a:pt x="5602678" y="0"/>
                  <a:pt x="5619750" y="17072"/>
                  <a:pt x="5619750" y="38100"/>
                </a:cubicBezTo>
                <a:lnTo>
                  <a:pt x="5619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5563" y="13811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600825" y="1333500"/>
            <a:ext cx="510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81750" y="17716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30" name="Text 28"/>
          <p:cNvSpPr/>
          <p:nvPr/>
        </p:nvSpPr>
        <p:spPr>
          <a:xfrm>
            <a:off x="6512942" y="182880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00850" y="1752600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Siloed Systems &amp; Duplicated Registries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00850" y="1981200"/>
            <a:ext cx="4886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MDAs maintain separate databases for similar data, creating inconsistencies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81750" y="2495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34" name="Text 32"/>
          <p:cNvSpPr/>
          <p:nvPr/>
        </p:nvSpPr>
        <p:spPr>
          <a:xfrm>
            <a:off x="6500143" y="25527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00850" y="2476500"/>
            <a:ext cx="4438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Paper-Digital Processes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00850" y="2705100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handoffs between digital and physical workflows create bottlenecks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81750" y="3028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38" name="Text 36"/>
          <p:cNvSpPr/>
          <p:nvPr/>
        </p:nvSpPr>
        <p:spPr>
          <a:xfrm>
            <a:off x="6498431" y="30861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00850" y="3009900"/>
            <a:ext cx="3600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Interoperability &amp; Governance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00850" y="3238500"/>
            <a:ext cx="3590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enforced standards prevents seamless data exchange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250" y="3771900"/>
            <a:ext cx="5619750" cy="1504950"/>
          </a:xfrm>
          <a:custGeom>
            <a:avLst/>
            <a:gdLst/>
            <a:ahLst/>
            <a:cxnLst/>
            <a:rect l="l" t="t" r="r" b="b"/>
            <a:pathLst>
              <a:path w="5619750" h="1504950">
                <a:moveTo>
                  <a:pt x="76196" y="0"/>
                </a:moveTo>
                <a:lnTo>
                  <a:pt x="5543554" y="0"/>
                </a:lnTo>
                <a:cubicBezTo>
                  <a:pt x="5585636" y="0"/>
                  <a:pt x="5619750" y="34114"/>
                  <a:pt x="5619750" y="76196"/>
                </a:cubicBezTo>
                <a:lnTo>
                  <a:pt x="5619750" y="1428754"/>
                </a:lnTo>
                <a:cubicBezTo>
                  <a:pt x="5619750" y="1470836"/>
                  <a:pt x="5585636" y="1504950"/>
                  <a:pt x="5543554" y="1504950"/>
                </a:cubicBezTo>
                <a:lnTo>
                  <a:pt x="76196" y="1504950"/>
                </a:lnTo>
                <a:cubicBezTo>
                  <a:pt x="34114" y="1504950"/>
                  <a:pt x="0" y="1470836"/>
                  <a:pt x="0" y="14287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52"/>
              </a:gs>
              <a:gs pos="100000">
                <a:srgbClr val="4A6B82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24613" y="3981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6781800" y="3962400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Imperative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81750" y="4343400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current fragmented approach cannot deliver the digital government Kenya needs. A coordinated transformation is essential for efficient service delivery and economic competitiveness."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REFORM 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Whole-of-Government Digital Operating 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from fragmented digitisation to coordinated, citizen-centric digital government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7581900" cy="1143000"/>
          </a:xfrm>
          <a:custGeom>
            <a:avLst/>
            <a:gdLst/>
            <a:ahLst/>
            <a:cxnLst/>
            <a:rect l="l" t="t" r="r" b="b"/>
            <a:pathLst>
              <a:path w="7581900" h="1143000">
                <a:moveTo>
                  <a:pt x="76204" y="0"/>
                </a:moveTo>
                <a:lnTo>
                  <a:pt x="7505696" y="0"/>
                </a:lnTo>
                <a:cubicBezTo>
                  <a:pt x="7547782" y="0"/>
                  <a:pt x="7581900" y="34118"/>
                  <a:pt x="7581900" y="76204"/>
                </a:cubicBezTo>
                <a:lnTo>
                  <a:pt x="7581900" y="1066796"/>
                </a:lnTo>
                <a:cubicBezTo>
                  <a:pt x="7581900" y="1108882"/>
                  <a:pt x="7547782" y="1143000"/>
                  <a:pt x="7505696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52"/>
              </a:gs>
              <a:gs pos="100000">
                <a:srgbClr val="4A6B82"/>
              </a:gs>
            </a:gsLst>
            <a:lin ang="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6497" y="14573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752475" y="1409700"/>
            <a:ext cx="7143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 Statement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3400" y="1752600"/>
            <a:ext cx="7353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registry-centric and interoperable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digital government where services are legally compliant, fully auditable, and seamlessly accessible to all citizens and businesses through a unified digital platform.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2533650"/>
            <a:ext cx="7581900" cy="3943350"/>
          </a:xfrm>
          <a:custGeom>
            <a:avLst/>
            <a:gdLst/>
            <a:ahLst/>
            <a:cxnLst/>
            <a:rect l="l" t="t" r="r" b="b"/>
            <a:pathLst>
              <a:path w="7581900" h="3943350">
                <a:moveTo>
                  <a:pt x="38100" y="0"/>
                </a:moveTo>
                <a:lnTo>
                  <a:pt x="7543800" y="0"/>
                </a:lnTo>
                <a:cubicBezTo>
                  <a:pt x="7564828" y="0"/>
                  <a:pt x="7581900" y="17072"/>
                  <a:pt x="7581900" y="38100"/>
                </a:cubicBezTo>
                <a:lnTo>
                  <a:pt x="7581900" y="3867164"/>
                </a:lnTo>
                <a:cubicBezTo>
                  <a:pt x="7581900" y="3909241"/>
                  <a:pt x="7547791" y="3943350"/>
                  <a:pt x="7505714" y="3943350"/>
                </a:cubicBezTo>
                <a:lnTo>
                  <a:pt x="76186" y="3943350"/>
                </a:lnTo>
                <a:cubicBezTo>
                  <a:pt x="34109" y="3943350"/>
                  <a:pt x="0" y="3909241"/>
                  <a:pt x="0" y="386716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2533650"/>
            <a:ext cx="7581900" cy="38100"/>
          </a:xfrm>
          <a:custGeom>
            <a:avLst/>
            <a:gdLst/>
            <a:ahLst/>
            <a:cxnLst/>
            <a:rect l="l" t="t" r="r" b="b"/>
            <a:pathLst>
              <a:path w="7581900" h="38100">
                <a:moveTo>
                  <a:pt x="38100" y="0"/>
                </a:moveTo>
                <a:lnTo>
                  <a:pt x="7543800" y="0"/>
                </a:lnTo>
                <a:cubicBezTo>
                  <a:pt x="7564828" y="0"/>
                  <a:pt x="7581900" y="17072"/>
                  <a:pt x="7581900" y="38100"/>
                </a:cubicBezTo>
                <a:lnTo>
                  <a:pt x="75819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2705100"/>
            <a:ext cx="736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Principles of Digitisation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450" y="3086100"/>
            <a:ext cx="3562350" cy="762000"/>
          </a:xfrm>
          <a:custGeom>
            <a:avLst/>
            <a:gdLst/>
            <a:ahLst/>
            <a:cxnLst/>
            <a:rect l="l" t="t" r="r" b="b"/>
            <a:pathLst>
              <a:path w="3562350" h="762000">
                <a:moveTo>
                  <a:pt x="38100" y="0"/>
                </a:moveTo>
                <a:lnTo>
                  <a:pt x="3486150" y="0"/>
                </a:lnTo>
                <a:cubicBezTo>
                  <a:pt x="3528206" y="0"/>
                  <a:pt x="3562350" y="34144"/>
                  <a:pt x="3562350" y="76200"/>
                </a:cubicBezTo>
                <a:lnTo>
                  <a:pt x="3562350" y="685800"/>
                </a:lnTo>
                <a:cubicBezTo>
                  <a:pt x="3562350" y="727856"/>
                  <a:pt x="3528206" y="762000"/>
                  <a:pt x="34861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552450" y="30861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200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5" name="Shape 13"/>
          <p:cNvSpPr/>
          <p:nvPr/>
        </p:nvSpPr>
        <p:spPr>
          <a:xfrm>
            <a:off x="757238" y="32861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35421" y="33337"/>
                </a:moveTo>
                <a:cubicBezTo>
                  <a:pt x="35421" y="16088"/>
                  <a:pt x="49425" y="2084"/>
                  <a:pt x="66675" y="2084"/>
                </a:cubicBezTo>
                <a:cubicBezTo>
                  <a:pt x="83925" y="2084"/>
                  <a:pt x="97929" y="16088"/>
                  <a:pt x="97929" y="33337"/>
                </a:cubicBezTo>
                <a:cubicBezTo>
                  <a:pt x="97929" y="50587"/>
                  <a:pt x="83925" y="64591"/>
                  <a:pt x="66675" y="64591"/>
                </a:cubicBezTo>
                <a:cubicBezTo>
                  <a:pt x="49425" y="64591"/>
                  <a:pt x="35421" y="50587"/>
                  <a:pt x="35421" y="33337"/>
                </a:cubicBezTo>
                <a:close/>
                <a:moveTo>
                  <a:pt x="12502" y="125615"/>
                </a:moveTo>
                <a:cubicBezTo>
                  <a:pt x="12502" y="99960"/>
                  <a:pt x="33285" y="79177"/>
                  <a:pt x="58940" y="79177"/>
                </a:cubicBezTo>
                <a:lnTo>
                  <a:pt x="74410" y="79177"/>
                </a:lnTo>
                <a:cubicBezTo>
                  <a:pt x="100065" y="79177"/>
                  <a:pt x="120848" y="99960"/>
                  <a:pt x="120848" y="125615"/>
                </a:cubicBezTo>
                <a:cubicBezTo>
                  <a:pt x="120848" y="129886"/>
                  <a:pt x="117384" y="133350"/>
                  <a:pt x="113113" y="133350"/>
                </a:cubicBezTo>
                <a:lnTo>
                  <a:pt x="20237" y="133350"/>
                </a:lnTo>
                <a:cubicBezTo>
                  <a:pt x="15966" y="133350"/>
                  <a:pt x="12502" y="129886"/>
                  <a:pt x="12502" y="125615"/>
                </a:cubicBezTo>
                <a:close/>
                <a:moveTo>
                  <a:pt x="159499" y="34562"/>
                </a:moveTo>
                <a:lnTo>
                  <a:pt x="138663" y="67899"/>
                </a:lnTo>
                <a:cubicBezTo>
                  <a:pt x="137569" y="69644"/>
                  <a:pt x="135694" y="70738"/>
                  <a:pt x="133636" y="70842"/>
                </a:cubicBezTo>
                <a:cubicBezTo>
                  <a:pt x="131579" y="70946"/>
                  <a:pt x="129600" y="70009"/>
                  <a:pt x="128375" y="68342"/>
                </a:cubicBezTo>
                <a:lnTo>
                  <a:pt x="115874" y="51673"/>
                </a:lnTo>
                <a:cubicBezTo>
                  <a:pt x="113790" y="48912"/>
                  <a:pt x="114363" y="45006"/>
                  <a:pt x="117124" y="42922"/>
                </a:cubicBezTo>
                <a:cubicBezTo>
                  <a:pt x="119885" y="40838"/>
                  <a:pt x="123792" y="41411"/>
                  <a:pt x="125875" y="44172"/>
                </a:cubicBezTo>
                <a:lnTo>
                  <a:pt x="132907" y="53548"/>
                </a:lnTo>
                <a:lnTo>
                  <a:pt x="148899" y="27946"/>
                </a:lnTo>
                <a:cubicBezTo>
                  <a:pt x="150722" y="25029"/>
                  <a:pt x="154577" y="24118"/>
                  <a:pt x="157520" y="25967"/>
                </a:cubicBezTo>
                <a:cubicBezTo>
                  <a:pt x="160463" y="27816"/>
                  <a:pt x="161348" y="31645"/>
                  <a:pt x="159499" y="3458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3238500"/>
            <a:ext cx="1133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Service-Centric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543300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around citizen needs, not organisational silos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48150" y="3086100"/>
            <a:ext cx="3562350" cy="762000"/>
          </a:xfrm>
          <a:custGeom>
            <a:avLst/>
            <a:gdLst/>
            <a:ahLst/>
            <a:cxnLst/>
            <a:rect l="l" t="t" r="r" b="b"/>
            <a:pathLst>
              <a:path w="3562350" h="762000">
                <a:moveTo>
                  <a:pt x="38100" y="0"/>
                </a:moveTo>
                <a:lnTo>
                  <a:pt x="3486150" y="0"/>
                </a:lnTo>
                <a:cubicBezTo>
                  <a:pt x="3528206" y="0"/>
                  <a:pt x="3562350" y="34144"/>
                  <a:pt x="3562350" y="76200"/>
                </a:cubicBezTo>
                <a:lnTo>
                  <a:pt x="3562350" y="685800"/>
                </a:lnTo>
                <a:cubicBezTo>
                  <a:pt x="3562350" y="727856"/>
                  <a:pt x="3528206" y="762000"/>
                  <a:pt x="34861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4248150" y="30861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20" name="Shape 18"/>
          <p:cNvSpPr/>
          <p:nvPr/>
        </p:nvSpPr>
        <p:spPr>
          <a:xfrm>
            <a:off x="4381500" y="3200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21" name="Shape 19"/>
          <p:cNvSpPr/>
          <p:nvPr/>
        </p:nvSpPr>
        <p:spPr>
          <a:xfrm>
            <a:off x="4477941" y="32861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4762500" y="32385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Registry-Centric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1500" y="3543300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source of truth for all government data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2450" y="3962400"/>
            <a:ext cx="3562350" cy="762000"/>
          </a:xfrm>
          <a:custGeom>
            <a:avLst/>
            <a:gdLst/>
            <a:ahLst/>
            <a:cxnLst/>
            <a:rect l="l" t="t" r="r" b="b"/>
            <a:pathLst>
              <a:path w="3562350" h="762000">
                <a:moveTo>
                  <a:pt x="38100" y="0"/>
                </a:moveTo>
                <a:lnTo>
                  <a:pt x="3486150" y="0"/>
                </a:lnTo>
                <a:cubicBezTo>
                  <a:pt x="3528206" y="0"/>
                  <a:pt x="3562350" y="34144"/>
                  <a:pt x="3562350" y="76200"/>
                </a:cubicBezTo>
                <a:lnTo>
                  <a:pt x="3562350" y="685800"/>
                </a:lnTo>
                <a:cubicBezTo>
                  <a:pt x="3562350" y="727856"/>
                  <a:pt x="3528206" y="762000"/>
                  <a:pt x="34861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2450" y="39624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076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790575" y="41624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31254" y="66675"/>
                </a:moveTo>
                <a:cubicBezTo>
                  <a:pt x="27790" y="66675"/>
                  <a:pt x="25003" y="69462"/>
                  <a:pt x="25003" y="72926"/>
                </a:cubicBezTo>
                <a:cubicBezTo>
                  <a:pt x="25003" y="76390"/>
                  <a:pt x="27790" y="79177"/>
                  <a:pt x="31254" y="79177"/>
                </a:cubicBezTo>
                <a:lnTo>
                  <a:pt x="68759" y="79177"/>
                </a:lnTo>
                <a:cubicBezTo>
                  <a:pt x="72223" y="79177"/>
                  <a:pt x="75009" y="76390"/>
                  <a:pt x="75009" y="72926"/>
                </a:cubicBezTo>
                <a:cubicBezTo>
                  <a:pt x="75009" y="69462"/>
                  <a:pt x="72223" y="66675"/>
                  <a:pt x="68759" y="66675"/>
                </a:cubicBezTo>
                <a:lnTo>
                  <a:pt x="31254" y="66675"/>
                </a:lnTo>
                <a:close/>
                <a:moveTo>
                  <a:pt x="31254" y="91678"/>
                </a:moveTo>
                <a:cubicBezTo>
                  <a:pt x="27790" y="91678"/>
                  <a:pt x="25003" y="94465"/>
                  <a:pt x="25003" y="97929"/>
                </a:cubicBezTo>
                <a:cubicBezTo>
                  <a:pt x="25003" y="101393"/>
                  <a:pt x="27790" y="104180"/>
                  <a:pt x="31254" y="104180"/>
                </a:cubicBezTo>
                <a:lnTo>
                  <a:pt x="68759" y="104180"/>
                </a:lnTo>
                <a:cubicBezTo>
                  <a:pt x="72223" y="104180"/>
                  <a:pt x="75009" y="101393"/>
                  <a:pt x="75009" y="97929"/>
                </a:cubicBezTo>
                <a:cubicBezTo>
                  <a:pt x="75009" y="94465"/>
                  <a:pt x="72223" y="91678"/>
                  <a:pt x="68759" y="91678"/>
                </a:cubicBezTo>
                <a:lnTo>
                  <a:pt x="31254" y="9167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066800" y="41148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Records-by-Design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4419600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records management from inception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48150" y="3962400"/>
            <a:ext cx="3562350" cy="762000"/>
          </a:xfrm>
          <a:custGeom>
            <a:avLst/>
            <a:gdLst/>
            <a:ahLst/>
            <a:cxnLst/>
            <a:rect l="l" t="t" r="r" b="b"/>
            <a:pathLst>
              <a:path w="3562350" h="762000">
                <a:moveTo>
                  <a:pt x="38100" y="0"/>
                </a:moveTo>
                <a:lnTo>
                  <a:pt x="3486150" y="0"/>
                </a:lnTo>
                <a:cubicBezTo>
                  <a:pt x="3528206" y="0"/>
                  <a:pt x="3562350" y="34144"/>
                  <a:pt x="3562350" y="76200"/>
                </a:cubicBezTo>
                <a:lnTo>
                  <a:pt x="3562350" y="685800"/>
                </a:lnTo>
                <a:cubicBezTo>
                  <a:pt x="3562350" y="727856"/>
                  <a:pt x="3528206" y="762000"/>
                  <a:pt x="348615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4248150" y="39624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4076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33" name="Shape 31"/>
          <p:cNvSpPr/>
          <p:nvPr/>
        </p:nvSpPr>
        <p:spPr>
          <a:xfrm>
            <a:off x="4461272" y="41624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9258" y="25003"/>
                </a:moveTo>
                <a:cubicBezTo>
                  <a:pt x="104935" y="25003"/>
                  <a:pt x="100742" y="26175"/>
                  <a:pt x="97069" y="28311"/>
                </a:cubicBezTo>
                <a:cubicBezTo>
                  <a:pt x="92954" y="24144"/>
                  <a:pt x="88162" y="20654"/>
                  <a:pt x="82875" y="18023"/>
                </a:cubicBezTo>
                <a:cubicBezTo>
                  <a:pt x="90220" y="11772"/>
                  <a:pt x="99570" y="8334"/>
                  <a:pt x="109258" y="8334"/>
                </a:cubicBezTo>
                <a:cubicBezTo>
                  <a:pt x="131761" y="8334"/>
                  <a:pt x="150019" y="26566"/>
                  <a:pt x="150019" y="49095"/>
                </a:cubicBezTo>
                <a:cubicBezTo>
                  <a:pt x="150019" y="59903"/>
                  <a:pt x="145721" y="70269"/>
                  <a:pt x="138090" y="77900"/>
                </a:cubicBezTo>
                <a:lnTo>
                  <a:pt x="119572" y="96418"/>
                </a:lnTo>
                <a:cubicBezTo>
                  <a:pt x="111941" y="104049"/>
                  <a:pt x="101575" y="108347"/>
                  <a:pt x="90767" y="108347"/>
                </a:cubicBezTo>
                <a:cubicBezTo>
                  <a:pt x="68264" y="108347"/>
                  <a:pt x="50006" y="90115"/>
                  <a:pt x="50006" y="67587"/>
                </a:cubicBezTo>
                <a:cubicBezTo>
                  <a:pt x="50006" y="67196"/>
                  <a:pt x="50006" y="66805"/>
                  <a:pt x="50032" y="66415"/>
                </a:cubicBezTo>
                <a:cubicBezTo>
                  <a:pt x="50163" y="61805"/>
                  <a:pt x="53991" y="58184"/>
                  <a:pt x="58601" y="58315"/>
                </a:cubicBezTo>
                <a:cubicBezTo>
                  <a:pt x="63211" y="58445"/>
                  <a:pt x="66831" y="62273"/>
                  <a:pt x="66701" y="66883"/>
                </a:cubicBezTo>
                <a:cubicBezTo>
                  <a:pt x="66701" y="67118"/>
                  <a:pt x="66701" y="67352"/>
                  <a:pt x="66701" y="67561"/>
                </a:cubicBezTo>
                <a:cubicBezTo>
                  <a:pt x="66701" y="80869"/>
                  <a:pt x="77484" y="91652"/>
                  <a:pt x="90793" y="91652"/>
                </a:cubicBezTo>
                <a:cubicBezTo>
                  <a:pt x="97174" y="91652"/>
                  <a:pt x="103294" y="89126"/>
                  <a:pt x="107826" y="84594"/>
                </a:cubicBezTo>
                <a:lnTo>
                  <a:pt x="126344" y="66076"/>
                </a:lnTo>
                <a:cubicBezTo>
                  <a:pt x="130850" y="61570"/>
                  <a:pt x="133402" y="55424"/>
                  <a:pt x="133402" y="49043"/>
                </a:cubicBezTo>
                <a:cubicBezTo>
                  <a:pt x="133402" y="35734"/>
                  <a:pt x="122619" y="24951"/>
                  <a:pt x="109311" y="24951"/>
                </a:cubicBezTo>
                <a:close/>
                <a:moveTo>
                  <a:pt x="71676" y="45136"/>
                </a:moveTo>
                <a:cubicBezTo>
                  <a:pt x="71181" y="44927"/>
                  <a:pt x="70686" y="44641"/>
                  <a:pt x="70243" y="44328"/>
                </a:cubicBezTo>
                <a:cubicBezTo>
                  <a:pt x="66961" y="42636"/>
                  <a:pt x="63211" y="41672"/>
                  <a:pt x="59278" y="41672"/>
                </a:cubicBezTo>
                <a:cubicBezTo>
                  <a:pt x="52897" y="41672"/>
                  <a:pt x="46777" y="44198"/>
                  <a:pt x="42245" y="48730"/>
                </a:cubicBezTo>
                <a:lnTo>
                  <a:pt x="23727" y="67248"/>
                </a:lnTo>
                <a:cubicBezTo>
                  <a:pt x="19221" y="71754"/>
                  <a:pt x="16669" y="77900"/>
                  <a:pt x="16669" y="84281"/>
                </a:cubicBezTo>
                <a:cubicBezTo>
                  <a:pt x="16669" y="97590"/>
                  <a:pt x="27451" y="108373"/>
                  <a:pt x="40760" y="108373"/>
                </a:cubicBezTo>
                <a:cubicBezTo>
                  <a:pt x="45058" y="108373"/>
                  <a:pt x="49251" y="107227"/>
                  <a:pt x="52923" y="105091"/>
                </a:cubicBezTo>
                <a:cubicBezTo>
                  <a:pt x="57038" y="109258"/>
                  <a:pt x="61831" y="112748"/>
                  <a:pt x="67144" y="115379"/>
                </a:cubicBezTo>
                <a:cubicBezTo>
                  <a:pt x="59799" y="121604"/>
                  <a:pt x="50475" y="125068"/>
                  <a:pt x="40760" y="125068"/>
                </a:cubicBezTo>
                <a:cubicBezTo>
                  <a:pt x="18257" y="125068"/>
                  <a:pt x="0" y="106836"/>
                  <a:pt x="0" y="84307"/>
                </a:cubicBezTo>
                <a:cubicBezTo>
                  <a:pt x="0" y="73499"/>
                  <a:pt x="4297" y="63133"/>
                  <a:pt x="11929" y="55502"/>
                </a:cubicBezTo>
                <a:lnTo>
                  <a:pt x="30447" y="36984"/>
                </a:lnTo>
                <a:cubicBezTo>
                  <a:pt x="38078" y="29353"/>
                  <a:pt x="48444" y="25055"/>
                  <a:pt x="59252" y="25055"/>
                </a:cubicBezTo>
                <a:cubicBezTo>
                  <a:pt x="81807" y="25055"/>
                  <a:pt x="100013" y="43443"/>
                  <a:pt x="100013" y="65920"/>
                </a:cubicBezTo>
                <a:cubicBezTo>
                  <a:pt x="100013" y="66258"/>
                  <a:pt x="100013" y="66597"/>
                  <a:pt x="100013" y="66935"/>
                </a:cubicBezTo>
                <a:cubicBezTo>
                  <a:pt x="99908" y="71545"/>
                  <a:pt x="96080" y="75166"/>
                  <a:pt x="91470" y="75061"/>
                </a:cubicBezTo>
                <a:cubicBezTo>
                  <a:pt x="86860" y="74957"/>
                  <a:pt x="83240" y="71129"/>
                  <a:pt x="83344" y="66519"/>
                </a:cubicBezTo>
                <a:cubicBezTo>
                  <a:pt x="83344" y="66310"/>
                  <a:pt x="83344" y="66128"/>
                  <a:pt x="83344" y="65920"/>
                </a:cubicBezTo>
                <a:cubicBezTo>
                  <a:pt x="83344" y="57143"/>
                  <a:pt x="78656" y="49433"/>
                  <a:pt x="71676" y="4518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4762500" y="41148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Interoperability-by-Design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81500" y="4419600"/>
            <a:ext cx="338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data exchange across all systems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2450" y="4838700"/>
            <a:ext cx="7258050" cy="647700"/>
          </a:xfrm>
          <a:custGeom>
            <a:avLst/>
            <a:gdLst/>
            <a:ahLst/>
            <a:cxnLst/>
            <a:rect l="l" t="t" r="r" b="b"/>
            <a:pathLst>
              <a:path w="7258050" h="647700">
                <a:moveTo>
                  <a:pt x="38100" y="0"/>
                </a:moveTo>
                <a:lnTo>
                  <a:pt x="7181848" y="0"/>
                </a:lnTo>
                <a:cubicBezTo>
                  <a:pt x="7223933" y="0"/>
                  <a:pt x="7258050" y="34117"/>
                  <a:pt x="7258050" y="76202"/>
                </a:cubicBezTo>
                <a:lnTo>
                  <a:pt x="7258050" y="571498"/>
                </a:lnTo>
                <a:cubicBezTo>
                  <a:pt x="7258050" y="613583"/>
                  <a:pt x="7223933" y="647700"/>
                  <a:pt x="7181848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>
              <a:alpha val="5098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52450" y="4838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8" name="Shape 36"/>
          <p:cNvSpPr/>
          <p:nvPr/>
        </p:nvSpPr>
        <p:spPr>
          <a:xfrm>
            <a:off x="709613" y="5076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976312" y="4953000"/>
            <a:ext cx="3914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Phased &amp; Risk-Aware Conversion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76312" y="5181600"/>
            <a:ext cx="390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transformation with governance controls at each phase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096250" y="1257300"/>
            <a:ext cx="3714750" cy="1905000"/>
          </a:xfrm>
          <a:custGeom>
            <a:avLst/>
            <a:gdLst/>
            <a:ahLst/>
            <a:cxnLst/>
            <a:rect l="l" t="t" r="r" b="b"/>
            <a:pathLst>
              <a:path w="3714750" h="1905000">
                <a:moveTo>
                  <a:pt x="38100" y="0"/>
                </a:moveTo>
                <a:lnTo>
                  <a:pt x="3638550" y="0"/>
                </a:lnTo>
                <a:cubicBezTo>
                  <a:pt x="3680606" y="0"/>
                  <a:pt x="3714750" y="34144"/>
                  <a:pt x="3714750" y="76200"/>
                </a:cubicBezTo>
                <a:lnTo>
                  <a:pt x="3714750" y="1828800"/>
                </a:lnTo>
                <a:cubicBezTo>
                  <a:pt x="3714750" y="1870856"/>
                  <a:pt x="3680606" y="1905000"/>
                  <a:pt x="363855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096250" y="1257300"/>
            <a:ext cx="38100" cy="1905000"/>
          </a:xfrm>
          <a:custGeom>
            <a:avLst/>
            <a:gdLst/>
            <a:ahLst/>
            <a:cxnLst/>
            <a:rect l="l" t="t" r="r" b="b"/>
            <a:pathLst>
              <a:path w="38100" h="19050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43" name="Shape 41"/>
          <p:cNvSpPr/>
          <p:nvPr/>
        </p:nvSpPr>
        <p:spPr>
          <a:xfrm>
            <a:off x="8286750" y="1447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8458200" y="140970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State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267700" y="18097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6" name="Text 44"/>
          <p:cNvSpPr/>
          <p:nvPr/>
        </p:nvSpPr>
        <p:spPr>
          <a:xfrm>
            <a:off x="8420100" y="1752600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Legally compliant services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67700" y="20764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8420100" y="201930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auditable processes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67700" y="2343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0" name="Text 48"/>
          <p:cNvSpPr/>
          <p:nvPr/>
        </p:nvSpPr>
        <p:spPr>
          <a:xfrm>
            <a:off x="8420100" y="228600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digital workflows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67700" y="26098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8420100" y="25527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citizen experience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67700" y="2876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4" name="Text 52"/>
          <p:cNvSpPr/>
          <p:nvPr/>
        </p:nvSpPr>
        <p:spPr>
          <a:xfrm>
            <a:off x="8420100" y="2819400"/>
            <a:ext cx="1724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decision making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077200" y="3276600"/>
            <a:ext cx="3733800" cy="3200400"/>
          </a:xfrm>
          <a:custGeom>
            <a:avLst/>
            <a:gdLst/>
            <a:ahLst/>
            <a:cxnLst/>
            <a:rect l="l" t="t" r="r" b="b"/>
            <a:pathLst>
              <a:path w="3733800" h="3200400">
                <a:moveTo>
                  <a:pt x="76202" y="0"/>
                </a:moveTo>
                <a:lnTo>
                  <a:pt x="3657598" y="0"/>
                </a:lnTo>
                <a:cubicBezTo>
                  <a:pt x="3699683" y="0"/>
                  <a:pt x="3733800" y="34117"/>
                  <a:pt x="3733800" y="76202"/>
                </a:cubicBezTo>
                <a:lnTo>
                  <a:pt x="3733800" y="3124198"/>
                </a:lnTo>
                <a:cubicBezTo>
                  <a:pt x="3733800" y="3166283"/>
                  <a:pt x="3699683" y="3200400"/>
                  <a:pt x="3657598" y="3200400"/>
                </a:cubicBezTo>
                <a:lnTo>
                  <a:pt x="76202" y="3200400"/>
                </a:lnTo>
                <a:cubicBezTo>
                  <a:pt x="34117" y="3200400"/>
                  <a:pt x="0" y="3166283"/>
                  <a:pt x="0" y="3124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48650" y="3467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7" name="Text 55"/>
          <p:cNvSpPr/>
          <p:nvPr/>
        </p:nvSpPr>
        <p:spPr>
          <a:xfrm>
            <a:off x="8420100" y="34290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Outcomes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29600" y="37719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38101" y="0"/>
                </a:moveTo>
                <a:lnTo>
                  <a:pt x="3390899" y="0"/>
                </a:lnTo>
                <a:cubicBezTo>
                  <a:pt x="3411942" y="0"/>
                  <a:pt x="3429000" y="17058"/>
                  <a:pt x="3429000" y="38101"/>
                </a:cubicBezTo>
                <a:lnTo>
                  <a:pt x="3429000" y="495299"/>
                </a:lnTo>
                <a:cubicBezTo>
                  <a:pt x="3429000" y="516342"/>
                  <a:pt x="3411942" y="533400"/>
                  <a:pt x="33908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9" name="Text 57"/>
          <p:cNvSpPr/>
          <p:nvPr/>
        </p:nvSpPr>
        <p:spPr>
          <a:xfrm>
            <a:off x="8305800" y="388620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Efficiency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47599" y="3848100"/>
            <a:ext cx="52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↑75%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05800" y="4152900"/>
            <a:ext cx="3276600" cy="76200"/>
          </a:xfrm>
          <a:custGeom>
            <a:avLst/>
            <a:gdLst/>
            <a:ahLst/>
            <a:cxnLst/>
            <a:rect l="l" t="t" r="r" b="b"/>
            <a:pathLst>
              <a:path w="3276600" h="76200">
                <a:moveTo>
                  <a:pt x="38100" y="0"/>
                </a:moveTo>
                <a:lnTo>
                  <a:pt x="3238500" y="0"/>
                </a:lnTo>
                <a:cubicBezTo>
                  <a:pt x="3259528" y="0"/>
                  <a:pt x="3276600" y="17072"/>
                  <a:pt x="3276600" y="38100"/>
                </a:cubicBezTo>
                <a:lnTo>
                  <a:pt x="3276600" y="38100"/>
                </a:lnTo>
                <a:cubicBezTo>
                  <a:pt x="3276600" y="59128"/>
                  <a:pt x="3259528" y="76200"/>
                  <a:pt x="3238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2" name="Shape 60"/>
          <p:cNvSpPr/>
          <p:nvPr/>
        </p:nvSpPr>
        <p:spPr>
          <a:xfrm>
            <a:off x="8305800" y="4152900"/>
            <a:ext cx="2457450" cy="76200"/>
          </a:xfrm>
          <a:custGeom>
            <a:avLst/>
            <a:gdLst/>
            <a:ahLst/>
            <a:cxnLst/>
            <a:rect l="l" t="t" r="r" b="b"/>
            <a:pathLst>
              <a:path w="2457450" h="76200">
                <a:moveTo>
                  <a:pt x="38100" y="0"/>
                </a:moveTo>
                <a:lnTo>
                  <a:pt x="2419350" y="0"/>
                </a:lnTo>
                <a:cubicBezTo>
                  <a:pt x="2440378" y="0"/>
                  <a:pt x="2457450" y="17072"/>
                  <a:pt x="2457450" y="38100"/>
                </a:cubicBezTo>
                <a:lnTo>
                  <a:pt x="2457450" y="38100"/>
                </a:lnTo>
                <a:cubicBezTo>
                  <a:pt x="2457450" y="59128"/>
                  <a:pt x="2440378" y="76200"/>
                  <a:pt x="24193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3" name="Shape 61"/>
          <p:cNvSpPr/>
          <p:nvPr/>
        </p:nvSpPr>
        <p:spPr>
          <a:xfrm>
            <a:off x="8229600" y="43815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38101" y="0"/>
                </a:moveTo>
                <a:lnTo>
                  <a:pt x="3390899" y="0"/>
                </a:lnTo>
                <a:cubicBezTo>
                  <a:pt x="3411942" y="0"/>
                  <a:pt x="3429000" y="17058"/>
                  <a:pt x="3429000" y="38101"/>
                </a:cubicBezTo>
                <a:lnTo>
                  <a:pt x="3429000" y="495299"/>
                </a:lnTo>
                <a:cubicBezTo>
                  <a:pt x="3429000" y="516342"/>
                  <a:pt x="3411942" y="533400"/>
                  <a:pt x="33908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4" name="Text 62"/>
          <p:cNvSpPr/>
          <p:nvPr/>
        </p:nvSpPr>
        <p:spPr>
          <a:xfrm>
            <a:off x="8305800" y="449580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112475" y="4457700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↓60%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05800" y="4762500"/>
            <a:ext cx="3276600" cy="76200"/>
          </a:xfrm>
          <a:custGeom>
            <a:avLst/>
            <a:gdLst/>
            <a:ahLst/>
            <a:cxnLst/>
            <a:rect l="l" t="t" r="r" b="b"/>
            <a:pathLst>
              <a:path w="3276600" h="76200">
                <a:moveTo>
                  <a:pt x="38100" y="0"/>
                </a:moveTo>
                <a:lnTo>
                  <a:pt x="3238500" y="0"/>
                </a:lnTo>
                <a:cubicBezTo>
                  <a:pt x="3259528" y="0"/>
                  <a:pt x="3276600" y="17072"/>
                  <a:pt x="3276600" y="38100"/>
                </a:cubicBezTo>
                <a:lnTo>
                  <a:pt x="3276600" y="38100"/>
                </a:lnTo>
                <a:cubicBezTo>
                  <a:pt x="3276600" y="59128"/>
                  <a:pt x="3259528" y="76200"/>
                  <a:pt x="3238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67" name="Shape 65"/>
          <p:cNvSpPr/>
          <p:nvPr/>
        </p:nvSpPr>
        <p:spPr>
          <a:xfrm>
            <a:off x="8305800" y="4762500"/>
            <a:ext cx="1962150" cy="76200"/>
          </a:xfrm>
          <a:custGeom>
            <a:avLst/>
            <a:gdLst/>
            <a:ahLst/>
            <a:cxnLst/>
            <a:rect l="l" t="t" r="r" b="b"/>
            <a:pathLst>
              <a:path w="1962150" h="76200">
                <a:moveTo>
                  <a:pt x="38100" y="0"/>
                </a:moveTo>
                <a:lnTo>
                  <a:pt x="1924050" y="0"/>
                </a:lnTo>
                <a:cubicBezTo>
                  <a:pt x="1945078" y="0"/>
                  <a:pt x="1962150" y="17072"/>
                  <a:pt x="1962150" y="38100"/>
                </a:cubicBezTo>
                <a:lnTo>
                  <a:pt x="1962150" y="38100"/>
                </a:lnTo>
                <a:cubicBezTo>
                  <a:pt x="1962150" y="59128"/>
                  <a:pt x="1945078" y="76200"/>
                  <a:pt x="19240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8" name="Shape 66"/>
          <p:cNvSpPr/>
          <p:nvPr/>
        </p:nvSpPr>
        <p:spPr>
          <a:xfrm>
            <a:off x="8229600" y="4991100"/>
            <a:ext cx="3429000" cy="533400"/>
          </a:xfrm>
          <a:custGeom>
            <a:avLst/>
            <a:gdLst/>
            <a:ahLst/>
            <a:cxnLst/>
            <a:rect l="l" t="t" r="r" b="b"/>
            <a:pathLst>
              <a:path w="3429000" h="533400">
                <a:moveTo>
                  <a:pt x="38101" y="0"/>
                </a:moveTo>
                <a:lnTo>
                  <a:pt x="3390899" y="0"/>
                </a:lnTo>
                <a:cubicBezTo>
                  <a:pt x="3411942" y="0"/>
                  <a:pt x="3429000" y="17058"/>
                  <a:pt x="3429000" y="38101"/>
                </a:cubicBezTo>
                <a:lnTo>
                  <a:pt x="3429000" y="495299"/>
                </a:lnTo>
                <a:cubicBezTo>
                  <a:pt x="3429000" y="516342"/>
                  <a:pt x="3411942" y="533400"/>
                  <a:pt x="33908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9" name="Text 67"/>
          <p:cNvSpPr/>
          <p:nvPr/>
        </p:nvSpPr>
        <p:spPr>
          <a:xfrm>
            <a:off x="8305800" y="51054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Satisfaction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1130335" y="5067300"/>
            <a:ext cx="533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↑85%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305800" y="5372100"/>
            <a:ext cx="3276600" cy="76200"/>
          </a:xfrm>
          <a:custGeom>
            <a:avLst/>
            <a:gdLst/>
            <a:ahLst/>
            <a:cxnLst/>
            <a:rect l="l" t="t" r="r" b="b"/>
            <a:pathLst>
              <a:path w="3276600" h="76200">
                <a:moveTo>
                  <a:pt x="38100" y="0"/>
                </a:moveTo>
                <a:lnTo>
                  <a:pt x="3238500" y="0"/>
                </a:lnTo>
                <a:cubicBezTo>
                  <a:pt x="3259528" y="0"/>
                  <a:pt x="3276600" y="17072"/>
                  <a:pt x="3276600" y="38100"/>
                </a:cubicBezTo>
                <a:lnTo>
                  <a:pt x="3276600" y="38100"/>
                </a:lnTo>
                <a:cubicBezTo>
                  <a:pt x="3276600" y="59128"/>
                  <a:pt x="3259528" y="76200"/>
                  <a:pt x="32385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72" name="Shape 70"/>
          <p:cNvSpPr/>
          <p:nvPr/>
        </p:nvSpPr>
        <p:spPr>
          <a:xfrm>
            <a:off x="8305800" y="5372100"/>
            <a:ext cx="2781300" cy="76200"/>
          </a:xfrm>
          <a:custGeom>
            <a:avLst/>
            <a:gdLst/>
            <a:ahLst/>
            <a:cxnLst/>
            <a:rect l="l" t="t" r="r" b="b"/>
            <a:pathLst>
              <a:path w="2781300" h="76200">
                <a:moveTo>
                  <a:pt x="38100" y="0"/>
                </a:moveTo>
                <a:lnTo>
                  <a:pt x="2743200" y="0"/>
                </a:lnTo>
                <a:cubicBezTo>
                  <a:pt x="2764228" y="0"/>
                  <a:pt x="2781300" y="17072"/>
                  <a:pt x="2781300" y="38100"/>
                </a:cubicBezTo>
                <a:lnTo>
                  <a:pt x="2781300" y="38100"/>
                </a:lnTo>
                <a:cubicBezTo>
                  <a:pt x="2781300" y="59128"/>
                  <a:pt x="2764228" y="76200"/>
                  <a:pt x="27432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DIAGNOSTICS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State Assessment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 of 344+ services across Ministries, Departments, and Agencies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5657850" cy="1466850"/>
          </a:xfrm>
          <a:custGeom>
            <a:avLst/>
            <a:gdLst/>
            <a:ahLst/>
            <a:cxnLst/>
            <a:rect l="l" t="t" r="r" b="b"/>
            <a:pathLst>
              <a:path w="5657850" h="146685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1390647"/>
                </a:lnTo>
                <a:cubicBezTo>
                  <a:pt x="5657850" y="1432705"/>
                  <a:pt x="5623705" y="1466850"/>
                  <a:pt x="5581647" y="1466850"/>
                </a:cubicBezTo>
                <a:lnTo>
                  <a:pt x="76203" y="1466850"/>
                </a:lnTo>
                <a:cubicBezTo>
                  <a:pt x="34145" y="1466850"/>
                  <a:pt x="0" y="1432705"/>
                  <a:pt x="0" y="13906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276350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7" name="Shape 5"/>
          <p:cNvSpPr/>
          <p:nvPr/>
        </p:nvSpPr>
        <p:spPr>
          <a:xfrm>
            <a:off x="578644" y="14954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92556" y="87299"/>
                </a:moveTo>
                <a:cubicBezTo>
                  <a:pt x="94900" y="83548"/>
                  <a:pt x="93762" y="78592"/>
                  <a:pt x="90011" y="76215"/>
                </a:cubicBezTo>
                <a:cubicBezTo>
                  <a:pt x="86261" y="73837"/>
                  <a:pt x="81305" y="75009"/>
                  <a:pt x="78927" y="78760"/>
                </a:cubicBezTo>
                <a:lnTo>
                  <a:pt x="58367" y="111677"/>
                </a:lnTo>
                <a:lnTo>
                  <a:pt x="49325" y="99622"/>
                </a:lnTo>
                <a:cubicBezTo>
                  <a:pt x="46646" y="96072"/>
                  <a:pt x="41624" y="95336"/>
                  <a:pt x="38074" y="98014"/>
                </a:cubicBezTo>
                <a:cubicBezTo>
                  <a:pt x="34524" y="100693"/>
                  <a:pt x="33788" y="105716"/>
                  <a:pt x="36467" y="109266"/>
                </a:cubicBezTo>
                <a:lnTo>
                  <a:pt x="52540" y="130697"/>
                </a:lnTo>
                <a:cubicBezTo>
                  <a:pt x="54114" y="132807"/>
                  <a:pt x="56659" y="134012"/>
                  <a:pt x="59304" y="133912"/>
                </a:cubicBezTo>
                <a:cubicBezTo>
                  <a:pt x="61950" y="133811"/>
                  <a:pt x="64361" y="132405"/>
                  <a:pt x="65767" y="130128"/>
                </a:cubicBezTo>
                <a:lnTo>
                  <a:pt x="92556" y="8726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52475" y="14478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Assessment Scope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3400" y="1828800"/>
            <a:ext cx="2619375" cy="762000"/>
          </a:xfrm>
          <a:custGeom>
            <a:avLst/>
            <a:gdLst/>
            <a:ahLst/>
            <a:cxnLst/>
            <a:rect l="l" t="t" r="r" b="b"/>
            <a:pathLst>
              <a:path w="2619375" h="7620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685800"/>
                </a:lnTo>
                <a:cubicBezTo>
                  <a:pt x="2619375" y="727856"/>
                  <a:pt x="2585231" y="762000"/>
                  <a:pt x="25431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0" name="Text 8"/>
          <p:cNvSpPr/>
          <p:nvPr/>
        </p:nvSpPr>
        <p:spPr>
          <a:xfrm>
            <a:off x="576263" y="1943100"/>
            <a:ext cx="2533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344+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4363" y="228600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 Assessed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67075" y="1828800"/>
            <a:ext cx="2619375" cy="762000"/>
          </a:xfrm>
          <a:custGeom>
            <a:avLst/>
            <a:gdLst/>
            <a:ahLst/>
            <a:cxnLst/>
            <a:rect l="l" t="t" r="r" b="b"/>
            <a:pathLst>
              <a:path w="2619375" h="7620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685800"/>
                </a:lnTo>
                <a:cubicBezTo>
                  <a:pt x="2619375" y="727856"/>
                  <a:pt x="2585231" y="762000"/>
                  <a:pt x="25431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13" name="Text 11"/>
          <p:cNvSpPr/>
          <p:nvPr/>
        </p:nvSpPr>
        <p:spPr>
          <a:xfrm>
            <a:off x="3309938" y="1943100"/>
            <a:ext cx="2533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48038" y="2286000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Sectors Covered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2857500"/>
            <a:ext cx="5638800" cy="3657600"/>
          </a:xfrm>
          <a:custGeom>
            <a:avLst/>
            <a:gdLst/>
            <a:ahLst/>
            <a:cxnLst/>
            <a:rect l="l" t="t" r="r" b="b"/>
            <a:pathLst>
              <a:path w="5638800" h="3657600">
                <a:moveTo>
                  <a:pt x="38100" y="0"/>
                </a:moveTo>
                <a:lnTo>
                  <a:pt x="5562612" y="0"/>
                </a:lnTo>
                <a:cubicBezTo>
                  <a:pt x="5604690" y="0"/>
                  <a:pt x="5638800" y="34110"/>
                  <a:pt x="5638800" y="76188"/>
                </a:cubicBezTo>
                <a:lnTo>
                  <a:pt x="5638800" y="3581412"/>
                </a:lnTo>
                <a:cubicBezTo>
                  <a:pt x="5638800" y="3623490"/>
                  <a:pt x="5604690" y="3657600"/>
                  <a:pt x="5562612" y="3657600"/>
                </a:cubicBezTo>
                <a:lnTo>
                  <a:pt x="38100" y="3657600"/>
                </a:lnTo>
                <a:cubicBezTo>
                  <a:pt x="17058" y="3657600"/>
                  <a:pt x="0" y="3640542"/>
                  <a:pt x="0" y="3619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0050" y="2857500"/>
            <a:ext cx="38100" cy="3657600"/>
          </a:xfrm>
          <a:custGeom>
            <a:avLst/>
            <a:gdLst/>
            <a:ahLst/>
            <a:cxnLst/>
            <a:rect l="l" t="t" r="r" b="b"/>
            <a:pathLst>
              <a:path w="38100" h="3657600">
                <a:moveTo>
                  <a:pt x="38100" y="0"/>
                </a:moveTo>
                <a:lnTo>
                  <a:pt x="38100" y="0"/>
                </a:lnTo>
                <a:lnTo>
                  <a:pt x="38100" y="3657600"/>
                </a:lnTo>
                <a:lnTo>
                  <a:pt x="38100" y="3657600"/>
                </a:lnTo>
                <a:cubicBezTo>
                  <a:pt x="17072" y="3657600"/>
                  <a:pt x="0" y="3640528"/>
                  <a:pt x="0" y="3619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5313" y="30575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90575" y="30099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Findings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0550" y="3390900"/>
            <a:ext cx="5295900" cy="723900"/>
          </a:xfrm>
          <a:custGeom>
            <a:avLst/>
            <a:gdLst/>
            <a:ahLst/>
            <a:cxnLst/>
            <a:rect l="l" t="t" r="r" b="b"/>
            <a:pathLst>
              <a:path w="5295900" h="723900">
                <a:moveTo>
                  <a:pt x="38100" y="0"/>
                </a:moveTo>
                <a:lnTo>
                  <a:pt x="5219702" y="0"/>
                </a:lnTo>
                <a:cubicBezTo>
                  <a:pt x="5261757" y="0"/>
                  <a:pt x="5295900" y="34143"/>
                  <a:pt x="5295900" y="76198"/>
                </a:cubicBezTo>
                <a:lnTo>
                  <a:pt x="5295900" y="647702"/>
                </a:lnTo>
                <a:cubicBezTo>
                  <a:pt x="5295900" y="689757"/>
                  <a:pt x="5261757" y="723900"/>
                  <a:pt x="52197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90550" y="33909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1" name="Text 19"/>
          <p:cNvSpPr/>
          <p:nvPr/>
        </p:nvSpPr>
        <p:spPr>
          <a:xfrm>
            <a:off x="723900" y="352425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Digital Services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9135" y="3505200"/>
            <a:ext cx="523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&lt;25%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3900" y="381000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Majority of services still require manual intervention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0550" y="4552950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38100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90550" y="45529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6" name="Text 24"/>
          <p:cNvSpPr/>
          <p:nvPr/>
        </p:nvSpPr>
        <p:spPr>
          <a:xfrm>
            <a:off x="723900" y="4667250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Records Management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70661" y="4667250"/>
            <a:ext cx="600075" cy="228600"/>
          </a:xfrm>
          <a:custGeom>
            <a:avLst/>
            <a:gdLst/>
            <a:ahLst/>
            <a:cxnLst/>
            <a:rect l="l" t="t" r="r" b="b"/>
            <a:pathLst>
              <a:path w="600075" h="228600">
                <a:moveTo>
                  <a:pt x="38101" y="0"/>
                </a:moveTo>
                <a:lnTo>
                  <a:pt x="561974" y="0"/>
                </a:lnTo>
                <a:cubicBezTo>
                  <a:pt x="583017" y="0"/>
                  <a:pt x="600075" y="17058"/>
                  <a:pt x="600075" y="38101"/>
                </a:cubicBezTo>
                <a:lnTo>
                  <a:pt x="600075" y="190499"/>
                </a:lnTo>
                <a:cubicBezTo>
                  <a:pt x="600075" y="211542"/>
                  <a:pt x="583017" y="228600"/>
                  <a:pt x="5619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5170661" y="4667250"/>
            <a:ext cx="6572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1000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3900" y="493395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Weakest maturity pillar across all MDAs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0550" y="5676900"/>
            <a:ext cx="5295900" cy="685800"/>
          </a:xfrm>
          <a:custGeom>
            <a:avLst/>
            <a:gdLst/>
            <a:ahLst/>
            <a:cxnLst/>
            <a:rect l="l" t="t" r="r" b="b"/>
            <a:pathLst>
              <a:path w="5295900" h="685800">
                <a:moveTo>
                  <a:pt x="38100" y="0"/>
                </a:moveTo>
                <a:lnTo>
                  <a:pt x="5219701" y="0"/>
                </a:lnTo>
                <a:cubicBezTo>
                  <a:pt x="5261784" y="0"/>
                  <a:pt x="5295900" y="34116"/>
                  <a:pt x="5295900" y="76199"/>
                </a:cubicBezTo>
                <a:lnTo>
                  <a:pt x="5295900" y="609601"/>
                </a:lnTo>
                <a:cubicBezTo>
                  <a:pt x="5295900" y="651684"/>
                  <a:pt x="5261784" y="685800"/>
                  <a:pt x="52197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1" name="Shape 29"/>
          <p:cNvSpPr/>
          <p:nvPr/>
        </p:nvSpPr>
        <p:spPr>
          <a:xfrm>
            <a:off x="590550" y="56769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723900" y="57912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Capability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87181" y="5791200"/>
            <a:ext cx="581025" cy="228600"/>
          </a:xfrm>
          <a:custGeom>
            <a:avLst/>
            <a:gdLst/>
            <a:ahLst/>
            <a:cxnLst/>
            <a:rect l="l" t="t" r="r" b="b"/>
            <a:pathLst>
              <a:path w="581025" h="228600">
                <a:moveTo>
                  <a:pt x="38101" y="0"/>
                </a:moveTo>
                <a:lnTo>
                  <a:pt x="542924" y="0"/>
                </a:lnTo>
                <a:cubicBezTo>
                  <a:pt x="563967" y="0"/>
                  <a:pt x="581025" y="17058"/>
                  <a:pt x="581025" y="38101"/>
                </a:cubicBezTo>
                <a:lnTo>
                  <a:pt x="581025" y="190499"/>
                </a:lnTo>
                <a:cubicBezTo>
                  <a:pt x="581025" y="211542"/>
                  <a:pt x="563967" y="228600"/>
                  <a:pt x="5429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187181" y="5791200"/>
            <a:ext cx="6381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UNEVEN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3900" y="6057900"/>
            <a:ext cx="511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variation in digital readiness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53150" y="1276350"/>
            <a:ext cx="5657850" cy="2571750"/>
          </a:xfrm>
          <a:custGeom>
            <a:avLst/>
            <a:gdLst/>
            <a:ahLst/>
            <a:cxnLst/>
            <a:rect l="l" t="t" r="r" b="b"/>
            <a:pathLst>
              <a:path w="5657850" h="257175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2495549"/>
                </a:lnTo>
                <a:cubicBezTo>
                  <a:pt x="5657850" y="2537634"/>
                  <a:pt x="5623734" y="2571750"/>
                  <a:pt x="5581649" y="2571750"/>
                </a:cubicBezTo>
                <a:lnTo>
                  <a:pt x="76201" y="2571750"/>
                </a:lnTo>
                <a:cubicBezTo>
                  <a:pt x="34116" y="2571750"/>
                  <a:pt x="0" y="2537634"/>
                  <a:pt x="0" y="249554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53150" y="1276350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38" name="Shape 36"/>
          <p:cNvSpPr/>
          <p:nvPr/>
        </p:nvSpPr>
        <p:spPr>
          <a:xfrm>
            <a:off x="6318647" y="14954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6524625" y="14478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Landscape Breakdown</a:t>
            </a:r>
            <a:endParaRPr lang="en-US" sz="1600" dirty="0"/>
          </a:p>
        </p:txBody>
      </p:sp>
      <p:pic>
        <p:nvPicPr>
          <p:cNvPr id="40" name="Image 0" descr="https://kimi-img.moonshot.cn/pub/slides/26-03-26-18:03:31-d72g8suhek0jsh66414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5550" y="1790700"/>
            <a:ext cx="535305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41" name="Shape 38"/>
          <p:cNvSpPr/>
          <p:nvPr/>
        </p:nvSpPr>
        <p:spPr>
          <a:xfrm>
            <a:off x="6153150" y="3962400"/>
            <a:ext cx="5657850" cy="2552700"/>
          </a:xfrm>
          <a:custGeom>
            <a:avLst/>
            <a:gdLst/>
            <a:ahLst/>
            <a:cxnLst/>
            <a:rect l="l" t="t" r="r" b="b"/>
            <a:pathLst>
              <a:path w="5657850" h="2552700">
                <a:moveTo>
                  <a:pt x="76198" y="0"/>
                </a:moveTo>
                <a:lnTo>
                  <a:pt x="5581652" y="0"/>
                </a:lnTo>
                <a:cubicBezTo>
                  <a:pt x="5623735" y="0"/>
                  <a:pt x="5657850" y="34115"/>
                  <a:pt x="5657850" y="76198"/>
                </a:cubicBezTo>
                <a:lnTo>
                  <a:pt x="5657850" y="2476502"/>
                </a:lnTo>
                <a:cubicBezTo>
                  <a:pt x="5657850" y="2518585"/>
                  <a:pt x="5623735" y="2552700"/>
                  <a:pt x="5581652" y="2552700"/>
                </a:cubicBezTo>
                <a:lnTo>
                  <a:pt x="76198" y="2552700"/>
                </a:lnTo>
                <a:cubicBezTo>
                  <a:pt x="34115" y="2552700"/>
                  <a:pt x="0" y="2518585"/>
                  <a:pt x="0" y="24765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340078" y="41624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3" name="Text 40"/>
          <p:cNvSpPr/>
          <p:nvPr/>
        </p:nvSpPr>
        <p:spPr>
          <a:xfrm>
            <a:off x="6524625" y="41148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Major Bottlenecks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05550" y="4495800"/>
            <a:ext cx="5353050" cy="571500"/>
          </a:xfrm>
          <a:custGeom>
            <a:avLst/>
            <a:gdLst/>
            <a:ahLst/>
            <a:cxnLst/>
            <a:rect l="l" t="t" r="r" b="b"/>
            <a:pathLst>
              <a:path w="5353050" h="571500">
                <a:moveTo>
                  <a:pt x="76198" y="0"/>
                </a:moveTo>
                <a:lnTo>
                  <a:pt x="5276852" y="0"/>
                </a:lnTo>
                <a:cubicBezTo>
                  <a:pt x="5318935" y="0"/>
                  <a:pt x="5353050" y="34115"/>
                  <a:pt x="5353050" y="76198"/>
                </a:cubicBezTo>
                <a:lnTo>
                  <a:pt x="5353050" y="495302"/>
                </a:lnTo>
                <a:cubicBezTo>
                  <a:pt x="5353050" y="537385"/>
                  <a:pt x="5318935" y="571500"/>
                  <a:pt x="52768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5" name="Shape 42"/>
          <p:cNvSpPr/>
          <p:nvPr/>
        </p:nvSpPr>
        <p:spPr>
          <a:xfrm>
            <a:off x="638175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46" name="Shape 43"/>
          <p:cNvSpPr/>
          <p:nvPr/>
        </p:nvSpPr>
        <p:spPr>
          <a:xfrm>
            <a:off x="6469856" y="46577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47" name="Text 44"/>
          <p:cNvSpPr/>
          <p:nvPr/>
        </p:nvSpPr>
        <p:spPr>
          <a:xfrm>
            <a:off x="6800850" y="4572000"/>
            <a:ext cx="3105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 Delays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800850" y="4800600"/>
            <a:ext cx="309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Multi-level manual approvals create weeks of delays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305550" y="5143500"/>
            <a:ext cx="5353050" cy="571500"/>
          </a:xfrm>
          <a:custGeom>
            <a:avLst/>
            <a:gdLst/>
            <a:ahLst/>
            <a:cxnLst/>
            <a:rect l="l" t="t" r="r" b="b"/>
            <a:pathLst>
              <a:path w="5353050" h="571500">
                <a:moveTo>
                  <a:pt x="76198" y="0"/>
                </a:moveTo>
                <a:lnTo>
                  <a:pt x="5276852" y="0"/>
                </a:lnTo>
                <a:cubicBezTo>
                  <a:pt x="5318935" y="0"/>
                  <a:pt x="5353050" y="34115"/>
                  <a:pt x="5353050" y="76198"/>
                </a:cubicBezTo>
                <a:lnTo>
                  <a:pt x="5353050" y="495302"/>
                </a:lnTo>
                <a:cubicBezTo>
                  <a:pt x="5353050" y="537385"/>
                  <a:pt x="5318935" y="571500"/>
                  <a:pt x="52768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0" name="Shape 47"/>
          <p:cNvSpPr/>
          <p:nvPr/>
        </p:nvSpPr>
        <p:spPr>
          <a:xfrm>
            <a:off x="6381750" y="5219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EDD4"/>
          </a:solidFill>
          <a:ln/>
        </p:spPr>
      </p:sp>
      <p:sp>
        <p:nvSpPr>
          <p:cNvPr id="51" name="Shape 48"/>
          <p:cNvSpPr/>
          <p:nvPr/>
        </p:nvSpPr>
        <p:spPr>
          <a:xfrm>
            <a:off x="6478191" y="53054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0006" y="0"/>
                </a:moveTo>
                <a:cubicBezTo>
                  <a:pt x="40812" y="0"/>
                  <a:pt x="33337" y="7475"/>
                  <a:pt x="33337" y="16669"/>
                </a:cubicBezTo>
                <a:lnTo>
                  <a:pt x="33337" y="83344"/>
                </a:lnTo>
                <a:cubicBezTo>
                  <a:pt x="33337" y="92538"/>
                  <a:pt x="40812" y="100013"/>
                  <a:pt x="50006" y="100013"/>
                </a:cubicBezTo>
                <a:lnTo>
                  <a:pt x="100013" y="100013"/>
                </a:lnTo>
                <a:cubicBezTo>
                  <a:pt x="109206" y="100013"/>
                  <a:pt x="116681" y="92538"/>
                  <a:pt x="116681" y="83344"/>
                </a:cubicBezTo>
                <a:lnTo>
                  <a:pt x="116681" y="31098"/>
                </a:lnTo>
                <a:cubicBezTo>
                  <a:pt x="116681" y="26566"/>
                  <a:pt x="114832" y="22216"/>
                  <a:pt x="111550" y="19065"/>
                </a:cubicBezTo>
                <a:lnTo>
                  <a:pt x="96522" y="4636"/>
                </a:lnTo>
                <a:cubicBezTo>
                  <a:pt x="93423" y="1667"/>
                  <a:pt x="89282" y="0"/>
                  <a:pt x="84985" y="0"/>
                </a:cubicBezTo>
                <a:lnTo>
                  <a:pt x="50006" y="0"/>
                </a:lnTo>
                <a:close/>
                <a:moveTo>
                  <a:pt x="16669" y="33337"/>
                </a:moveTo>
                <a:cubicBezTo>
                  <a:pt x="7475" y="33337"/>
                  <a:pt x="0" y="40812"/>
                  <a:pt x="0" y="50006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66675" y="133350"/>
                </a:lnTo>
                <a:cubicBezTo>
                  <a:pt x="75869" y="133350"/>
                  <a:pt x="83344" y="125875"/>
                  <a:pt x="83344" y="116681"/>
                </a:cubicBezTo>
                <a:lnTo>
                  <a:pt x="83344" y="112514"/>
                </a:lnTo>
                <a:lnTo>
                  <a:pt x="66675" y="112514"/>
                </a:lnTo>
                <a:lnTo>
                  <a:pt x="66675" y="116681"/>
                </a:lnTo>
                <a:lnTo>
                  <a:pt x="16669" y="116681"/>
                </a:lnTo>
                <a:lnTo>
                  <a:pt x="16669" y="50006"/>
                </a:lnTo>
                <a:lnTo>
                  <a:pt x="20836" y="50006"/>
                </a:lnTo>
                <a:lnTo>
                  <a:pt x="20836" y="33337"/>
                </a:lnTo>
                <a:lnTo>
                  <a:pt x="16669" y="33337"/>
                </a:ln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52" name="Text 49"/>
          <p:cNvSpPr/>
          <p:nvPr/>
        </p:nvSpPr>
        <p:spPr>
          <a:xfrm>
            <a:off x="6800850" y="521970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Duplication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800850" y="5448300"/>
            <a:ext cx="3162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Citizens submit same information to multiple agencies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305550" y="5791200"/>
            <a:ext cx="5353050" cy="571500"/>
          </a:xfrm>
          <a:custGeom>
            <a:avLst/>
            <a:gdLst/>
            <a:ahLst/>
            <a:cxnLst/>
            <a:rect l="l" t="t" r="r" b="b"/>
            <a:pathLst>
              <a:path w="5353050" h="571500">
                <a:moveTo>
                  <a:pt x="76198" y="0"/>
                </a:moveTo>
                <a:lnTo>
                  <a:pt x="5276852" y="0"/>
                </a:lnTo>
                <a:cubicBezTo>
                  <a:pt x="5318935" y="0"/>
                  <a:pt x="5353050" y="34115"/>
                  <a:pt x="5353050" y="76198"/>
                </a:cubicBezTo>
                <a:lnTo>
                  <a:pt x="5353050" y="495302"/>
                </a:lnTo>
                <a:cubicBezTo>
                  <a:pt x="5353050" y="537385"/>
                  <a:pt x="5318935" y="571500"/>
                  <a:pt x="52768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5" name="Shape 52"/>
          <p:cNvSpPr/>
          <p:nvPr/>
        </p:nvSpPr>
        <p:spPr>
          <a:xfrm>
            <a:off x="6381750" y="586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EF9C2"/>
          </a:solidFill>
          <a:ln/>
        </p:spPr>
      </p:sp>
      <p:sp>
        <p:nvSpPr>
          <p:cNvPr id="56" name="Shape 53"/>
          <p:cNvSpPr/>
          <p:nvPr/>
        </p:nvSpPr>
        <p:spPr>
          <a:xfrm>
            <a:off x="6469856" y="5953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57" name="Text 54"/>
          <p:cNvSpPr/>
          <p:nvPr/>
        </p:nvSpPr>
        <p:spPr>
          <a:xfrm>
            <a:off x="6800850" y="58674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 Gaps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6800850" y="609600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visibility into application status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Pillars of Digital Transformation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Architectural foundation enabling Whole-of-Government interoperability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257300"/>
            <a:ext cx="5638800" cy="1924050"/>
          </a:xfrm>
          <a:custGeom>
            <a:avLst/>
            <a:gdLst/>
            <a:ahLst/>
            <a:cxnLst/>
            <a:rect l="l" t="t" r="r" b="b"/>
            <a:pathLst>
              <a:path w="5638800" h="1924050">
                <a:moveTo>
                  <a:pt x="38100" y="0"/>
                </a:moveTo>
                <a:lnTo>
                  <a:pt x="5562608" y="0"/>
                </a:lnTo>
                <a:cubicBezTo>
                  <a:pt x="5604688" y="0"/>
                  <a:pt x="5638800" y="34112"/>
                  <a:pt x="5638800" y="76192"/>
                </a:cubicBezTo>
                <a:lnTo>
                  <a:pt x="5638800" y="1847858"/>
                </a:lnTo>
                <a:cubicBezTo>
                  <a:pt x="5638800" y="1889938"/>
                  <a:pt x="5604688" y="1924050"/>
                  <a:pt x="5562608" y="1924050"/>
                </a:cubicBez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257300"/>
            <a:ext cx="38100" cy="1924050"/>
          </a:xfrm>
          <a:custGeom>
            <a:avLst/>
            <a:gdLst/>
            <a:ahLst/>
            <a:cxnLst/>
            <a:rect l="l" t="t" r="r" b="b"/>
            <a:pathLst>
              <a:path w="38100" h="1924050">
                <a:moveTo>
                  <a:pt x="38100" y="0"/>
                </a:moveTo>
                <a:lnTo>
                  <a:pt x="38100" y="0"/>
                </a:lnTo>
                <a:lnTo>
                  <a:pt x="38100" y="1924050"/>
                </a:lnTo>
                <a:lnTo>
                  <a:pt x="38100" y="1924050"/>
                </a:lnTo>
                <a:cubicBezTo>
                  <a:pt x="17072" y="1924050"/>
                  <a:pt x="0" y="1906978"/>
                  <a:pt x="0" y="1885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8" name="Shape 6"/>
          <p:cNvSpPr/>
          <p:nvPr/>
        </p:nvSpPr>
        <p:spPr>
          <a:xfrm>
            <a:off x="716756" y="1543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409700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Registry-Centric Model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6764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Source of Truth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1943100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authoritative registries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the foundation of government data management. Each registry serves as the master record for specific data domains, eliminating duplication.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2762250"/>
            <a:ext cx="1114425" cy="266700"/>
          </a:xfrm>
          <a:custGeom>
            <a:avLst/>
            <a:gdLst/>
            <a:ahLst/>
            <a:cxnLst/>
            <a:rect l="l" t="t" r="r" b="b"/>
            <a:pathLst>
              <a:path w="1114425" h="266700">
                <a:moveTo>
                  <a:pt x="133350" y="0"/>
                </a:moveTo>
                <a:lnTo>
                  <a:pt x="981075" y="0"/>
                </a:lnTo>
                <a:cubicBezTo>
                  <a:pt x="1054673" y="0"/>
                  <a:pt x="1114425" y="59752"/>
                  <a:pt x="1114425" y="133350"/>
                </a:cubicBezTo>
                <a:lnTo>
                  <a:pt x="1114425" y="133350"/>
                </a:lnTo>
                <a:cubicBezTo>
                  <a:pt x="1114425" y="206948"/>
                  <a:pt x="1054673" y="266700"/>
                  <a:pt x="981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" y="2762250"/>
            <a:ext cx="1181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Registry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57363" y="2762250"/>
            <a:ext cx="1219200" cy="266700"/>
          </a:xfrm>
          <a:custGeom>
            <a:avLst/>
            <a:gdLst/>
            <a:ahLst/>
            <a:cxnLst/>
            <a:rect l="l" t="t" r="r" b="b"/>
            <a:pathLst>
              <a:path w="1219200" h="266700">
                <a:moveTo>
                  <a:pt x="133350" y="0"/>
                </a:moveTo>
                <a:lnTo>
                  <a:pt x="1085850" y="0"/>
                </a:lnTo>
                <a:cubicBezTo>
                  <a:pt x="1159448" y="0"/>
                  <a:pt x="1219200" y="59752"/>
                  <a:pt x="1219200" y="133350"/>
                </a:cubicBezTo>
                <a:lnTo>
                  <a:pt x="1219200" y="133350"/>
                </a:lnTo>
                <a:cubicBezTo>
                  <a:pt x="1219200" y="206948"/>
                  <a:pt x="1159448" y="266700"/>
                  <a:pt x="1085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757363" y="2762250"/>
            <a:ext cx="1285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Registry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53655" y="2762250"/>
            <a:ext cx="1009650" cy="266700"/>
          </a:xfrm>
          <a:custGeom>
            <a:avLst/>
            <a:gdLst/>
            <a:ahLst/>
            <a:cxnLst/>
            <a:rect l="l" t="t" r="r" b="b"/>
            <a:pathLst>
              <a:path w="1009650" h="266700">
                <a:moveTo>
                  <a:pt x="133350" y="0"/>
                </a:moveTo>
                <a:lnTo>
                  <a:pt x="876300" y="0"/>
                </a:lnTo>
                <a:cubicBezTo>
                  <a:pt x="949898" y="0"/>
                  <a:pt x="1009650" y="59752"/>
                  <a:pt x="1009650" y="133350"/>
                </a:cubicBezTo>
                <a:lnTo>
                  <a:pt x="1009650" y="133350"/>
                </a:lnTo>
                <a:cubicBezTo>
                  <a:pt x="1009650" y="206948"/>
                  <a:pt x="949898" y="266700"/>
                  <a:pt x="876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053655" y="2762250"/>
            <a:ext cx="1076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Land Registry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3295650"/>
            <a:ext cx="5638800" cy="2228850"/>
          </a:xfrm>
          <a:custGeom>
            <a:avLst/>
            <a:gdLst/>
            <a:ahLst/>
            <a:cxnLst/>
            <a:rect l="l" t="t" r="r" b="b"/>
            <a:pathLst>
              <a:path w="5638800" h="2228850">
                <a:moveTo>
                  <a:pt x="38100" y="0"/>
                </a:moveTo>
                <a:lnTo>
                  <a:pt x="5562596" y="0"/>
                </a:lnTo>
                <a:cubicBezTo>
                  <a:pt x="5604682" y="0"/>
                  <a:pt x="5638800" y="34118"/>
                  <a:pt x="5638800" y="76204"/>
                </a:cubicBezTo>
                <a:lnTo>
                  <a:pt x="5638800" y="2152646"/>
                </a:lnTo>
                <a:cubicBezTo>
                  <a:pt x="5638800" y="2194732"/>
                  <a:pt x="5604682" y="2228850"/>
                  <a:pt x="5562596" y="2228850"/>
                </a:cubicBezTo>
                <a:lnTo>
                  <a:pt x="38100" y="2228850"/>
                </a:lnTo>
                <a:cubicBezTo>
                  <a:pt x="17072" y="2228850"/>
                  <a:pt x="0" y="2211778"/>
                  <a:pt x="0" y="2190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0050" y="3295650"/>
            <a:ext cx="38100" cy="2228850"/>
          </a:xfrm>
          <a:custGeom>
            <a:avLst/>
            <a:gdLst/>
            <a:ahLst/>
            <a:cxnLst/>
            <a:rect l="l" t="t" r="r" b="b"/>
            <a:pathLst>
              <a:path w="38100" h="2228850">
                <a:moveTo>
                  <a:pt x="38100" y="0"/>
                </a:moveTo>
                <a:lnTo>
                  <a:pt x="38100" y="0"/>
                </a:lnTo>
                <a:lnTo>
                  <a:pt x="38100" y="2228850"/>
                </a:lnTo>
                <a:lnTo>
                  <a:pt x="38100" y="2228850"/>
                </a:lnTo>
                <a:cubicBezTo>
                  <a:pt x="17072" y="2228850"/>
                  <a:pt x="0" y="2211778"/>
                  <a:pt x="0" y="2190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3448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21" name="Shape 19"/>
          <p:cNvSpPr/>
          <p:nvPr/>
        </p:nvSpPr>
        <p:spPr>
          <a:xfrm>
            <a:off x="728663" y="35814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32742" y="23812"/>
                </a:moveTo>
                <a:cubicBezTo>
                  <a:pt x="27794" y="23812"/>
                  <a:pt x="23812" y="27794"/>
                  <a:pt x="23812" y="32742"/>
                </a:cubicBezTo>
                <a:cubicBezTo>
                  <a:pt x="23812" y="37691"/>
                  <a:pt x="27794" y="41672"/>
                  <a:pt x="32742" y="41672"/>
                </a:cubicBezTo>
                <a:lnTo>
                  <a:pt x="50602" y="41672"/>
                </a:lnTo>
                <a:cubicBezTo>
                  <a:pt x="55550" y="41672"/>
                  <a:pt x="59531" y="37691"/>
                  <a:pt x="59531" y="32742"/>
                </a:cubicBezTo>
                <a:cubicBezTo>
                  <a:pt x="59531" y="27794"/>
                  <a:pt x="55550" y="23812"/>
                  <a:pt x="50602" y="23812"/>
                </a:cubicBezTo>
                <a:lnTo>
                  <a:pt x="32742" y="23812"/>
                </a:lnTo>
                <a:close/>
                <a:moveTo>
                  <a:pt x="32742" y="59531"/>
                </a:moveTo>
                <a:cubicBezTo>
                  <a:pt x="27794" y="59531"/>
                  <a:pt x="23812" y="63512"/>
                  <a:pt x="23812" y="68461"/>
                </a:cubicBezTo>
                <a:cubicBezTo>
                  <a:pt x="23812" y="73409"/>
                  <a:pt x="27794" y="77391"/>
                  <a:pt x="32742" y="77391"/>
                </a:cubicBezTo>
                <a:lnTo>
                  <a:pt x="50602" y="77391"/>
                </a:lnTo>
                <a:cubicBezTo>
                  <a:pt x="55550" y="77391"/>
                  <a:pt x="59531" y="73409"/>
                  <a:pt x="59531" y="68461"/>
                </a:cubicBezTo>
                <a:cubicBezTo>
                  <a:pt x="59531" y="63512"/>
                  <a:pt x="55550" y="59531"/>
                  <a:pt x="50602" y="59531"/>
                </a:cubicBezTo>
                <a:lnTo>
                  <a:pt x="32742" y="59531"/>
                </a:lnTo>
                <a:close/>
                <a:moveTo>
                  <a:pt x="58899" y="119063"/>
                </a:moveTo>
                <a:cubicBezTo>
                  <a:pt x="54694" y="119063"/>
                  <a:pt x="50750" y="120960"/>
                  <a:pt x="48146" y="124234"/>
                </a:cubicBezTo>
                <a:lnTo>
                  <a:pt x="25784" y="152177"/>
                </a:lnTo>
                <a:cubicBezTo>
                  <a:pt x="22696" y="156009"/>
                  <a:pt x="23329" y="161665"/>
                  <a:pt x="27161" y="164716"/>
                </a:cubicBezTo>
                <a:cubicBezTo>
                  <a:pt x="30993" y="167767"/>
                  <a:pt x="36649" y="167171"/>
                  <a:pt x="39700" y="163302"/>
                </a:cubicBezTo>
                <a:lnTo>
                  <a:pt x="57224" y="141424"/>
                </a:lnTo>
                <a:lnTo>
                  <a:pt x="62880" y="160288"/>
                </a:lnTo>
                <a:cubicBezTo>
                  <a:pt x="63996" y="164083"/>
                  <a:pt x="67494" y="166650"/>
                  <a:pt x="71438" y="166650"/>
                </a:cubicBezTo>
                <a:lnTo>
                  <a:pt x="110133" y="166650"/>
                </a:lnTo>
                <a:cubicBezTo>
                  <a:pt x="115081" y="166650"/>
                  <a:pt x="119063" y="162669"/>
                  <a:pt x="119063" y="157721"/>
                </a:cubicBezTo>
                <a:cubicBezTo>
                  <a:pt x="119063" y="152772"/>
                  <a:pt x="115081" y="148791"/>
                  <a:pt x="110133" y="148791"/>
                </a:cubicBezTo>
                <a:lnTo>
                  <a:pt x="78098" y="148791"/>
                </a:lnTo>
                <a:lnTo>
                  <a:pt x="72107" y="128848"/>
                </a:lnTo>
                <a:cubicBezTo>
                  <a:pt x="70358" y="123006"/>
                  <a:pt x="65001" y="119025"/>
                  <a:pt x="58899" y="11902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344805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Records-by-Design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71475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Compliance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" y="3981450"/>
            <a:ext cx="53911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Embed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records management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every system from inception. All digital services automatically create compliant records with proper classification, retention, and audit trails.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" y="4800600"/>
            <a:ext cx="2619375" cy="571500"/>
          </a:xfrm>
          <a:custGeom>
            <a:avLst/>
            <a:gdLst/>
            <a:ahLst/>
            <a:cxnLst/>
            <a:rect l="l" t="t" r="r" b="b"/>
            <a:pathLst>
              <a:path w="2619375" h="571500">
                <a:moveTo>
                  <a:pt x="38102" y="0"/>
                </a:moveTo>
                <a:lnTo>
                  <a:pt x="2581273" y="0"/>
                </a:lnTo>
                <a:cubicBezTo>
                  <a:pt x="2602316" y="0"/>
                  <a:pt x="2619375" y="17059"/>
                  <a:pt x="2619375" y="38102"/>
                </a:cubicBezTo>
                <a:lnTo>
                  <a:pt x="2619375" y="533398"/>
                </a:lnTo>
                <a:cubicBezTo>
                  <a:pt x="2619375" y="554441"/>
                  <a:pt x="2602316" y="571500"/>
                  <a:pt x="25812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804988" y="49101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614363" y="51054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Compliance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67075" y="4800600"/>
            <a:ext cx="2619375" cy="571500"/>
          </a:xfrm>
          <a:custGeom>
            <a:avLst/>
            <a:gdLst/>
            <a:ahLst/>
            <a:cxnLst/>
            <a:rect l="l" t="t" r="r" b="b"/>
            <a:pathLst>
              <a:path w="2619375" h="571500">
                <a:moveTo>
                  <a:pt x="38102" y="0"/>
                </a:moveTo>
                <a:lnTo>
                  <a:pt x="2581273" y="0"/>
                </a:lnTo>
                <a:cubicBezTo>
                  <a:pt x="2602316" y="0"/>
                  <a:pt x="2619375" y="17059"/>
                  <a:pt x="2619375" y="38102"/>
                </a:cubicBezTo>
                <a:lnTo>
                  <a:pt x="2619375" y="533398"/>
                </a:lnTo>
                <a:cubicBezTo>
                  <a:pt x="2619375" y="554441"/>
                  <a:pt x="2602316" y="571500"/>
                  <a:pt x="2581273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4491038" y="491013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3309938" y="5105400"/>
            <a:ext cx="253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2200" y="1257300"/>
            <a:ext cx="5638800" cy="2057400"/>
          </a:xfrm>
          <a:custGeom>
            <a:avLst/>
            <a:gdLst/>
            <a:ahLst/>
            <a:cxnLst/>
            <a:rect l="l" t="t" r="r" b="b"/>
            <a:pathLst>
              <a:path w="5638800" h="2057400">
                <a:moveTo>
                  <a:pt x="38100" y="0"/>
                </a:moveTo>
                <a:lnTo>
                  <a:pt x="5562594" y="0"/>
                </a:lnTo>
                <a:cubicBezTo>
                  <a:pt x="5604681" y="0"/>
                  <a:pt x="5638800" y="34119"/>
                  <a:pt x="5638800" y="76206"/>
                </a:cubicBezTo>
                <a:lnTo>
                  <a:pt x="5638800" y="1981194"/>
                </a:lnTo>
                <a:cubicBezTo>
                  <a:pt x="5638800" y="2023281"/>
                  <a:pt x="5604681" y="2057400"/>
                  <a:pt x="5562594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12573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3" name="Shape 31"/>
          <p:cNvSpPr/>
          <p:nvPr/>
        </p:nvSpPr>
        <p:spPr>
          <a:xfrm>
            <a:off x="634365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4" name="Shape 32"/>
          <p:cNvSpPr/>
          <p:nvPr/>
        </p:nvSpPr>
        <p:spPr>
          <a:xfrm>
            <a:off x="647700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915150" y="1409700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Interoperability-by-Design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15150" y="1676400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GIF Framework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43650" y="194310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Interoperability Framework (GIF)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ensuring all systems can seamlessly exchange data through standardized APIs and protocols.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3650" y="2514600"/>
            <a:ext cx="5314950" cy="647700"/>
          </a:xfrm>
          <a:custGeom>
            <a:avLst/>
            <a:gdLst/>
            <a:ahLst/>
            <a:cxnLst/>
            <a:rect l="l" t="t" r="r" b="b"/>
            <a:pathLst>
              <a:path w="5314950" h="6477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571498"/>
                </a:lnTo>
                <a:cubicBezTo>
                  <a:pt x="5314950" y="613583"/>
                  <a:pt x="5280833" y="647700"/>
                  <a:pt x="523874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486525" y="26479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-9525"/>
                </a:moveTo>
                <a:cubicBezTo>
                  <a:pt x="43369" y="-9525"/>
                  <a:pt x="47625" y="-5269"/>
                  <a:pt x="47625" y="0"/>
                </a:cubicBezTo>
                <a:lnTo>
                  <a:pt x="47625" y="28575"/>
                </a:lnTo>
                <a:lnTo>
                  <a:pt x="85725" y="28575"/>
                </a:lnTo>
                <a:lnTo>
                  <a:pt x="85725" y="0"/>
                </a:lnTo>
                <a:cubicBezTo>
                  <a:pt x="85725" y="-5269"/>
                  <a:pt x="89981" y="-9525"/>
                  <a:pt x="95250" y="-9525"/>
                </a:cubicBezTo>
                <a:cubicBezTo>
                  <a:pt x="100519" y="-9525"/>
                  <a:pt x="104775" y="-5269"/>
                  <a:pt x="104775" y="0"/>
                </a:cubicBezTo>
                <a:lnTo>
                  <a:pt x="104775" y="28575"/>
                </a:ln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cubicBezTo>
                  <a:pt x="133350" y="43369"/>
                  <a:pt x="129094" y="47625"/>
                  <a:pt x="123825" y="47625"/>
                </a:cubicBezTo>
                <a:lnTo>
                  <a:pt x="123825" y="66675"/>
                </a:lnTo>
                <a:cubicBezTo>
                  <a:pt x="123825" y="94982"/>
                  <a:pt x="103227" y="118497"/>
                  <a:pt x="76200" y="123021"/>
                </a:cubicBezTo>
                <a:lnTo>
                  <a:pt x="76200" y="142875"/>
                </a:lnTo>
                <a:cubicBezTo>
                  <a:pt x="76200" y="148144"/>
                  <a:pt x="71944" y="152400"/>
                  <a:pt x="66675" y="152400"/>
                </a:cubicBezTo>
                <a:cubicBezTo>
                  <a:pt x="61406" y="152400"/>
                  <a:pt x="57150" y="148144"/>
                  <a:pt x="57150" y="142875"/>
                </a:cubicBezTo>
                <a:lnTo>
                  <a:pt x="57150" y="123021"/>
                </a:lnTo>
                <a:cubicBezTo>
                  <a:pt x="30123" y="118497"/>
                  <a:pt x="9525" y="94982"/>
                  <a:pt x="9525" y="66675"/>
                </a:cubicBez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28575" y="28575"/>
                </a:lnTo>
                <a:lnTo>
                  <a:pt x="28575" y="0"/>
                </a:lnTo>
                <a:cubicBezTo>
                  <a:pt x="28575" y="-5269"/>
                  <a:pt x="32831" y="-9525"/>
                  <a:pt x="38100" y="-952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0" name="Text 38"/>
          <p:cNvSpPr/>
          <p:nvPr/>
        </p:nvSpPr>
        <p:spPr>
          <a:xfrm>
            <a:off x="6724650" y="2628900"/>
            <a:ext cx="131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API-First Architecture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57950" y="28575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services expose standardized APIs for cross-agency integration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2200" y="3429000"/>
            <a:ext cx="5638800" cy="1676400"/>
          </a:xfrm>
          <a:custGeom>
            <a:avLst/>
            <a:gdLst/>
            <a:ahLst/>
            <a:cxnLst/>
            <a:rect l="l" t="t" r="r" b="b"/>
            <a:pathLst>
              <a:path w="5638800" h="1676400">
                <a:moveTo>
                  <a:pt x="38100" y="0"/>
                </a:moveTo>
                <a:lnTo>
                  <a:pt x="5562608" y="0"/>
                </a:lnTo>
                <a:cubicBezTo>
                  <a:pt x="5604688" y="0"/>
                  <a:pt x="5638800" y="34112"/>
                  <a:pt x="5638800" y="76192"/>
                </a:cubicBezTo>
                <a:lnTo>
                  <a:pt x="5638800" y="1600208"/>
                </a:lnTo>
                <a:cubicBezTo>
                  <a:pt x="5638800" y="1642288"/>
                  <a:pt x="5604688" y="1676400"/>
                  <a:pt x="5562608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2200" y="34290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44" name="Shape 42"/>
          <p:cNvSpPr/>
          <p:nvPr/>
        </p:nvSpPr>
        <p:spPr>
          <a:xfrm>
            <a:off x="6343650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45" name="Shape 43"/>
          <p:cNvSpPr/>
          <p:nvPr/>
        </p:nvSpPr>
        <p:spPr>
          <a:xfrm>
            <a:off x="6453188" y="37147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6" name="Text 44"/>
          <p:cNvSpPr/>
          <p:nvPr/>
        </p:nvSpPr>
        <p:spPr>
          <a:xfrm>
            <a:off x="6915150" y="35814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Orchestration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15150" y="38481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Automation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43650" y="4114800"/>
            <a:ext cx="53911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engines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orchestrate complex multi-agency processes, automatically routing tasks, triggering actions, and maintaining process visibility.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43650" y="4686300"/>
            <a:ext cx="1362075" cy="266700"/>
          </a:xfrm>
          <a:custGeom>
            <a:avLst/>
            <a:gdLst/>
            <a:ahLst/>
            <a:cxnLst/>
            <a:rect l="l" t="t" r="r" b="b"/>
            <a:pathLst>
              <a:path w="1362075" h="266700">
                <a:moveTo>
                  <a:pt x="133350" y="0"/>
                </a:moveTo>
                <a:lnTo>
                  <a:pt x="1228725" y="0"/>
                </a:lnTo>
                <a:cubicBezTo>
                  <a:pt x="1302323" y="0"/>
                  <a:pt x="1362075" y="59752"/>
                  <a:pt x="1362075" y="133350"/>
                </a:cubicBezTo>
                <a:lnTo>
                  <a:pt x="1362075" y="133350"/>
                </a:lnTo>
                <a:cubicBezTo>
                  <a:pt x="1362075" y="206948"/>
                  <a:pt x="1302323" y="266700"/>
                  <a:pt x="1228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343650" y="4686300"/>
            <a:ext cx="1428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 Routing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782892" y="4686300"/>
            <a:ext cx="1152525" cy="266700"/>
          </a:xfrm>
          <a:custGeom>
            <a:avLst/>
            <a:gdLst/>
            <a:ahLst/>
            <a:cxnLst/>
            <a:rect l="l" t="t" r="r" b="b"/>
            <a:pathLst>
              <a:path w="1152525" h="266700">
                <a:moveTo>
                  <a:pt x="133350" y="0"/>
                </a:moveTo>
                <a:lnTo>
                  <a:pt x="1019175" y="0"/>
                </a:lnTo>
                <a:cubicBezTo>
                  <a:pt x="1092773" y="0"/>
                  <a:pt x="1152525" y="59752"/>
                  <a:pt x="1152525" y="133350"/>
                </a:cubicBezTo>
                <a:lnTo>
                  <a:pt x="1152525" y="133350"/>
                </a:lnTo>
                <a:cubicBezTo>
                  <a:pt x="1152525" y="206948"/>
                  <a:pt x="1092773" y="266700"/>
                  <a:pt x="1019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782892" y="4686300"/>
            <a:ext cx="1219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Auto-Approvals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579120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609601"/>
                </a:lnTo>
                <a:cubicBezTo>
                  <a:pt x="11430000" y="651684"/>
                  <a:pt x="11395884" y="685800"/>
                  <a:pt x="11353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52"/>
              </a:gs>
              <a:gs pos="100000">
                <a:srgbClr val="4A6B82"/>
              </a:gs>
            </a:gsLst>
            <a:lin ang="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3875" y="6019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895350" y="5905500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Architecture Domains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5350" y="6172200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| Data | Records | Application | Security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432503" y="5905500"/>
            <a:ext cx="1076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461078" y="6210300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Layers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544398" y="5905500"/>
            <a:ext cx="1209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572973" y="6210300"/>
            <a:ext cx="1152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Interoperability Target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GOVERNANCE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Three-Tier Accountability 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lines of authority from central coordination to MDA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57300"/>
            <a:ext cx="3733800" cy="2486025"/>
          </a:xfrm>
          <a:custGeom>
            <a:avLst/>
            <a:gdLst/>
            <a:ahLst/>
            <a:cxnLst/>
            <a:rect l="l" t="t" r="r" b="b"/>
            <a:pathLst>
              <a:path w="3733800" h="2486025">
                <a:moveTo>
                  <a:pt x="76197" y="0"/>
                </a:moveTo>
                <a:lnTo>
                  <a:pt x="3657603" y="0"/>
                </a:lnTo>
                <a:cubicBezTo>
                  <a:pt x="3699686" y="0"/>
                  <a:pt x="3733800" y="34114"/>
                  <a:pt x="3733800" y="76197"/>
                </a:cubicBezTo>
                <a:lnTo>
                  <a:pt x="3733800" y="2409828"/>
                </a:lnTo>
                <a:cubicBezTo>
                  <a:pt x="3733800" y="2451911"/>
                  <a:pt x="3699686" y="2486025"/>
                  <a:pt x="3657603" y="2486025"/>
                </a:cubicBezTo>
                <a:lnTo>
                  <a:pt x="76197" y="2486025"/>
                </a:lnTo>
                <a:cubicBezTo>
                  <a:pt x="34114" y="2486025"/>
                  <a:pt x="0" y="2451911"/>
                  <a:pt x="0" y="24098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52"/>
              </a:gs>
              <a:gs pos="100000">
                <a:srgbClr val="4A6B82"/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6750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142875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4900" y="1581150"/>
            <a:ext cx="107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Level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19812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Multi-Agency Technical Committee (MATC)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0784" y="2324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76288" y="2286000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oversight and policy direction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0784" y="2552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76288" y="2514600"/>
            <a:ext cx="1914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standards approval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784" y="27813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76288" y="2743200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Cross-agency coordination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0784" y="30099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776288" y="29718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allocation decisions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3400" y="3319463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  <a:lnTo>
                  <a:pt x="3429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33400" y="3452813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71438" y="3572"/>
                </a:moveTo>
                <a:cubicBezTo>
                  <a:pt x="84251" y="3572"/>
                  <a:pt x="94655" y="13975"/>
                  <a:pt x="94655" y="26789"/>
                </a:cubicBezTo>
                <a:cubicBezTo>
                  <a:pt x="94655" y="39603"/>
                  <a:pt x="84251" y="50006"/>
                  <a:pt x="71438" y="50006"/>
                </a:cubicBezTo>
                <a:cubicBezTo>
                  <a:pt x="58624" y="50006"/>
                  <a:pt x="48220" y="39603"/>
                  <a:pt x="48220" y="26789"/>
                </a:cubicBezTo>
                <a:cubicBezTo>
                  <a:pt x="48220" y="13975"/>
                  <a:pt x="58624" y="3572"/>
                  <a:pt x="71438" y="3572"/>
                </a:cubicBezTo>
                <a:close/>
                <a:moveTo>
                  <a:pt x="21431" y="19645"/>
                </a:moveTo>
                <a:cubicBezTo>
                  <a:pt x="30302" y="19645"/>
                  <a:pt x="37505" y="26848"/>
                  <a:pt x="37505" y="35719"/>
                </a:cubicBezTo>
                <a:cubicBezTo>
                  <a:pt x="37505" y="44590"/>
                  <a:pt x="30302" y="51792"/>
                  <a:pt x="21431" y="51792"/>
                </a:cubicBezTo>
                <a:cubicBezTo>
                  <a:pt x="12560" y="51792"/>
                  <a:pt x="5358" y="44590"/>
                  <a:pt x="5358" y="35719"/>
                </a:cubicBezTo>
                <a:cubicBezTo>
                  <a:pt x="5358" y="26848"/>
                  <a:pt x="12560" y="19645"/>
                  <a:pt x="21431" y="19645"/>
                </a:cubicBezTo>
                <a:close/>
                <a:moveTo>
                  <a:pt x="0" y="92869"/>
                </a:moveTo>
                <a:cubicBezTo>
                  <a:pt x="0" y="77086"/>
                  <a:pt x="12792" y="64294"/>
                  <a:pt x="28575" y="64294"/>
                </a:cubicBezTo>
                <a:cubicBezTo>
                  <a:pt x="31433" y="64294"/>
                  <a:pt x="34201" y="64718"/>
                  <a:pt x="36813" y="65499"/>
                </a:cubicBezTo>
                <a:cubicBezTo>
                  <a:pt x="29468" y="73715"/>
                  <a:pt x="25003" y="84564"/>
                  <a:pt x="25003" y="96441"/>
                </a:cubicBezTo>
                <a:lnTo>
                  <a:pt x="25003" y="100013"/>
                </a:lnTo>
                <a:cubicBezTo>
                  <a:pt x="25003" y="102557"/>
                  <a:pt x="25539" y="104968"/>
                  <a:pt x="26499" y="107156"/>
                </a:cubicBezTo>
                <a:lnTo>
                  <a:pt x="7144" y="107156"/>
                </a:lnTo>
                <a:cubicBezTo>
                  <a:pt x="3192" y="107156"/>
                  <a:pt x="0" y="103964"/>
                  <a:pt x="0" y="100013"/>
                </a:cubicBezTo>
                <a:lnTo>
                  <a:pt x="0" y="92869"/>
                </a:lnTo>
                <a:close/>
                <a:moveTo>
                  <a:pt x="116376" y="107156"/>
                </a:moveTo>
                <a:cubicBezTo>
                  <a:pt x="117336" y="104968"/>
                  <a:pt x="117872" y="102557"/>
                  <a:pt x="117872" y="100013"/>
                </a:cubicBezTo>
                <a:lnTo>
                  <a:pt x="117872" y="96441"/>
                </a:lnTo>
                <a:cubicBezTo>
                  <a:pt x="117872" y="84564"/>
                  <a:pt x="113407" y="73715"/>
                  <a:pt x="106062" y="65499"/>
                </a:cubicBezTo>
                <a:cubicBezTo>
                  <a:pt x="108674" y="64718"/>
                  <a:pt x="111443" y="64294"/>
                  <a:pt x="114300" y="64294"/>
                </a:cubicBezTo>
                <a:cubicBezTo>
                  <a:pt x="130083" y="64294"/>
                  <a:pt x="142875" y="77086"/>
                  <a:pt x="142875" y="92869"/>
                </a:cubicBezTo>
                <a:lnTo>
                  <a:pt x="142875" y="100013"/>
                </a:lnTo>
                <a:cubicBezTo>
                  <a:pt x="142875" y="103964"/>
                  <a:pt x="139683" y="107156"/>
                  <a:pt x="135731" y="107156"/>
                </a:cubicBezTo>
                <a:lnTo>
                  <a:pt x="116376" y="107156"/>
                </a:lnTo>
                <a:close/>
                <a:moveTo>
                  <a:pt x="105370" y="35719"/>
                </a:moveTo>
                <a:cubicBezTo>
                  <a:pt x="105370" y="26848"/>
                  <a:pt x="112573" y="19645"/>
                  <a:pt x="121444" y="19645"/>
                </a:cubicBezTo>
                <a:cubicBezTo>
                  <a:pt x="130315" y="19645"/>
                  <a:pt x="137517" y="26848"/>
                  <a:pt x="137517" y="35719"/>
                </a:cubicBezTo>
                <a:cubicBezTo>
                  <a:pt x="137517" y="44590"/>
                  <a:pt x="130315" y="51792"/>
                  <a:pt x="121444" y="51792"/>
                </a:cubicBezTo>
                <a:cubicBezTo>
                  <a:pt x="112573" y="51792"/>
                  <a:pt x="105370" y="44590"/>
                  <a:pt x="105370" y="35719"/>
                </a:cubicBezTo>
                <a:close/>
                <a:moveTo>
                  <a:pt x="35719" y="96441"/>
                </a:moveTo>
                <a:cubicBezTo>
                  <a:pt x="35719" y="76706"/>
                  <a:pt x="51703" y="60722"/>
                  <a:pt x="71438" y="60722"/>
                </a:cubicBezTo>
                <a:cubicBezTo>
                  <a:pt x="91172" y="60722"/>
                  <a:pt x="107156" y="76706"/>
                  <a:pt x="107156" y="96441"/>
                </a:cubicBezTo>
                <a:lnTo>
                  <a:pt x="107156" y="100013"/>
                </a:lnTo>
                <a:cubicBezTo>
                  <a:pt x="107156" y="103964"/>
                  <a:pt x="103964" y="107156"/>
                  <a:pt x="100013" y="107156"/>
                </a:cubicBezTo>
                <a:lnTo>
                  <a:pt x="42863" y="107156"/>
                </a:lnTo>
                <a:cubicBezTo>
                  <a:pt x="38911" y="107156"/>
                  <a:pt x="35719" y="103964"/>
                  <a:pt x="35719" y="100013"/>
                </a:cubicBezTo>
                <a:lnTo>
                  <a:pt x="35719" y="9644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04850" y="3438525"/>
            <a:ext cx="3314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Chaired by Head of Public Service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29100" y="1276350"/>
            <a:ext cx="3733800" cy="2466975"/>
          </a:xfrm>
          <a:custGeom>
            <a:avLst/>
            <a:gdLst/>
            <a:ahLst/>
            <a:cxnLst/>
            <a:rect l="l" t="t" r="r" b="b"/>
            <a:pathLst>
              <a:path w="3733800" h="246697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390770"/>
                </a:lnTo>
                <a:cubicBezTo>
                  <a:pt x="3733800" y="2432857"/>
                  <a:pt x="3699682" y="2466975"/>
                  <a:pt x="3657595" y="2466975"/>
                </a:cubicBezTo>
                <a:lnTo>
                  <a:pt x="76205" y="2466975"/>
                </a:lnTo>
                <a:cubicBezTo>
                  <a:pt x="34118" y="2466975"/>
                  <a:pt x="0" y="2432857"/>
                  <a:pt x="0" y="239077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29100" y="12763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24" name="Shape 22"/>
          <p:cNvSpPr/>
          <p:nvPr/>
        </p:nvSpPr>
        <p:spPr>
          <a:xfrm>
            <a:off x="43815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B82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148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26" name="Text 24"/>
          <p:cNvSpPr/>
          <p:nvPr/>
        </p:nvSpPr>
        <p:spPr>
          <a:xfrm>
            <a:off x="4953000" y="1466850"/>
            <a:ext cx="1000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53000" y="161925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Sector Level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1500" y="20193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Transformation Working Groups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08884" y="2362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0" name="Text 28"/>
          <p:cNvSpPr/>
          <p:nvPr/>
        </p:nvSpPr>
        <p:spPr>
          <a:xfrm>
            <a:off x="4624388" y="232410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Sector-specific implementation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08884" y="2590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4624388" y="2552700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integration within sectors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088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4" name="Text 32"/>
          <p:cNvSpPr/>
          <p:nvPr/>
        </p:nvSpPr>
        <p:spPr>
          <a:xfrm>
            <a:off x="4624388" y="27813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 monitoring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08884" y="3048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Text 34"/>
          <p:cNvSpPr/>
          <p:nvPr/>
        </p:nvSpPr>
        <p:spPr>
          <a:xfrm>
            <a:off x="4624388" y="300990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Issue escalation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81500" y="3319463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  <a:lnTo>
                  <a:pt x="3429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38" name="Shape 36"/>
          <p:cNvSpPr/>
          <p:nvPr/>
        </p:nvSpPr>
        <p:spPr>
          <a:xfrm>
            <a:off x="4402931" y="345281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50006" y="55364"/>
                </a:moveTo>
                <a:cubicBezTo>
                  <a:pt x="35221" y="55364"/>
                  <a:pt x="23217" y="43360"/>
                  <a:pt x="23217" y="28575"/>
                </a:cubicBezTo>
                <a:cubicBezTo>
                  <a:pt x="23217" y="13790"/>
                  <a:pt x="35221" y="1786"/>
                  <a:pt x="50006" y="1786"/>
                </a:cubicBezTo>
                <a:cubicBezTo>
                  <a:pt x="64792" y="1786"/>
                  <a:pt x="76795" y="13790"/>
                  <a:pt x="76795" y="28575"/>
                </a:cubicBezTo>
                <a:cubicBezTo>
                  <a:pt x="76795" y="43360"/>
                  <a:pt x="64792" y="55364"/>
                  <a:pt x="50006" y="55364"/>
                </a:cubicBezTo>
                <a:close/>
                <a:moveTo>
                  <a:pt x="43197" y="67866"/>
                </a:moveTo>
                <a:lnTo>
                  <a:pt x="56815" y="67866"/>
                </a:lnTo>
                <a:cubicBezTo>
                  <a:pt x="58981" y="67866"/>
                  <a:pt x="60722" y="69607"/>
                  <a:pt x="60722" y="71772"/>
                </a:cubicBezTo>
                <a:cubicBezTo>
                  <a:pt x="60722" y="72710"/>
                  <a:pt x="60387" y="73603"/>
                  <a:pt x="59784" y="74317"/>
                </a:cubicBezTo>
                <a:lnTo>
                  <a:pt x="53667" y="81461"/>
                </a:lnTo>
                <a:lnTo>
                  <a:pt x="60588" y="107156"/>
                </a:lnTo>
                <a:lnTo>
                  <a:pt x="60722" y="107156"/>
                </a:lnTo>
                <a:lnTo>
                  <a:pt x="68446" y="76237"/>
                </a:lnTo>
                <a:cubicBezTo>
                  <a:pt x="68937" y="74295"/>
                  <a:pt x="70924" y="73112"/>
                  <a:pt x="72799" y="73826"/>
                </a:cubicBezTo>
                <a:cubicBezTo>
                  <a:pt x="86618" y="79095"/>
                  <a:pt x="96441" y="92489"/>
                  <a:pt x="96441" y="108161"/>
                </a:cubicBezTo>
                <a:cubicBezTo>
                  <a:pt x="96441" y="111532"/>
                  <a:pt x="93695" y="114278"/>
                  <a:pt x="90324" y="114278"/>
                </a:cubicBezTo>
                <a:lnTo>
                  <a:pt x="9689" y="114300"/>
                </a:lnTo>
                <a:cubicBezTo>
                  <a:pt x="6318" y="114300"/>
                  <a:pt x="3572" y="111554"/>
                  <a:pt x="3572" y="108183"/>
                </a:cubicBezTo>
                <a:cubicBezTo>
                  <a:pt x="3572" y="92512"/>
                  <a:pt x="13395" y="79117"/>
                  <a:pt x="27213" y="73849"/>
                </a:cubicBezTo>
                <a:cubicBezTo>
                  <a:pt x="29088" y="73134"/>
                  <a:pt x="31075" y="74317"/>
                  <a:pt x="31566" y="76260"/>
                </a:cubicBezTo>
                <a:lnTo>
                  <a:pt x="39291" y="107179"/>
                </a:lnTo>
                <a:lnTo>
                  <a:pt x="39425" y="107179"/>
                </a:lnTo>
                <a:lnTo>
                  <a:pt x="46345" y="81483"/>
                </a:lnTo>
                <a:lnTo>
                  <a:pt x="40228" y="74340"/>
                </a:lnTo>
                <a:cubicBezTo>
                  <a:pt x="39625" y="73625"/>
                  <a:pt x="39291" y="72732"/>
                  <a:pt x="39291" y="71795"/>
                </a:cubicBezTo>
                <a:cubicBezTo>
                  <a:pt x="39291" y="69629"/>
                  <a:pt x="41032" y="67888"/>
                  <a:pt x="43197" y="67888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39" name="Text 37"/>
          <p:cNvSpPr/>
          <p:nvPr/>
        </p:nvSpPr>
        <p:spPr>
          <a:xfrm>
            <a:off x="4552950" y="3438525"/>
            <a:ext cx="3314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by Sector Principal Secretaries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77200" y="1276350"/>
            <a:ext cx="3733800" cy="2466975"/>
          </a:xfrm>
          <a:custGeom>
            <a:avLst/>
            <a:gdLst/>
            <a:ahLst/>
            <a:cxnLst/>
            <a:rect l="l" t="t" r="r" b="b"/>
            <a:pathLst>
              <a:path w="3733800" h="246697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2390770"/>
                </a:lnTo>
                <a:cubicBezTo>
                  <a:pt x="3733800" y="2432857"/>
                  <a:pt x="3699682" y="2466975"/>
                  <a:pt x="3657595" y="2466975"/>
                </a:cubicBezTo>
                <a:lnTo>
                  <a:pt x="76205" y="2466975"/>
                </a:lnTo>
                <a:cubicBezTo>
                  <a:pt x="34118" y="2466975"/>
                  <a:pt x="0" y="2432857"/>
                  <a:pt x="0" y="239077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77200" y="12763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2" name="Shape 40"/>
          <p:cNvSpPr/>
          <p:nvPr/>
        </p:nvSpPr>
        <p:spPr>
          <a:xfrm>
            <a:off x="8229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386763" y="15811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4" name="Text 42"/>
          <p:cNvSpPr/>
          <p:nvPr/>
        </p:nvSpPr>
        <p:spPr>
          <a:xfrm>
            <a:off x="8801100" y="1466850"/>
            <a:ext cx="885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 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01100" y="16192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MDA Level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29600" y="20193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Coordination Cells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56984" y="2362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8" name="Text 46"/>
          <p:cNvSpPr/>
          <p:nvPr/>
        </p:nvSpPr>
        <p:spPr>
          <a:xfrm>
            <a:off x="8472488" y="2324100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Day-to-day implementation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56984" y="2590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0" name="Text 48"/>
          <p:cNvSpPr/>
          <p:nvPr/>
        </p:nvSpPr>
        <p:spPr>
          <a:xfrm>
            <a:off x="8472488" y="2552700"/>
            <a:ext cx="1743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digitisation execution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56984" y="2819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2" name="Text 50"/>
          <p:cNvSpPr/>
          <p:nvPr/>
        </p:nvSpPr>
        <p:spPr>
          <a:xfrm>
            <a:off x="8472488" y="2781300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management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56984" y="3048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4" name="Text 52"/>
          <p:cNvSpPr/>
          <p:nvPr/>
        </p:nvSpPr>
        <p:spPr>
          <a:xfrm>
            <a:off x="8472488" y="3009900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training &amp; support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29600" y="3319463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  <a:lnTo>
                  <a:pt x="3429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56" name="Shape 54"/>
          <p:cNvSpPr/>
          <p:nvPr/>
        </p:nvSpPr>
        <p:spPr>
          <a:xfrm>
            <a:off x="8251031" y="345281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50006" y="55364"/>
                </a:moveTo>
                <a:cubicBezTo>
                  <a:pt x="64792" y="55364"/>
                  <a:pt x="76795" y="43360"/>
                  <a:pt x="76795" y="28575"/>
                </a:cubicBezTo>
                <a:cubicBezTo>
                  <a:pt x="76795" y="13790"/>
                  <a:pt x="64792" y="1786"/>
                  <a:pt x="50006" y="1786"/>
                </a:cubicBezTo>
                <a:cubicBezTo>
                  <a:pt x="35221" y="1786"/>
                  <a:pt x="23217" y="13790"/>
                  <a:pt x="23217" y="28575"/>
                </a:cubicBezTo>
                <a:cubicBezTo>
                  <a:pt x="23217" y="43360"/>
                  <a:pt x="35221" y="55364"/>
                  <a:pt x="50006" y="55364"/>
                </a:cubicBezTo>
                <a:close/>
                <a:moveTo>
                  <a:pt x="43376" y="67866"/>
                </a:moveTo>
                <a:cubicBezTo>
                  <a:pt x="21387" y="67866"/>
                  <a:pt x="3572" y="85680"/>
                  <a:pt x="3572" y="107670"/>
                </a:cubicBezTo>
                <a:cubicBezTo>
                  <a:pt x="3572" y="111331"/>
                  <a:pt x="6541" y="114300"/>
                  <a:pt x="10202" y="114300"/>
                </a:cubicBezTo>
                <a:lnTo>
                  <a:pt x="89810" y="114300"/>
                </a:lnTo>
                <a:cubicBezTo>
                  <a:pt x="93472" y="114300"/>
                  <a:pt x="96441" y="111331"/>
                  <a:pt x="96441" y="107670"/>
                </a:cubicBezTo>
                <a:cubicBezTo>
                  <a:pt x="96441" y="85680"/>
                  <a:pt x="78626" y="67866"/>
                  <a:pt x="56637" y="67866"/>
                </a:cubicBezTo>
                <a:lnTo>
                  <a:pt x="43376" y="67866"/>
                </a:ln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57" name="Text 55"/>
          <p:cNvSpPr/>
          <p:nvPr/>
        </p:nvSpPr>
        <p:spPr>
          <a:xfrm>
            <a:off x="8401050" y="3438525"/>
            <a:ext cx="3314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Headed by MDA ICT Directors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00050" y="3857625"/>
            <a:ext cx="5638800" cy="2286000"/>
          </a:xfrm>
          <a:custGeom>
            <a:avLst/>
            <a:gdLst/>
            <a:ahLst/>
            <a:cxnLst/>
            <a:rect l="l" t="t" r="r" b="b"/>
            <a:pathLst>
              <a:path w="5638800" h="2286000">
                <a:moveTo>
                  <a:pt x="38100" y="0"/>
                </a:moveTo>
                <a:lnTo>
                  <a:pt x="5562608" y="0"/>
                </a:lnTo>
                <a:cubicBezTo>
                  <a:pt x="5604688" y="0"/>
                  <a:pt x="5638800" y="34112"/>
                  <a:pt x="5638800" y="76192"/>
                </a:cubicBezTo>
                <a:lnTo>
                  <a:pt x="5638800" y="2209808"/>
                </a:lnTo>
                <a:cubicBezTo>
                  <a:pt x="5638800" y="2251888"/>
                  <a:pt x="5604688" y="2286000"/>
                  <a:pt x="5562608" y="2286000"/>
                </a:cubicBez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00050" y="3857625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3810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60" name="Shape 58"/>
          <p:cNvSpPr/>
          <p:nvPr/>
        </p:nvSpPr>
        <p:spPr>
          <a:xfrm>
            <a:off x="584597" y="40576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56793" y="51368"/>
                </a:moveTo>
                <a:lnTo>
                  <a:pt x="50531" y="45106"/>
                </a:lnTo>
                <a:cubicBezTo>
                  <a:pt x="46345" y="40920"/>
                  <a:pt x="46345" y="34123"/>
                  <a:pt x="50531" y="29937"/>
                </a:cubicBezTo>
                <a:lnTo>
                  <a:pt x="88940" y="-8506"/>
                </a:lnTo>
                <a:cubicBezTo>
                  <a:pt x="93125" y="-12691"/>
                  <a:pt x="99923" y="-12691"/>
                  <a:pt x="104109" y="-8506"/>
                </a:cubicBezTo>
                <a:lnTo>
                  <a:pt x="110371" y="-2210"/>
                </a:lnTo>
                <a:cubicBezTo>
                  <a:pt x="114557" y="1976"/>
                  <a:pt x="114557" y="8773"/>
                  <a:pt x="110371" y="12959"/>
                </a:cubicBezTo>
                <a:lnTo>
                  <a:pt x="71962" y="51368"/>
                </a:lnTo>
                <a:cubicBezTo>
                  <a:pt x="67776" y="55554"/>
                  <a:pt x="60979" y="55554"/>
                  <a:pt x="56793" y="51368"/>
                </a:cubicBezTo>
                <a:close/>
                <a:moveTo>
                  <a:pt x="92422" y="70891"/>
                </a:moveTo>
                <a:lnTo>
                  <a:pt x="81908" y="60376"/>
                </a:lnTo>
                <a:lnTo>
                  <a:pt x="119412" y="22871"/>
                </a:lnTo>
                <a:lnTo>
                  <a:pt x="159395" y="62854"/>
                </a:lnTo>
                <a:lnTo>
                  <a:pt x="121890" y="100359"/>
                </a:lnTo>
                <a:lnTo>
                  <a:pt x="111376" y="89844"/>
                </a:lnTo>
                <a:lnTo>
                  <a:pt x="33687" y="167532"/>
                </a:lnTo>
                <a:cubicBezTo>
                  <a:pt x="28463" y="172756"/>
                  <a:pt x="19991" y="172756"/>
                  <a:pt x="14734" y="167532"/>
                </a:cubicBezTo>
                <a:cubicBezTo>
                  <a:pt x="9477" y="162308"/>
                  <a:pt x="9510" y="153836"/>
                  <a:pt x="14734" y="148579"/>
                </a:cubicBezTo>
                <a:lnTo>
                  <a:pt x="92422" y="70891"/>
                </a:lnTo>
                <a:close/>
                <a:moveTo>
                  <a:pt x="130898" y="125440"/>
                </a:moveTo>
                <a:cubicBezTo>
                  <a:pt x="126712" y="121254"/>
                  <a:pt x="126712" y="114456"/>
                  <a:pt x="130898" y="110270"/>
                </a:cubicBezTo>
                <a:lnTo>
                  <a:pt x="169307" y="71862"/>
                </a:lnTo>
                <a:cubicBezTo>
                  <a:pt x="173493" y="67676"/>
                  <a:pt x="180290" y="67676"/>
                  <a:pt x="184476" y="71862"/>
                </a:cubicBezTo>
                <a:lnTo>
                  <a:pt x="190738" y="78124"/>
                </a:lnTo>
                <a:cubicBezTo>
                  <a:pt x="194924" y="82309"/>
                  <a:pt x="194924" y="89107"/>
                  <a:pt x="190738" y="93293"/>
                </a:cubicBezTo>
                <a:lnTo>
                  <a:pt x="152329" y="131735"/>
                </a:lnTo>
                <a:cubicBezTo>
                  <a:pt x="148144" y="135921"/>
                  <a:pt x="141346" y="135921"/>
                  <a:pt x="137160" y="131735"/>
                </a:cubicBezTo>
                <a:lnTo>
                  <a:pt x="130898" y="125473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1" name="Text 59"/>
          <p:cNvSpPr/>
          <p:nvPr/>
        </p:nvSpPr>
        <p:spPr>
          <a:xfrm>
            <a:off x="790575" y="40100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Enforcement Mechanisms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71500" y="4391025"/>
            <a:ext cx="2600325" cy="838200"/>
          </a:xfrm>
          <a:custGeom>
            <a:avLst/>
            <a:gdLst/>
            <a:ahLst/>
            <a:cxnLst/>
            <a:rect l="l" t="t" r="r" b="b"/>
            <a:pathLst>
              <a:path w="2600325" h="838200">
                <a:moveTo>
                  <a:pt x="76201" y="0"/>
                </a:moveTo>
                <a:lnTo>
                  <a:pt x="2524124" y="0"/>
                </a:lnTo>
                <a:cubicBezTo>
                  <a:pt x="2566209" y="0"/>
                  <a:pt x="2600325" y="34116"/>
                  <a:pt x="2600325" y="76201"/>
                </a:cubicBezTo>
                <a:lnTo>
                  <a:pt x="2600325" y="761999"/>
                </a:lnTo>
                <a:cubicBezTo>
                  <a:pt x="2600325" y="804084"/>
                  <a:pt x="2566209" y="838200"/>
                  <a:pt x="25241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3" name="Shape 61"/>
          <p:cNvSpPr/>
          <p:nvPr/>
        </p:nvSpPr>
        <p:spPr>
          <a:xfrm>
            <a:off x="685800" y="452437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80" y="19050"/>
                </a:moveTo>
                <a:cubicBezTo>
                  <a:pt x="19080" y="8543"/>
                  <a:pt x="27622" y="0"/>
                  <a:pt x="38130" y="0"/>
                </a:cubicBezTo>
                <a:lnTo>
                  <a:pt x="82629" y="0"/>
                </a:lnTo>
                <a:cubicBezTo>
                  <a:pt x="87690" y="0"/>
                  <a:pt x="92541" y="1994"/>
                  <a:pt x="96113" y="5566"/>
                </a:cubicBezTo>
                <a:lnTo>
                  <a:pt x="127784" y="37296"/>
                </a:lnTo>
                <a:cubicBezTo>
                  <a:pt x="131356" y="40868"/>
                  <a:pt x="133350" y="45720"/>
                  <a:pt x="133350" y="50780"/>
                </a:cubicBezTo>
                <a:lnTo>
                  <a:pt x="133350" y="79802"/>
                </a:lnTo>
                <a:lnTo>
                  <a:pt x="94059" y="119092"/>
                </a:lnTo>
                <a:lnTo>
                  <a:pt x="81528" y="119092"/>
                </a:lnTo>
                <a:lnTo>
                  <a:pt x="76736" y="103138"/>
                </a:lnTo>
                <a:cubicBezTo>
                  <a:pt x="75337" y="98465"/>
                  <a:pt x="71051" y="95280"/>
                  <a:pt x="66169" y="95280"/>
                </a:cubicBezTo>
                <a:cubicBezTo>
                  <a:pt x="62805" y="95280"/>
                  <a:pt x="59650" y="96798"/>
                  <a:pt x="57567" y="99417"/>
                </a:cubicBezTo>
                <a:lnTo>
                  <a:pt x="39678" y="121741"/>
                </a:lnTo>
                <a:cubicBezTo>
                  <a:pt x="37207" y="124807"/>
                  <a:pt x="37713" y="129332"/>
                  <a:pt x="40779" y="131772"/>
                </a:cubicBezTo>
                <a:cubicBezTo>
                  <a:pt x="43845" y="134213"/>
                  <a:pt x="48369" y="133737"/>
                  <a:pt x="50810" y="130641"/>
                </a:cubicBezTo>
                <a:lnTo>
                  <a:pt x="64830" y="113139"/>
                </a:lnTo>
                <a:lnTo>
                  <a:pt x="69354" y="128230"/>
                </a:lnTo>
                <a:cubicBezTo>
                  <a:pt x="70247" y="131266"/>
                  <a:pt x="73045" y="133320"/>
                  <a:pt x="76200" y="133320"/>
                </a:cubicBezTo>
                <a:lnTo>
                  <a:pt x="85576" y="133320"/>
                </a:lnTo>
                <a:cubicBezTo>
                  <a:pt x="85308" y="134243"/>
                  <a:pt x="85070" y="135195"/>
                  <a:pt x="84892" y="136148"/>
                </a:cubicBezTo>
                <a:lnTo>
                  <a:pt x="81647" y="152370"/>
                </a:lnTo>
                <a:lnTo>
                  <a:pt x="38130" y="152370"/>
                </a:lnTo>
                <a:cubicBezTo>
                  <a:pt x="27623" y="152370"/>
                  <a:pt x="19080" y="143828"/>
                  <a:pt x="19080" y="133320"/>
                </a:cubicBezTo>
                <a:lnTo>
                  <a:pt x="19080" y="19020"/>
                </a:lnTo>
                <a:close/>
                <a:moveTo>
                  <a:pt x="80992" y="17413"/>
                </a:moveTo>
                <a:lnTo>
                  <a:pt x="80992" y="45244"/>
                </a:lnTo>
                <a:cubicBezTo>
                  <a:pt x="80992" y="49203"/>
                  <a:pt x="84177" y="52388"/>
                  <a:pt x="88136" y="52388"/>
                </a:cubicBezTo>
                <a:lnTo>
                  <a:pt x="115967" y="52388"/>
                </a:lnTo>
                <a:lnTo>
                  <a:pt x="80992" y="17413"/>
                </a:lnTo>
                <a:close/>
                <a:moveTo>
                  <a:pt x="98911" y="138976"/>
                </a:moveTo>
                <a:cubicBezTo>
                  <a:pt x="99655" y="135285"/>
                  <a:pt x="101471" y="131891"/>
                  <a:pt x="104120" y="129242"/>
                </a:cubicBezTo>
                <a:lnTo>
                  <a:pt x="139511" y="93851"/>
                </a:lnTo>
                <a:lnTo>
                  <a:pt x="163324" y="117664"/>
                </a:lnTo>
                <a:lnTo>
                  <a:pt x="127933" y="153055"/>
                </a:lnTo>
                <a:cubicBezTo>
                  <a:pt x="125284" y="155704"/>
                  <a:pt x="121890" y="157520"/>
                  <a:pt x="118199" y="158264"/>
                </a:cubicBezTo>
                <a:lnTo>
                  <a:pt x="100459" y="161806"/>
                </a:lnTo>
                <a:cubicBezTo>
                  <a:pt x="100191" y="161865"/>
                  <a:pt x="99893" y="161895"/>
                  <a:pt x="99596" y="161895"/>
                </a:cubicBezTo>
                <a:cubicBezTo>
                  <a:pt x="97215" y="161895"/>
                  <a:pt x="95250" y="159960"/>
                  <a:pt x="95250" y="157549"/>
                </a:cubicBezTo>
                <a:cubicBezTo>
                  <a:pt x="95250" y="157252"/>
                  <a:pt x="95280" y="156984"/>
                  <a:pt x="95339" y="156686"/>
                </a:cubicBezTo>
                <a:lnTo>
                  <a:pt x="98881" y="138946"/>
                </a:lnTo>
                <a:close/>
                <a:moveTo>
                  <a:pt x="178624" y="102364"/>
                </a:moveTo>
                <a:lnTo>
                  <a:pt x="170051" y="110936"/>
                </a:lnTo>
                <a:lnTo>
                  <a:pt x="146239" y="87124"/>
                </a:lnTo>
                <a:lnTo>
                  <a:pt x="154811" y="78551"/>
                </a:lnTo>
                <a:cubicBezTo>
                  <a:pt x="161389" y="71973"/>
                  <a:pt x="172045" y="71973"/>
                  <a:pt x="178624" y="78551"/>
                </a:cubicBezTo>
                <a:cubicBezTo>
                  <a:pt x="185202" y="85130"/>
                  <a:pt x="185202" y="95786"/>
                  <a:pt x="178624" y="10236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4" name="Text 62"/>
          <p:cNvSpPr/>
          <p:nvPr/>
        </p:nvSpPr>
        <p:spPr>
          <a:xfrm>
            <a:off x="952500" y="4505325"/>
            <a:ext cx="590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Mandate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5800" y="4733925"/>
            <a:ext cx="2438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authority through Cabinet directives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286125" y="4391025"/>
            <a:ext cx="2600325" cy="838200"/>
          </a:xfrm>
          <a:custGeom>
            <a:avLst/>
            <a:gdLst/>
            <a:ahLst/>
            <a:cxnLst/>
            <a:rect l="l" t="t" r="r" b="b"/>
            <a:pathLst>
              <a:path w="2600325" h="838200">
                <a:moveTo>
                  <a:pt x="76201" y="0"/>
                </a:moveTo>
                <a:lnTo>
                  <a:pt x="2524124" y="0"/>
                </a:lnTo>
                <a:cubicBezTo>
                  <a:pt x="2566209" y="0"/>
                  <a:pt x="2600325" y="34116"/>
                  <a:pt x="2600325" y="76201"/>
                </a:cubicBezTo>
                <a:lnTo>
                  <a:pt x="2600325" y="761999"/>
                </a:lnTo>
                <a:cubicBezTo>
                  <a:pt x="2600325" y="804084"/>
                  <a:pt x="2566209" y="838200"/>
                  <a:pt x="2524124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7" name="Shape 65"/>
          <p:cNvSpPr/>
          <p:nvPr/>
        </p:nvSpPr>
        <p:spPr>
          <a:xfrm>
            <a:off x="3419475" y="45243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124897"/>
                </a:moveTo>
                <a:lnTo>
                  <a:pt x="0" y="32593"/>
                </a:lnTo>
                <a:cubicBezTo>
                  <a:pt x="0" y="25688"/>
                  <a:pt x="7174" y="21104"/>
                  <a:pt x="13781" y="23068"/>
                </a:cubicBezTo>
                <a:cubicBezTo>
                  <a:pt x="39886" y="30867"/>
                  <a:pt x="58341" y="24705"/>
                  <a:pt x="76914" y="18514"/>
                </a:cubicBezTo>
                <a:cubicBezTo>
                  <a:pt x="96113" y="12115"/>
                  <a:pt x="115431" y="5685"/>
                  <a:pt x="143381" y="14615"/>
                </a:cubicBezTo>
                <a:cubicBezTo>
                  <a:pt x="148888" y="16371"/>
                  <a:pt x="152400" y="21699"/>
                  <a:pt x="152400" y="27503"/>
                </a:cubicBezTo>
                <a:lnTo>
                  <a:pt x="152400" y="119807"/>
                </a:lnTo>
                <a:cubicBezTo>
                  <a:pt x="152400" y="126712"/>
                  <a:pt x="145226" y="131296"/>
                  <a:pt x="138648" y="129332"/>
                </a:cubicBezTo>
                <a:cubicBezTo>
                  <a:pt x="112544" y="121533"/>
                  <a:pt x="94059" y="127695"/>
                  <a:pt x="75515" y="133886"/>
                </a:cubicBezTo>
                <a:cubicBezTo>
                  <a:pt x="56317" y="140285"/>
                  <a:pt x="36999" y="146715"/>
                  <a:pt x="9049" y="137785"/>
                </a:cubicBezTo>
                <a:cubicBezTo>
                  <a:pt x="3542" y="136029"/>
                  <a:pt x="30" y="130701"/>
                  <a:pt x="30" y="124897"/>
                </a:cubicBezTo>
                <a:close/>
                <a:moveTo>
                  <a:pt x="100013" y="76200"/>
                </a:moveTo>
                <a:cubicBezTo>
                  <a:pt x="100013" y="60424"/>
                  <a:pt x="89356" y="47625"/>
                  <a:pt x="76200" y="47625"/>
                </a:cubicBezTo>
                <a:cubicBezTo>
                  <a:pt x="63044" y="47625"/>
                  <a:pt x="52388" y="60424"/>
                  <a:pt x="52388" y="76200"/>
                </a:cubicBezTo>
                <a:cubicBezTo>
                  <a:pt x="52388" y="91976"/>
                  <a:pt x="63044" y="104775"/>
                  <a:pt x="76200" y="104775"/>
                </a:cubicBezTo>
                <a:cubicBezTo>
                  <a:pt x="89356" y="104775"/>
                  <a:pt x="100013" y="91976"/>
                  <a:pt x="100013" y="76200"/>
                </a:cubicBezTo>
                <a:close/>
                <a:moveTo>
                  <a:pt x="35719" y="123111"/>
                </a:moveTo>
                <a:cubicBezTo>
                  <a:pt x="37028" y="123111"/>
                  <a:pt x="38070" y="121980"/>
                  <a:pt x="37862" y="120700"/>
                </a:cubicBezTo>
                <a:cubicBezTo>
                  <a:pt x="36493" y="112425"/>
                  <a:pt x="29825" y="105966"/>
                  <a:pt x="21431" y="104924"/>
                </a:cubicBezTo>
                <a:cubicBezTo>
                  <a:pt x="20122" y="104775"/>
                  <a:pt x="19050" y="105847"/>
                  <a:pt x="19050" y="107156"/>
                </a:cubicBezTo>
                <a:lnTo>
                  <a:pt x="19050" y="119033"/>
                </a:lnTo>
                <a:cubicBezTo>
                  <a:pt x="19050" y="120104"/>
                  <a:pt x="19764" y="121057"/>
                  <a:pt x="20836" y="121325"/>
                </a:cubicBezTo>
                <a:cubicBezTo>
                  <a:pt x="26164" y="122575"/>
                  <a:pt x="31046" y="123140"/>
                  <a:pt x="35719" y="123140"/>
                </a:cubicBezTo>
                <a:close/>
                <a:moveTo>
                  <a:pt x="130522" y="107900"/>
                </a:moveTo>
                <a:cubicBezTo>
                  <a:pt x="132011" y="108139"/>
                  <a:pt x="133350" y="107007"/>
                  <a:pt x="133350" y="105519"/>
                </a:cubicBezTo>
                <a:lnTo>
                  <a:pt x="133350" y="92839"/>
                </a:lnTo>
                <a:cubicBezTo>
                  <a:pt x="133350" y="91529"/>
                  <a:pt x="132278" y="90428"/>
                  <a:pt x="130969" y="90607"/>
                </a:cubicBezTo>
                <a:cubicBezTo>
                  <a:pt x="123468" y="91529"/>
                  <a:pt x="117306" y="96828"/>
                  <a:pt x="115133" y="103882"/>
                </a:cubicBezTo>
                <a:cubicBezTo>
                  <a:pt x="114717" y="105281"/>
                  <a:pt x="115818" y="106591"/>
                  <a:pt x="117277" y="106620"/>
                </a:cubicBezTo>
                <a:cubicBezTo>
                  <a:pt x="121503" y="106740"/>
                  <a:pt x="125909" y="107126"/>
                  <a:pt x="130493" y="107900"/>
                </a:cubicBezTo>
                <a:close/>
                <a:moveTo>
                  <a:pt x="133350" y="45244"/>
                </a:moveTo>
                <a:lnTo>
                  <a:pt x="133350" y="33367"/>
                </a:lnTo>
                <a:cubicBezTo>
                  <a:pt x="133350" y="32296"/>
                  <a:pt x="132606" y="31343"/>
                  <a:pt x="131564" y="31075"/>
                </a:cubicBezTo>
                <a:cubicBezTo>
                  <a:pt x="126236" y="29825"/>
                  <a:pt x="121354" y="29260"/>
                  <a:pt x="116681" y="29260"/>
                </a:cubicBezTo>
                <a:cubicBezTo>
                  <a:pt x="115372" y="29260"/>
                  <a:pt x="114330" y="30391"/>
                  <a:pt x="114538" y="31671"/>
                </a:cubicBezTo>
                <a:cubicBezTo>
                  <a:pt x="115907" y="39945"/>
                  <a:pt x="122575" y="46405"/>
                  <a:pt x="130969" y="47446"/>
                </a:cubicBezTo>
                <a:cubicBezTo>
                  <a:pt x="132278" y="47595"/>
                  <a:pt x="133350" y="46524"/>
                  <a:pt x="133350" y="45214"/>
                </a:cubicBezTo>
                <a:close/>
                <a:moveTo>
                  <a:pt x="37267" y="48488"/>
                </a:moveTo>
                <a:cubicBezTo>
                  <a:pt x="37683" y="47089"/>
                  <a:pt x="36582" y="45780"/>
                  <a:pt x="35123" y="45750"/>
                </a:cubicBezTo>
                <a:cubicBezTo>
                  <a:pt x="30897" y="45631"/>
                  <a:pt x="26491" y="45244"/>
                  <a:pt x="21908" y="44470"/>
                </a:cubicBezTo>
                <a:cubicBezTo>
                  <a:pt x="20419" y="44232"/>
                  <a:pt x="19080" y="45363"/>
                  <a:pt x="19080" y="46851"/>
                </a:cubicBezTo>
                <a:lnTo>
                  <a:pt x="19050" y="59531"/>
                </a:lnTo>
                <a:cubicBezTo>
                  <a:pt x="19050" y="60841"/>
                  <a:pt x="20122" y="61942"/>
                  <a:pt x="21431" y="61764"/>
                </a:cubicBezTo>
                <a:cubicBezTo>
                  <a:pt x="28932" y="60841"/>
                  <a:pt x="35094" y="55543"/>
                  <a:pt x="37267" y="4848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8" name="Text 66"/>
          <p:cNvSpPr/>
          <p:nvPr/>
        </p:nvSpPr>
        <p:spPr>
          <a:xfrm>
            <a:off x="3667125" y="4505325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Budget Control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400425" y="473392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ICT budget approval tied to compliance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71500" y="5343525"/>
            <a:ext cx="2600325" cy="647700"/>
          </a:xfrm>
          <a:custGeom>
            <a:avLst/>
            <a:gdLst/>
            <a:ahLst/>
            <a:cxnLst/>
            <a:rect l="l" t="t" r="r" b="b"/>
            <a:pathLst>
              <a:path w="2600325" h="647700">
                <a:moveTo>
                  <a:pt x="76202" y="0"/>
                </a:moveTo>
                <a:lnTo>
                  <a:pt x="2524123" y="0"/>
                </a:lnTo>
                <a:cubicBezTo>
                  <a:pt x="2566208" y="0"/>
                  <a:pt x="2600325" y="34117"/>
                  <a:pt x="2600325" y="76202"/>
                </a:cubicBezTo>
                <a:lnTo>
                  <a:pt x="2600325" y="571498"/>
                </a:lnTo>
                <a:cubicBezTo>
                  <a:pt x="2600325" y="613583"/>
                  <a:pt x="2566208" y="647700"/>
                  <a:pt x="25241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1" name="Shape 69"/>
          <p:cNvSpPr/>
          <p:nvPr/>
        </p:nvSpPr>
        <p:spPr>
          <a:xfrm>
            <a:off x="704850" y="547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2" name="Text 70"/>
          <p:cNvSpPr/>
          <p:nvPr/>
        </p:nvSpPr>
        <p:spPr>
          <a:xfrm>
            <a:off x="952500" y="5457825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85800" y="568642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maturity in performance contracts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286125" y="5343525"/>
            <a:ext cx="2600325" cy="647700"/>
          </a:xfrm>
          <a:custGeom>
            <a:avLst/>
            <a:gdLst/>
            <a:ahLst/>
            <a:cxnLst/>
            <a:rect l="l" t="t" r="r" b="b"/>
            <a:pathLst>
              <a:path w="2600325" h="647700">
                <a:moveTo>
                  <a:pt x="76202" y="0"/>
                </a:moveTo>
                <a:lnTo>
                  <a:pt x="2524123" y="0"/>
                </a:lnTo>
                <a:cubicBezTo>
                  <a:pt x="2566208" y="0"/>
                  <a:pt x="2600325" y="34117"/>
                  <a:pt x="2600325" y="76202"/>
                </a:cubicBezTo>
                <a:lnTo>
                  <a:pt x="2600325" y="571498"/>
                </a:lnTo>
                <a:cubicBezTo>
                  <a:pt x="2600325" y="613583"/>
                  <a:pt x="2566208" y="647700"/>
                  <a:pt x="25241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5" name="Shape 73"/>
          <p:cNvSpPr/>
          <p:nvPr/>
        </p:nvSpPr>
        <p:spPr>
          <a:xfrm>
            <a:off x="3419475" y="547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6" name="Text 74"/>
          <p:cNvSpPr/>
          <p:nvPr/>
        </p:nvSpPr>
        <p:spPr>
          <a:xfrm>
            <a:off x="3667125" y="5457825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Escalation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3400425" y="5686425"/>
            <a:ext cx="2438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Non-compliance escalated to Cabinet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172200" y="3857625"/>
            <a:ext cx="5638800" cy="2286000"/>
          </a:xfrm>
          <a:custGeom>
            <a:avLst/>
            <a:gdLst/>
            <a:ahLst/>
            <a:cxnLst/>
            <a:rect l="l" t="t" r="r" b="b"/>
            <a:pathLst>
              <a:path w="5638800" h="2286000">
                <a:moveTo>
                  <a:pt x="38100" y="0"/>
                </a:moveTo>
                <a:lnTo>
                  <a:pt x="5562608" y="0"/>
                </a:lnTo>
                <a:cubicBezTo>
                  <a:pt x="5604688" y="0"/>
                  <a:pt x="5638800" y="34112"/>
                  <a:pt x="5638800" y="76192"/>
                </a:cubicBezTo>
                <a:lnTo>
                  <a:pt x="5638800" y="2209808"/>
                </a:lnTo>
                <a:cubicBezTo>
                  <a:pt x="5638800" y="2251888"/>
                  <a:pt x="5604688" y="2286000"/>
                  <a:pt x="5562608" y="2286000"/>
                </a:cubicBez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>
                  <a:alpha val="20000"/>
                </a:srgbClr>
              </a:gs>
              <a:gs pos="100000">
                <a:srgbClr val="C9A227">
                  <a:alpha val="5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6172200" y="3857625"/>
            <a:ext cx="38100" cy="2286000"/>
          </a:xfrm>
          <a:custGeom>
            <a:avLst/>
            <a:gdLst/>
            <a:ahLst/>
            <a:cxnLst/>
            <a:rect l="l" t="t" r="r" b="b"/>
            <a:pathLst>
              <a:path w="38100" h="2286000">
                <a:moveTo>
                  <a:pt x="38100" y="0"/>
                </a:moveTo>
                <a:lnTo>
                  <a:pt x="38100" y="0"/>
                </a:lnTo>
                <a:lnTo>
                  <a:pt x="38100" y="2286000"/>
                </a:lnTo>
                <a:lnTo>
                  <a:pt x="38100" y="2286000"/>
                </a:lnTo>
                <a:cubicBezTo>
                  <a:pt x="17072" y="2286000"/>
                  <a:pt x="0" y="2268928"/>
                  <a:pt x="0" y="2247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0" name="Shape 78"/>
          <p:cNvSpPr/>
          <p:nvPr/>
        </p:nvSpPr>
        <p:spPr>
          <a:xfrm>
            <a:off x="6356747" y="40576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1" name="Text 79"/>
          <p:cNvSpPr/>
          <p:nvPr/>
        </p:nvSpPr>
        <p:spPr>
          <a:xfrm>
            <a:off x="6562725" y="40100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Accountability Framework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343650" y="4410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83" name="Text 81"/>
          <p:cNvSpPr/>
          <p:nvPr/>
        </p:nvSpPr>
        <p:spPr>
          <a:xfrm>
            <a:off x="6310313" y="44100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838950" y="4391025"/>
            <a:ext cx="2505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Roles &amp; Responsibilities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838950" y="4619625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Defined mandates at each governance tier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343650" y="49053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87" name="Text 85"/>
          <p:cNvSpPr/>
          <p:nvPr/>
        </p:nvSpPr>
        <p:spPr>
          <a:xfrm>
            <a:off x="6310313" y="49053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838950" y="4886325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Rights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838950" y="5114925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authority levels for approvals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343650" y="5400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91" name="Text 89"/>
          <p:cNvSpPr/>
          <p:nvPr/>
        </p:nvSpPr>
        <p:spPr>
          <a:xfrm>
            <a:off x="6310313" y="5400675"/>
            <a:ext cx="447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6838950" y="538162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Reporting Lines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6838950" y="561022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information flow upward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GOVERNANCE CONTROLS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Decision-Gate Governance &amp; Prioritisation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assurance through gated approvals and evidence-based prioritisation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5657850" cy="4667250"/>
          </a:xfrm>
          <a:custGeom>
            <a:avLst/>
            <a:gdLst/>
            <a:ahLst/>
            <a:cxnLst/>
            <a:rect l="l" t="t" r="r" b="b"/>
            <a:pathLst>
              <a:path w="5657850" h="466725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4591034"/>
                </a:lnTo>
                <a:cubicBezTo>
                  <a:pt x="5657850" y="4633127"/>
                  <a:pt x="5623727" y="4667250"/>
                  <a:pt x="5581634" y="4667250"/>
                </a:cubicBezTo>
                <a:lnTo>
                  <a:pt x="76216" y="4667250"/>
                </a:lnTo>
                <a:cubicBezTo>
                  <a:pt x="34123" y="4667250"/>
                  <a:pt x="0" y="4633127"/>
                  <a:pt x="0" y="459103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276350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7" name="Shape 5"/>
          <p:cNvSpPr/>
          <p:nvPr/>
        </p:nvSpPr>
        <p:spPr>
          <a:xfrm>
            <a:off x="557213" y="1495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52475" y="14478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Decision-Gate Controls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828800"/>
            <a:ext cx="5419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digital initiatives must pass through mandatory quality gates before proceeding to next phase: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324100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381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876300"/>
                </a:lnTo>
                <a:cubicBezTo>
                  <a:pt x="5334000" y="918356"/>
                  <a:pt x="5299856" y="952500"/>
                  <a:pt x="5257800" y="952500"/>
                </a:cubicBez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552450" y="2324100"/>
            <a:ext cx="38100" cy="952500"/>
          </a:xfrm>
          <a:custGeom>
            <a:avLst/>
            <a:gdLst/>
            <a:ahLst/>
            <a:cxnLst/>
            <a:rect l="l" t="t" r="r" b="b"/>
            <a:pathLst>
              <a:path w="38100" h="952500">
                <a:moveTo>
                  <a:pt x="38100" y="0"/>
                </a:moveTo>
                <a:lnTo>
                  <a:pt x="38100" y="0"/>
                </a:lnTo>
                <a:lnTo>
                  <a:pt x="38100" y="952500"/>
                </a:lnTo>
                <a:lnTo>
                  <a:pt x="38100" y="952500"/>
                </a:lnTo>
                <a:cubicBezTo>
                  <a:pt x="17072" y="952500"/>
                  <a:pt x="0" y="935428"/>
                  <a:pt x="0" y="914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43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3" name="Shape 11"/>
          <p:cNvSpPr/>
          <p:nvPr/>
        </p:nvSpPr>
        <p:spPr>
          <a:xfrm>
            <a:off x="773906" y="2524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5863" y="66701"/>
                </a:moveTo>
                <a:lnTo>
                  <a:pt x="43938" y="35473"/>
                </a:lnTo>
                <a:cubicBezTo>
                  <a:pt x="42479" y="32296"/>
                  <a:pt x="41646" y="28754"/>
                  <a:pt x="41646" y="25003"/>
                </a:cubicBezTo>
                <a:cubicBezTo>
                  <a:pt x="41646" y="11199"/>
                  <a:pt x="52845" y="0"/>
                  <a:pt x="66649" y="0"/>
                </a:cubicBezTo>
                <a:cubicBezTo>
                  <a:pt x="80453" y="0"/>
                  <a:pt x="91652" y="11199"/>
                  <a:pt x="91652" y="25003"/>
                </a:cubicBezTo>
                <a:cubicBezTo>
                  <a:pt x="91652" y="28728"/>
                  <a:pt x="90845" y="32270"/>
                  <a:pt x="89360" y="35473"/>
                </a:cubicBezTo>
                <a:lnTo>
                  <a:pt x="100924" y="55450"/>
                </a:lnTo>
                <a:cubicBezTo>
                  <a:pt x="94908" y="62221"/>
                  <a:pt x="86938" y="67196"/>
                  <a:pt x="77900" y="69462"/>
                </a:cubicBezTo>
                <a:lnTo>
                  <a:pt x="66675" y="49980"/>
                </a:lnTo>
                <a:lnTo>
                  <a:pt x="48938" y="80609"/>
                </a:lnTo>
                <a:cubicBezTo>
                  <a:pt x="54538" y="82380"/>
                  <a:pt x="60476" y="83344"/>
                  <a:pt x="66675" y="83344"/>
                </a:cubicBezTo>
                <a:cubicBezTo>
                  <a:pt x="85089" y="83344"/>
                  <a:pt x="101523" y="74827"/>
                  <a:pt x="112228" y="61466"/>
                </a:cubicBezTo>
                <a:cubicBezTo>
                  <a:pt x="115119" y="57872"/>
                  <a:pt x="120354" y="57299"/>
                  <a:pt x="123948" y="60164"/>
                </a:cubicBezTo>
                <a:cubicBezTo>
                  <a:pt x="127542" y="63029"/>
                  <a:pt x="128115" y="68290"/>
                  <a:pt x="125250" y="71884"/>
                </a:cubicBezTo>
                <a:cubicBezTo>
                  <a:pt x="111524" y="89022"/>
                  <a:pt x="90376" y="100013"/>
                  <a:pt x="66701" y="100013"/>
                </a:cubicBezTo>
                <a:cubicBezTo>
                  <a:pt x="57481" y="100013"/>
                  <a:pt x="48626" y="98346"/>
                  <a:pt x="40474" y="95298"/>
                </a:cubicBezTo>
                <a:lnTo>
                  <a:pt x="25706" y="120770"/>
                </a:lnTo>
                <a:cubicBezTo>
                  <a:pt x="24482" y="122880"/>
                  <a:pt x="22659" y="124599"/>
                  <a:pt x="20471" y="125693"/>
                </a:cubicBezTo>
                <a:lnTo>
                  <a:pt x="6042" y="132907"/>
                </a:lnTo>
                <a:cubicBezTo>
                  <a:pt x="4740" y="133558"/>
                  <a:pt x="3204" y="133480"/>
                  <a:pt x="1979" y="132725"/>
                </a:cubicBezTo>
                <a:cubicBezTo>
                  <a:pt x="755" y="131970"/>
                  <a:pt x="0" y="130615"/>
                  <a:pt x="0" y="129183"/>
                </a:cubicBezTo>
                <a:lnTo>
                  <a:pt x="0" y="114754"/>
                </a:lnTo>
                <a:cubicBezTo>
                  <a:pt x="0" y="112566"/>
                  <a:pt x="573" y="110404"/>
                  <a:pt x="1693" y="108477"/>
                </a:cubicBezTo>
                <a:lnTo>
                  <a:pt x="17320" y="81469"/>
                </a:lnTo>
                <a:cubicBezTo>
                  <a:pt x="13986" y="78551"/>
                  <a:pt x="10913" y="75348"/>
                  <a:pt x="8126" y="71884"/>
                </a:cubicBezTo>
                <a:cubicBezTo>
                  <a:pt x="5235" y="68290"/>
                  <a:pt x="5834" y="63055"/>
                  <a:pt x="9428" y="60164"/>
                </a:cubicBezTo>
                <a:cubicBezTo>
                  <a:pt x="13022" y="57273"/>
                  <a:pt x="18257" y="57872"/>
                  <a:pt x="21148" y="61466"/>
                </a:cubicBezTo>
                <a:cubicBezTo>
                  <a:pt x="22633" y="63315"/>
                  <a:pt x="24222" y="65060"/>
                  <a:pt x="25889" y="66701"/>
                </a:cubicBezTo>
                <a:close/>
                <a:moveTo>
                  <a:pt x="99257" y="106237"/>
                </a:moveTo>
                <a:cubicBezTo>
                  <a:pt x="107722" y="102851"/>
                  <a:pt x="115509" y="98163"/>
                  <a:pt x="122411" y="92459"/>
                </a:cubicBezTo>
                <a:lnTo>
                  <a:pt x="131683" y="108477"/>
                </a:lnTo>
                <a:cubicBezTo>
                  <a:pt x="132777" y="110378"/>
                  <a:pt x="133376" y="112540"/>
                  <a:pt x="133376" y="114754"/>
                </a:cubicBezTo>
                <a:lnTo>
                  <a:pt x="133376" y="129183"/>
                </a:lnTo>
                <a:cubicBezTo>
                  <a:pt x="133376" y="130615"/>
                  <a:pt x="132621" y="131970"/>
                  <a:pt x="131397" y="132725"/>
                </a:cubicBezTo>
                <a:cubicBezTo>
                  <a:pt x="130173" y="133480"/>
                  <a:pt x="128636" y="133558"/>
                  <a:pt x="127334" y="132907"/>
                </a:cubicBezTo>
                <a:lnTo>
                  <a:pt x="112905" y="125693"/>
                </a:lnTo>
                <a:cubicBezTo>
                  <a:pt x="110717" y="124599"/>
                  <a:pt x="108894" y="122880"/>
                  <a:pt x="107670" y="120770"/>
                </a:cubicBezTo>
                <a:lnTo>
                  <a:pt x="99257" y="106237"/>
                </a:lnTo>
                <a:close/>
                <a:moveTo>
                  <a:pt x="66675" y="33337"/>
                </a:moveTo>
                <a:cubicBezTo>
                  <a:pt x="71275" y="33337"/>
                  <a:pt x="75009" y="29603"/>
                  <a:pt x="75009" y="25003"/>
                </a:cubicBezTo>
                <a:cubicBezTo>
                  <a:pt x="75009" y="20403"/>
                  <a:pt x="71275" y="16669"/>
                  <a:pt x="66675" y="16669"/>
                </a:cubicBezTo>
                <a:cubicBezTo>
                  <a:pt x="62075" y="16669"/>
                  <a:pt x="58341" y="20403"/>
                  <a:pt x="58341" y="25003"/>
                </a:cubicBezTo>
                <a:cubicBezTo>
                  <a:pt x="58341" y="29603"/>
                  <a:pt x="62075" y="33337"/>
                  <a:pt x="66675" y="3333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24765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Compliance Gate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781300"/>
            <a:ext cx="5153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alignment with enterprise architecture standards and interoperability requirements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352800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381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685800"/>
                </a:lnTo>
                <a:cubicBezTo>
                  <a:pt x="5334000" y="727856"/>
                  <a:pt x="5299856" y="762000"/>
                  <a:pt x="52578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52450" y="33528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46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19" name="Shape 17"/>
          <p:cNvSpPr/>
          <p:nvPr/>
        </p:nvSpPr>
        <p:spPr>
          <a:xfrm>
            <a:off x="765572" y="35528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77406" y="133350"/>
                </a:lnTo>
                <a:cubicBezTo>
                  <a:pt x="67977" y="122255"/>
                  <a:pt x="62508" y="107956"/>
                  <a:pt x="62508" y="92824"/>
                </a:cubicBezTo>
                <a:lnTo>
                  <a:pt x="62508" y="84724"/>
                </a:lnTo>
                <a:cubicBezTo>
                  <a:pt x="62508" y="82823"/>
                  <a:pt x="62768" y="80948"/>
                  <a:pt x="63263" y="79177"/>
                </a:cubicBezTo>
                <a:lnTo>
                  <a:pt x="50605" y="79177"/>
                </a:lnTo>
                <a:close/>
                <a:moveTo>
                  <a:pt x="115978" y="127229"/>
                </a:moveTo>
                <a:lnTo>
                  <a:pt x="112514" y="128870"/>
                </a:lnTo>
                <a:lnTo>
                  <a:pt x="112514" y="79880"/>
                </a:lnTo>
                <a:lnTo>
                  <a:pt x="137517" y="88214"/>
                </a:lnTo>
                <a:lnTo>
                  <a:pt x="137517" y="93319"/>
                </a:lnTo>
                <a:cubicBezTo>
                  <a:pt x="137517" y="107852"/>
                  <a:pt x="129131" y="121057"/>
                  <a:pt x="115978" y="127255"/>
                </a:cubicBezTo>
                <a:close/>
                <a:moveTo>
                  <a:pt x="109884" y="67587"/>
                </a:moveTo>
                <a:lnTo>
                  <a:pt x="80713" y="77301"/>
                </a:lnTo>
                <a:cubicBezTo>
                  <a:pt x="77301" y="78447"/>
                  <a:pt x="75009" y="81625"/>
                  <a:pt x="75009" y="85219"/>
                </a:cubicBezTo>
                <a:lnTo>
                  <a:pt x="75009" y="93319"/>
                </a:lnTo>
                <a:cubicBezTo>
                  <a:pt x="75009" y="112696"/>
                  <a:pt x="86209" y="130329"/>
                  <a:pt x="103711" y="138559"/>
                </a:cubicBezTo>
                <a:lnTo>
                  <a:pt x="108529" y="140825"/>
                </a:lnTo>
                <a:cubicBezTo>
                  <a:pt x="109779" y="141398"/>
                  <a:pt x="111134" y="141710"/>
                  <a:pt x="112488" y="141710"/>
                </a:cubicBezTo>
                <a:cubicBezTo>
                  <a:pt x="113842" y="141710"/>
                  <a:pt x="115223" y="141398"/>
                  <a:pt x="116447" y="140825"/>
                </a:cubicBezTo>
                <a:lnTo>
                  <a:pt x="121265" y="138559"/>
                </a:lnTo>
                <a:cubicBezTo>
                  <a:pt x="138819" y="130303"/>
                  <a:pt x="150019" y="112670"/>
                  <a:pt x="150019" y="93293"/>
                </a:cubicBezTo>
                <a:lnTo>
                  <a:pt x="150019" y="85193"/>
                </a:lnTo>
                <a:cubicBezTo>
                  <a:pt x="150019" y="81599"/>
                  <a:pt x="147727" y="78421"/>
                  <a:pt x="144315" y="77275"/>
                </a:cubicBezTo>
                <a:lnTo>
                  <a:pt x="115145" y="67561"/>
                </a:lnTo>
                <a:cubicBezTo>
                  <a:pt x="113426" y="66988"/>
                  <a:pt x="111576" y="66988"/>
                  <a:pt x="109884" y="6756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35052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Protection &amp; DPIA Gate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" y="38100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Mandatory Data Protection Impact Assessment for all citizen data processing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2450" y="4191000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381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685800"/>
                </a:lnTo>
                <a:cubicBezTo>
                  <a:pt x="5334000" y="727856"/>
                  <a:pt x="5299856" y="762000"/>
                  <a:pt x="52578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552450" y="41910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4305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790575" y="43910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66800" y="434340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 Baseline Gate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46482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controls validation and vulnerability assessment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2450" y="5029200"/>
            <a:ext cx="5334000" cy="762000"/>
          </a:xfrm>
          <a:custGeom>
            <a:avLst/>
            <a:gdLst/>
            <a:ahLst/>
            <a:cxnLst/>
            <a:rect l="l" t="t" r="r" b="b"/>
            <a:pathLst>
              <a:path w="5334000" h="762000">
                <a:moveTo>
                  <a:pt x="38100" y="0"/>
                </a:moveTo>
                <a:lnTo>
                  <a:pt x="5257800" y="0"/>
                </a:lnTo>
                <a:cubicBezTo>
                  <a:pt x="5299856" y="0"/>
                  <a:pt x="5334000" y="34144"/>
                  <a:pt x="5334000" y="76200"/>
                </a:cubicBezTo>
                <a:lnTo>
                  <a:pt x="5334000" y="685800"/>
                </a:lnTo>
                <a:cubicBezTo>
                  <a:pt x="5334000" y="727856"/>
                  <a:pt x="5299856" y="762000"/>
                  <a:pt x="5257800" y="762000"/>
                </a:cubicBez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52450" y="50292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3810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38100" y="762000"/>
                </a:lnTo>
                <a:cubicBezTo>
                  <a:pt x="17072" y="762000"/>
                  <a:pt x="0" y="744928"/>
                  <a:pt x="0" y="723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5143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31" name="Shape 29"/>
          <p:cNvSpPr/>
          <p:nvPr/>
        </p:nvSpPr>
        <p:spPr>
          <a:xfrm>
            <a:off x="773906" y="5229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16669"/>
                </a:moveTo>
                <a:cubicBezTo>
                  <a:pt x="0" y="12059"/>
                  <a:pt x="3724" y="8334"/>
                  <a:pt x="8334" y="8334"/>
                </a:cubicBezTo>
                <a:lnTo>
                  <a:pt x="125016" y="8334"/>
                </a:lnTo>
                <a:cubicBezTo>
                  <a:pt x="129626" y="8334"/>
                  <a:pt x="133350" y="12059"/>
                  <a:pt x="133350" y="16669"/>
                </a:cubicBezTo>
                <a:lnTo>
                  <a:pt x="133350" y="25003"/>
                </a:lnTo>
                <a:cubicBezTo>
                  <a:pt x="133350" y="29613"/>
                  <a:pt x="129626" y="33337"/>
                  <a:pt x="125016" y="33337"/>
                </a:cubicBezTo>
                <a:lnTo>
                  <a:pt x="8334" y="33337"/>
                </a:lnTo>
                <a:cubicBezTo>
                  <a:pt x="3724" y="33337"/>
                  <a:pt x="0" y="29613"/>
                  <a:pt x="0" y="25003"/>
                </a:cubicBezTo>
                <a:lnTo>
                  <a:pt x="0" y="16669"/>
                </a:lnTo>
                <a:close/>
                <a:moveTo>
                  <a:pt x="8334" y="45839"/>
                </a:moveTo>
                <a:lnTo>
                  <a:pt x="125016" y="45839"/>
                </a:lnTo>
                <a:lnTo>
                  <a:pt x="125016" y="108347"/>
                </a:lnTo>
                <a:cubicBezTo>
                  <a:pt x="125016" y="117541"/>
                  <a:pt x="117541" y="125016"/>
                  <a:pt x="108347" y="125016"/>
                </a:cubicBezTo>
                <a:lnTo>
                  <a:pt x="25003" y="125016"/>
                </a:lnTo>
                <a:cubicBezTo>
                  <a:pt x="15809" y="125016"/>
                  <a:pt x="8334" y="117541"/>
                  <a:pt x="8334" y="108347"/>
                </a:cubicBezTo>
                <a:lnTo>
                  <a:pt x="8334" y="45839"/>
                </a:lnTo>
                <a:close/>
                <a:moveTo>
                  <a:pt x="47923" y="62508"/>
                </a:moveTo>
                <a:cubicBezTo>
                  <a:pt x="44459" y="62508"/>
                  <a:pt x="41672" y="65295"/>
                  <a:pt x="41672" y="68759"/>
                </a:cubicBezTo>
                <a:cubicBezTo>
                  <a:pt x="41672" y="72223"/>
                  <a:pt x="44459" y="75009"/>
                  <a:pt x="47923" y="75009"/>
                </a:cubicBezTo>
                <a:lnTo>
                  <a:pt x="85427" y="75009"/>
                </a:lnTo>
                <a:cubicBezTo>
                  <a:pt x="88891" y="75009"/>
                  <a:pt x="91678" y="72223"/>
                  <a:pt x="91678" y="68759"/>
                </a:cubicBezTo>
                <a:cubicBezTo>
                  <a:pt x="91678" y="65295"/>
                  <a:pt x="88891" y="62508"/>
                  <a:pt x="85427" y="62508"/>
                </a:cubicBezTo>
                <a:lnTo>
                  <a:pt x="47923" y="62508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1066800" y="518160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Records Compliance Gate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54864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Records management plan and retention schedule approval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53150" y="1276350"/>
            <a:ext cx="5657850" cy="3448050"/>
          </a:xfrm>
          <a:custGeom>
            <a:avLst/>
            <a:gdLst/>
            <a:ahLst/>
            <a:cxnLst/>
            <a:rect l="l" t="t" r="r" b="b"/>
            <a:pathLst>
              <a:path w="5657850" h="344805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371848"/>
                </a:lnTo>
                <a:cubicBezTo>
                  <a:pt x="5657850" y="3413933"/>
                  <a:pt x="5623733" y="3448050"/>
                  <a:pt x="5581648" y="3448050"/>
                </a:cubicBezTo>
                <a:lnTo>
                  <a:pt x="76202" y="3448050"/>
                </a:lnTo>
                <a:cubicBezTo>
                  <a:pt x="34117" y="3448050"/>
                  <a:pt x="0" y="3413933"/>
                  <a:pt x="0" y="33718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53150" y="1276350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6" name="Shape 34"/>
          <p:cNvSpPr/>
          <p:nvPr/>
        </p:nvSpPr>
        <p:spPr>
          <a:xfrm>
            <a:off x="6318647" y="14954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2577" y="125440"/>
                </a:moveTo>
                <a:lnTo>
                  <a:pt x="50430" y="157587"/>
                </a:lnTo>
                <a:cubicBezTo>
                  <a:pt x="46245" y="161772"/>
                  <a:pt x="39447" y="161772"/>
                  <a:pt x="35261" y="157587"/>
                </a:cubicBezTo>
                <a:lnTo>
                  <a:pt x="3114" y="125440"/>
                </a:lnTo>
                <a:cubicBezTo>
                  <a:pt x="-1072" y="121254"/>
                  <a:pt x="-1072" y="114456"/>
                  <a:pt x="3114" y="110270"/>
                </a:cubicBezTo>
                <a:cubicBezTo>
                  <a:pt x="7300" y="106085"/>
                  <a:pt x="14098" y="106085"/>
                  <a:pt x="18284" y="110270"/>
                </a:cubicBezTo>
                <a:lnTo>
                  <a:pt x="32147" y="124134"/>
                </a:lnTo>
                <a:lnTo>
                  <a:pt x="32147" y="21431"/>
                </a:lnTo>
                <a:cubicBezTo>
                  <a:pt x="32147" y="15504"/>
                  <a:pt x="36935" y="10716"/>
                  <a:pt x="42863" y="10716"/>
                </a:cubicBezTo>
                <a:cubicBezTo>
                  <a:pt x="48790" y="10716"/>
                  <a:pt x="53578" y="15504"/>
                  <a:pt x="53578" y="21431"/>
                </a:cubicBezTo>
                <a:lnTo>
                  <a:pt x="53578" y="124134"/>
                </a:lnTo>
                <a:lnTo>
                  <a:pt x="67441" y="110270"/>
                </a:lnTo>
                <a:cubicBezTo>
                  <a:pt x="71627" y="106085"/>
                  <a:pt x="78425" y="106085"/>
                  <a:pt x="82611" y="110270"/>
                </a:cubicBezTo>
                <a:cubicBezTo>
                  <a:pt x="86797" y="114456"/>
                  <a:pt x="86797" y="121254"/>
                  <a:pt x="82611" y="125440"/>
                </a:cubicBezTo>
                <a:close/>
                <a:moveTo>
                  <a:pt x="107156" y="160734"/>
                </a:moveTo>
                <a:cubicBezTo>
                  <a:pt x="101229" y="160734"/>
                  <a:pt x="96441" y="155946"/>
                  <a:pt x="96441" y="150019"/>
                </a:cubicBezTo>
                <a:cubicBezTo>
                  <a:pt x="96441" y="144092"/>
                  <a:pt x="101229" y="139303"/>
                  <a:pt x="107156" y="139303"/>
                </a:cubicBezTo>
                <a:lnTo>
                  <a:pt x="117872" y="139303"/>
                </a:lnTo>
                <a:cubicBezTo>
                  <a:pt x="123799" y="139303"/>
                  <a:pt x="128588" y="144092"/>
                  <a:pt x="128588" y="150019"/>
                </a:cubicBezTo>
                <a:cubicBezTo>
                  <a:pt x="128588" y="155946"/>
                  <a:pt x="123799" y="160734"/>
                  <a:pt x="117872" y="160734"/>
                </a:cubicBezTo>
                <a:lnTo>
                  <a:pt x="107156" y="160734"/>
                </a:lnTo>
                <a:close/>
                <a:moveTo>
                  <a:pt x="107156" y="117872"/>
                </a:moveTo>
                <a:cubicBezTo>
                  <a:pt x="101229" y="117872"/>
                  <a:pt x="96441" y="113083"/>
                  <a:pt x="96441" y="107156"/>
                </a:cubicBezTo>
                <a:cubicBezTo>
                  <a:pt x="96441" y="101229"/>
                  <a:pt x="101229" y="96441"/>
                  <a:pt x="107156" y="96441"/>
                </a:cubicBez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107156" y="117872"/>
                </a:lnTo>
                <a:close/>
                <a:moveTo>
                  <a:pt x="107156" y="75009"/>
                </a:moveTo>
                <a:cubicBezTo>
                  <a:pt x="101229" y="75009"/>
                  <a:pt x="96441" y="70221"/>
                  <a:pt x="96441" y="64294"/>
                </a:cubicBezTo>
                <a:cubicBezTo>
                  <a:pt x="96441" y="58367"/>
                  <a:pt x="101229" y="53578"/>
                  <a:pt x="107156" y="53578"/>
                </a:cubicBezTo>
                <a:lnTo>
                  <a:pt x="160734" y="53578"/>
                </a:lnTo>
                <a:cubicBezTo>
                  <a:pt x="166661" y="53578"/>
                  <a:pt x="171450" y="58367"/>
                  <a:pt x="171450" y="64294"/>
                </a:cubicBezTo>
                <a:cubicBezTo>
                  <a:pt x="171450" y="70221"/>
                  <a:pt x="166661" y="75009"/>
                  <a:pt x="160734" y="75009"/>
                </a:cubicBezTo>
                <a:lnTo>
                  <a:pt x="107156" y="75009"/>
                </a:lnTo>
                <a:close/>
                <a:moveTo>
                  <a:pt x="107156" y="32147"/>
                </a:moveTo>
                <a:cubicBezTo>
                  <a:pt x="101229" y="32147"/>
                  <a:pt x="96441" y="27358"/>
                  <a:pt x="96441" y="21431"/>
                </a:cubicBezTo>
                <a:cubicBezTo>
                  <a:pt x="96441" y="15504"/>
                  <a:pt x="101229" y="10716"/>
                  <a:pt x="107156" y="10716"/>
                </a:cubicBezTo>
                <a:lnTo>
                  <a:pt x="182166" y="10716"/>
                </a:lnTo>
                <a:cubicBezTo>
                  <a:pt x="188093" y="10716"/>
                  <a:pt x="192881" y="15504"/>
                  <a:pt x="192881" y="21431"/>
                </a:cubicBezTo>
                <a:cubicBezTo>
                  <a:pt x="192881" y="27358"/>
                  <a:pt x="188093" y="32147"/>
                  <a:pt x="182166" y="32147"/>
                </a:cubicBezTo>
                <a:lnTo>
                  <a:pt x="107156" y="3214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6524625" y="14478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Prioritisation Framework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05550" y="1828800"/>
            <a:ext cx="541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scoring model using three dimensions to rank initiatives: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05550" y="2133600"/>
            <a:ext cx="5353050" cy="762000"/>
          </a:xfrm>
          <a:custGeom>
            <a:avLst/>
            <a:gdLst/>
            <a:ahLst/>
            <a:cxnLst/>
            <a:rect l="l" t="t" r="r" b="b"/>
            <a:pathLst>
              <a:path w="5353050" h="762000">
                <a:moveTo>
                  <a:pt x="76200" y="0"/>
                </a:moveTo>
                <a:lnTo>
                  <a:pt x="5276850" y="0"/>
                </a:lnTo>
                <a:cubicBezTo>
                  <a:pt x="5318906" y="0"/>
                  <a:pt x="5353050" y="34144"/>
                  <a:pt x="5353050" y="76200"/>
                </a:cubicBezTo>
                <a:lnTo>
                  <a:pt x="5353050" y="685800"/>
                </a:lnTo>
                <a:cubicBezTo>
                  <a:pt x="5353050" y="727856"/>
                  <a:pt x="5318906" y="762000"/>
                  <a:pt x="52768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52"/>
              </a:gs>
              <a:gs pos="100000">
                <a:srgbClr val="4A6B82"/>
              </a:gs>
            </a:gsLst>
            <a:lin ang="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6429375" y="23050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38100" y="19050"/>
                </a:moveTo>
                <a:cubicBezTo>
                  <a:pt x="38100" y="8543"/>
                  <a:pt x="46643" y="0"/>
                  <a:pt x="57150" y="0"/>
                </a:cubicBezTo>
                <a:lnTo>
                  <a:pt x="114300" y="0"/>
                </a:lnTo>
                <a:cubicBezTo>
                  <a:pt x="124807" y="0"/>
                  <a:pt x="133350" y="8543"/>
                  <a:pt x="133350" y="19050"/>
                </a:cubicBezTo>
                <a:lnTo>
                  <a:pt x="133350" y="38100"/>
                </a:lnTo>
                <a:lnTo>
                  <a:pt x="152400" y="38100"/>
                </a:lnTo>
                <a:cubicBezTo>
                  <a:pt x="162907" y="38100"/>
                  <a:pt x="171450" y="46643"/>
                  <a:pt x="171450" y="57150"/>
                </a:cubicBezTo>
                <a:lnTo>
                  <a:pt x="171450" y="133350"/>
                </a:lnTo>
                <a:cubicBezTo>
                  <a:pt x="171450" y="143857"/>
                  <a:pt x="162907" y="152400"/>
                  <a:pt x="15240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57150"/>
                </a:lnTo>
                <a:cubicBezTo>
                  <a:pt x="0" y="46643"/>
                  <a:pt x="8543" y="38100"/>
                  <a:pt x="19050" y="38100"/>
                </a:cubicBezTo>
                <a:lnTo>
                  <a:pt x="38100" y="38100"/>
                </a:lnTo>
                <a:lnTo>
                  <a:pt x="38100" y="19050"/>
                </a:lnTo>
                <a:close/>
                <a:moveTo>
                  <a:pt x="80962" y="104775"/>
                </a:moveTo>
                <a:cubicBezTo>
                  <a:pt x="75694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100013" y="138113"/>
                </a:lnTo>
                <a:lnTo>
                  <a:pt x="100013" y="114300"/>
                </a:lnTo>
                <a:cubicBezTo>
                  <a:pt x="100013" y="109031"/>
                  <a:pt x="95756" y="104775"/>
                  <a:pt x="90488" y="104775"/>
                </a:cubicBezTo>
                <a:lnTo>
                  <a:pt x="80962" y="104775"/>
                </a:lnTo>
                <a:close/>
                <a:moveTo>
                  <a:pt x="38100" y="109537"/>
                </a:moveTo>
                <a:lnTo>
                  <a:pt x="38100" y="100013"/>
                </a:lnTo>
                <a:cubicBezTo>
                  <a:pt x="38100" y="97393"/>
                  <a:pt x="35957" y="95250"/>
                  <a:pt x="33338" y="95250"/>
                </a:cubicBezTo>
                <a:lnTo>
                  <a:pt x="23813" y="95250"/>
                </a:lnTo>
                <a:cubicBezTo>
                  <a:pt x="21193" y="95250"/>
                  <a:pt x="19050" y="97393"/>
                  <a:pt x="19050" y="100013"/>
                </a:cubicBezTo>
                <a:lnTo>
                  <a:pt x="19050" y="109537"/>
                </a:lnTo>
                <a:cubicBezTo>
                  <a:pt x="19050" y="112157"/>
                  <a:pt x="21193" y="114300"/>
                  <a:pt x="23813" y="114300"/>
                </a:cubicBezTo>
                <a:lnTo>
                  <a:pt x="33338" y="114300"/>
                </a:lnTo>
                <a:cubicBezTo>
                  <a:pt x="35957" y="114300"/>
                  <a:pt x="38100" y="112157"/>
                  <a:pt x="38100" y="109537"/>
                </a:cubicBezTo>
                <a:close/>
                <a:moveTo>
                  <a:pt x="33338" y="76200"/>
                </a:moveTo>
                <a:cubicBezTo>
                  <a:pt x="35957" y="76200"/>
                  <a:pt x="38100" y="74057"/>
                  <a:pt x="38100" y="71438"/>
                </a:cubicBezTo>
                <a:lnTo>
                  <a:pt x="38100" y="61912"/>
                </a:lnTo>
                <a:cubicBezTo>
                  <a:pt x="38100" y="59293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9293"/>
                  <a:pt x="19050" y="61912"/>
                </a:cubicBezTo>
                <a:lnTo>
                  <a:pt x="19050" y="71438"/>
                </a:lnTo>
                <a:cubicBezTo>
                  <a:pt x="19050" y="74057"/>
                  <a:pt x="21193" y="76200"/>
                  <a:pt x="23813" y="76200"/>
                </a:cubicBezTo>
                <a:lnTo>
                  <a:pt x="33338" y="76200"/>
                </a:lnTo>
                <a:close/>
                <a:moveTo>
                  <a:pt x="152400" y="109537"/>
                </a:moveTo>
                <a:lnTo>
                  <a:pt x="152400" y="100013"/>
                </a:lnTo>
                <a:cubicBezTo>
                  <a:pt x="152400" y="97393"/>
                  <a:pt x="150257" y="95250"/>
                  <a:pt x="147638" y="95250"/>
                </a:cubicBezTo>
                <a:lnTo>
                  <a:pt x="138113" y="95250"/>
                </a:lnTo>
                <a:cubicBezTo>
                  <a:pt x="135493" y="95250"/>
                  <a:pt x="133350" y="97393"/>
                  <a:pt x="133350" y="100013"/>
                </a:cubicBezTo>
                <a:lnTo>
                  <a:pt x="133350" y="109537"/>
                </a:lnTo>
                <a:cubicBezTo>
                  <a:pt x="133350" y="112157"/>
                  <a:pt x="135493" y="114300"/>
                  <a:pt x="138113" y="114300"/>
                </a:cubicBezTo>
                <a:lnTo>
                  <a:pt x="147638" y="114300"/>
                </a:lnTo>
                <a:cubicBezTo>
                  <a:pt x="150257" y="114300"/>
                  <a:pt x="152400" y="112157"/>
                  <a:pt x="152400" y="109537"/>
                </a:cubicBezTo>
                <a:close/>
                <a:moveTo>
                  <a:pt x="147638" y="76200"/>
                </a:moveTo>
                <a:cubicBezTo>
                  <a:pt x="150257" y="76200"/>
                  <a:pt x="152400" y="74057"/>
                  <a:pt x="152400" y="71438"/>
                </a:cubicBezTo>
                <a:lnTo>
                  <a:pt x="152400" y="61912"/>
                </a:lnTo>
                <a:cubicBezTo>
                  <a:pt x="152400" y="59293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9293"/>
                  <a:pt x="133350" y="61912"/>
                </a:cubicBezTo>
                <a:lnTo>
                  <a:pt x="133350" y="71438"/>
                </a:lnTo>
                <a:cubicBezTo>
                  <a:pt x="133350" y="74057"/>
                  <a:pt x="135493" y="76200"/>
                  <a:pt x="138113" y="76200"/>
                </a:cubicBezTo>
                <a:lnTo>
                  <a:pt x="147638" y="76200"/>
                </a:lnTo>
                <a:close/>
                <a:moveTo>
                  <a:pt x="78581" y="30956"/>
                </a:moveTo>
                <a:lnTo>
                  <a:pt x="78581" y="40481"/>
                </a:lnTo>
                <a:lnTo>
                  <a:pt x="69056" y="40481"/>
                </a:lnTo>
                <a:cubicBezTo>
                  <a:pt x="66437" y="40481"/>
                  <a:pt x="64294" y="42624"/>
                  <a:pt x="64294" y="45244"/>
                </a:cubicBezTo>
                <a:lnTo>
                  <a:pt x="64294" y="50006"/>
                </a:lnTo>
                <a:cubicBezTo>
                  <a:pt x="64294" y="52626"/>
                  <a:pt x="66437" y="54769"/>
                  <a:pt x="69056" y="54769"/>
                </a:cubicBezTo>
                <a:lnTo>
                  <a:pt x="78581" y="54769"/>
                </a:lnTo>
                <a:lnTo>
                  <a:pt x="78581" y="64294"/>
                </a:lnTo>
                <a:cubicBezTo>
                  <a:pt x="78581" y="66913"/>
                  <a:pt x="80724" y="69056"/>
                  <a:pt x="83344" y="69056"/>
                </a:cubicBezTo>
                <a:lnTo>
                  <a:pt x="88106" y="69056"/>
                </a:lnTo>
                <a:cubicBezTo>
                  <a:pt x="90726" y="69056"/>
                  <a:pt x="92869" y="66913"/>
                  <a:pt x="92869" y="64294"/>
                </a:cubicBezTo>
                <a:lnTo>
                  <a:pt x="92869" y="54769"/>
                </a:lnTo>
                <a:lnTo>
                  <a:pt x="102394" y="54769"/>
                </a:lnTo>
                <a:cubicBezTo>
                  <a:pt x="105013" y="54769"/>
                  <a:pt x="107156" y="52626"/>
                  <a:pt x="107156" y="50006"/>
                </a:cubicBezTo>
                <a:lnTo>
                  <a:pt x="107156" y="45244"/>
                </a:lnTo>
                <a:cubicBezTo>
                  <a:pt x="107156" y="42624"/>
                  <a:pt x="105013" y="40481"/>
                  <a:pt x="102394" y="40481"/>
                </a:cubicBezTo>
                <a:lnTo>
                  <a:pt x="92869" y="40481"/>
                </a:lnTo>
                <a:lnTo>
                  <a:pt x="92869" y="30956"/>
                </a:lnTo>
                <a:cubicBezTo>
                  <a:pt x="92869" y="28337"/>
                  <a:pt x="90726" y="26194"/>
                  <a:pt x="88106" y="26194"/>
                </a:cubicBezTo>
                <a:lnTo>
                  <a:pt x="83344" y="26194"/>
                </a:lnTo>
                <a:cubicBezTo>
                  <a:pt x="80724" y="26194"/>
                  <a:pt x="78581" y="28337"/>
                  <a:pt x="78581" y="30956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1" name="Text 39"/>
          <p:cNvSpPr/>
          <p:nvPr/>
        </p:nvSpPr>
        <p:spPr>
          <a:xfrm>
            <a:off x="6610350" y="226695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Need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62854" y="22479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19850" y="259080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constraints, regulatory requirements, current pain points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5550" y="2971800"/>
            <a:ext cx="5353050" cy="762000"/>
          </a:xfrm>
          <a:custGeom>
            <a:avLst/>
            <a:gdLst/>
            <a:ahLst/>
            <a:cxnLst/>
            <a:rect l="l" t="t" r="r" b="b"/>
            <a:pathLst>
              <a:path w="5353050" h="762000">
                <a:moveTo>
                  <a:pt x="76200" y="0"/>
                </a:moveTo>
                <a:lnTo>
                  <a:pt x="5276850" y="0"/>
                </a:lnTo>
                <a:cubicBezTo>
                  <a:pt x="5318906" y="0"/>
                  <a:pt x="5353050" y="34144"/>
                  <a:pt x="5353050" y="76200"/>
                </a:cubicBezTo>
                <a:lnTo>
                  <a:pt x="5353050" y="685800"/>
                </a:lnTo>
                <a:cubicBezTo>
                  <a:pt x="5353050" y="727856"/>
                  <a:pt x="5318906" y="762000"/>
                  <a:pt x="52768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B82"/>
              </a:gs>
              <a:gs pos="100000">
                <a:srgbClr val="1A3A52"/>
              </a:gs>
            </a:gsLst>
            <a:lin ang="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6438900" y="3143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6" name="Text 44"/>
          <p:cNvSpPr/>
          <p:nvPr/>
        </p:nvSpPr>
        <p:spPr>
          <a:xfrm>
            <a:off x="6610350" y="3105150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68063" y="30861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19850" y="342900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Citizen value, economic benefit, service volume, strategic alignment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05550" y="3810000"/>
            <a:ext cx="5353050" cy="762000"/>
          </a:xfrm>
          <a:custGeom>
            <a:avLst/>
            <a:gdLst/>
            <a:ahLst/>
            <a:cxnLst/>
            <a:rect l="l" t="t" r="r" b="b"/>
            <a:pathLst>
              <a:path w="5353050" h="762000">
                <a:moveTo>
                  <a:pt x="76200" y="0"/>
                </a:moveTo>
                <a:lnTo>
                  <a:pt x="5276850" y="0"/>
                </a:lnTo>
                <a:cubicBezTo>
                  <a:pt x="5318906" y="0"/>
                  <a:pt x="5353050" y="34144"/>
                  <a:pt x="5353050" y="76200"/>
                </a:cubicBezTo>
                <a:lnTo>
                  <a:pt x="5353050" y="685800"/>
                </a:lnTo>
                <a:cubicBezTo>
                  <a:pt x="5353050" y="727856"/>
                  <a:pt x="5318906" y="762000"/>
                  <a:pt x="5276850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/>
              </a:gs>
              <a:gs pos="100000">
                <a:srgbClr val="C9A227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6419850" y="39814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610350" y="394335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162854" y="3924300"/>
            <a:ext cx="47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19850" y="426720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Readiness, capacity, delivery risk, technology maturity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2200" y="4838700"/>
            <a:ext cx="5638800" cy="723900"/>
          </a:xfrm>
          <a:custGeom>
            <a:avLst/>
            <a:gdLst/>
            <a:ahLst/>
            <a:cxnLst/>
            <a:rect l="l" t="t" r="r" b="b"/>
            <a:pathLst>
              <a:path w="5638800" h="723900">
                <a:moveTo>
                  <a:pt x="38100" y="0"/>
                </a:moveTo>
                <a:lnTo>
                  <a:pt x="5562602" y="0"/>
                </a:lnTo>
                <a:cubicBezTo>
                  <a:pt x="5604657" y="0"/>
                  <a:pt x="5638800" y="34143"/>
                  <a:pt x="5638800" y="76198"/>
                </a:cubicBezTo>
                <a:lnTo>
                  <a:pt x="5638800" y="647702"/>
                </a:lnTo>
                <a:cubicBezTo>
                  <a:pt x="5638800" y="689757"/>
                  <a:pt x="5604657" y="723900"/>
                  <a:pt x="5562602" y="723900"/>
                </a:cubicBez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>
              <a:alpha val="5098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172200" y="4838700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0"/>
                </a:moveTo>
                <a:lnTo>
                  <a:pt x="38100" y="0"/>
                </a:lnTo>
                <a:lnTo>
                  <a:pt x="38100" y="723900"/>
                </a:lnTo>
                <a:lnTo>
                  <a:pt x="38100" y="723900"/>
                </a:lnTo>
                <a:cubicBezTo>
                  <a:pt x="17072" y="723900"/>
                  <a:pt x="0" y="706828"/>
                  <a:pt x="0" y="685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6" name="Shape 54"/>
          <p:cNvSpPr/>
          <p:nvPr/>
        </p:nvSpPr>
        <p:spPr>
          <a:xfrm>
            <a:off x="6343650" y="49911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7" name="Text 55"/>
          <p:cNvSpPr/>
          <p:nvPr/>
        </p:nvSpPr>
        <p:spPr>
          <a:xfrm>
            <a:off x="6496050" y="4953000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Process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05550" y="5257800"/>
            <a:ext cx="5457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Scores validated by MATC with sector input. Priorities reviewed quarterly.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DIGITISATION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Focus Areas &amp; Implementation Approach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high-impact service categories driving transformation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2190750" cy="1428750"/>
          </a:xfrm>
          <a:custGeom>
            <a:avLst/>
            <a:gdLst/>
            <a:ahLst/>
            <a:cxnLst/>
            <a:rect l="l" t="t" r="r" b="b"/>
            <a:pathLst>
              <a:path w="2190750" h="1428750">
                <a:moveTo>
                  <a:pt x="38100" y="0"/>
                </a:moveTo>
                <a:lnTo>
                  <a:pt x="2152650" y="0"/>
                </a:lnTo>
                <a:cubicBezTo>
                  <a:pt x="2173692" y="0"/>
                  <a:pt x="2190750" y="17058"/>
                  <a:pt x="2190750" y="38100"/>
                </a:cubicBezTo>
                <a:lnTo>
                  <a:pt x="2190750" y="1352555"/>
                </a:lnTo>
                <a:cubicBezTo>
                  <a:pt x="2190750" y="1394636"/>
                  <a:pt x="2156636" y="1428750"/>
                  <a:pt x="211455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2763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7" name="Shape 5"/>
          <p:cNvSpPr/>
          <p:nvPr/>
        </p:nvSpPr>
        <p:spPr>
          <a:xfrm>
            <a:off x="1249635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8" name="Shape 6"/>
          <p:cNvSpPr/>
          <p:nvPr/>
        </p:nvSpPr>
        <p:spPr>
          <a:xfrm>
            <a:off x="1371079" y="1543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0" y="35719"/>
                </a:lnTo>
                <a:close/>
                <a:moveTo>
                  <a:pt x="0" y="53578"/>
                </a:moveTo>
                <a:lnTo>
                  <a:pt x="214313" y="53578"/>
                </a:lnTo>
                <a:lnTo>
                  <a:pt x="214313" y="154781"/>
                </a:lnTo>
                <a:cubicBezTo>
                  <a:pt x="214313" y="167915"/>
                  <a:pt x="203634" y="178594"/>
                  <a:pt x="190500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3578"/>
                </a:lnTo>
                <a:close/>
                <a:moveTo>
                  <a:pt x="92013" y="154781"/>
                </a:moveTo>
                <a:cubicBezTo>
                  <a:pt x="99529" y="154781"/>
                  <a:pt x="105147" y="147563"/>
                  <a:pt x="100347" y="141759"/>
                </a:cubicBezTo>
                <a:cubicBezTo>
                  <a:pt x="94878" y="135173"/>
                  <a:pt x="86618" y="130969"/>
                  <a:pt x="77391" y="130969"/>
                </a:cubicBezTo>
                <a:lnTo>
                  <a:pt x="53578" y="130969"/>
                </a:lnTo>
                <a:cubicBezTo>
                  <a:pt x="44351" y="130969"/>
                  <a:pt x="36091" y="135173"/>
                  <a:pt x="30621" y="141759"/>
                </a:cubicBezTo>
                <a:cubicBezTo>
                  <a:pt x="25822" y="147563"/>
                  <a:pt x="31440" y="154781"/>
                  <a:pt x="38956" y="154781"/>
                </a:cubicBezTo>
                <a:lnTo>
                  <a:pt x="91976" y="154781"/>
                </a:lnTo>
                <a:close/>
                <a:moveTo>
                  <a:pt x="65484" y="116086"/>
                </a:moveTo>
                <a:cubicBezTo>
                  <a:pt x="76984" y="116086"/>
                  <a:pt x="86320" y="106750"/>
                  <a:pt x="86320" y="95250"/>
                </a:cubicBezTo>
                <a:cubicBezTo>
                  <a:pt x="86320" y="83750"/>
                  <a:pt x="76984" y="74414"/>
                  <a:pt x="65484" y="74414"/>
                </a:cubicBezTo>
                <a:cubicBezTo>
                  <a:pt x="53985" y="74414"/>
                  <a:pt x="44648" y="83750"/>
                  <a:pt x="44648" y="95250"/>
                </a:cubicBezTo>
                <a:cubicBezTo>
                  <a:pt x="44648" y="106750"/>
                  <a:pt x="53985" y="116086"/>
                  <a:pt x="65484" y="116086"/>
                </a:cubicBezTo>
                <a:close/>
                <a:moveTo>
                  <a:pt x="133945" y="77391"/>
                </a:moveTo>
                <a:cubicBezTo>
                  <a:pt x="128997" y="77391"/>
                  <a:pt x="125016" y="81372"/>
                  <a:pt x="125016" y="86320"/>
                </a:cubicBezTo>
                <a:cubicBezTo>
                  <a:pt x="125016" y="91269"/>
                  <a:pt x="128997" y="95250"/>
                  <a:pt x="133945" y="95250"/>
                </a:cubicBezTo>
                <a:lnTo>
                  <a:pt x="175617" y="95250"/>
                </a:lnTo>
                <a:cubicBezTo>
                  <a:pt x="180566" y="95250"/>
                  <a:pt x="184547" y="91269"/>
                  <a:pt x="184547" y="86320"/>
                </a:cubicBezTo>
                <a:cubicBezTo>
                  <a:pt x="184547" y="81372"/>
                  <a:pt x="180566" y="77391"/>
                  <a:pt x="175617" y="77391"/>
                </a:cubicBezTo>
                <a:lnTo>
                  <a:pt x="133945" y="77391"/>
                </a:lnTo>
                <a:close/>
                <a:moveTo>
                  <a:pt x="133945" y="113109"/>
                </a:moveTo>
                <a:cubicBezTo>
                  <a:pt x="128997" y="113109"/>
                  <a:pt x="125016" y="117091"/>
                  <a:pt x="125016" y="122039"/>
                </a:cubicBezTo>
                <a:cubicBezTo>
                  <a:pt x="125016" y="126988"/>
                  <a:pt x="128997" y="130969"/>
                  <a:pt x="133945" y="130969"/>
                </a:cubicBezTo>
                <a:lnTo>
                  <a:pt x="175617" y="130969"/>
                </a:lnTo>
                <a:cubicBezTo>
                  <a:pt x="180566" y="130969"/>
                  <a:pt x="184547" y="126988"/>
                  <a:pt x="184547" y="122039"/>
                </a:cubicBezTo>
                <a:cubicBezTo>
                  <a:pt x="184547" y="117091"/>
                  <a:pt x="180566" y="113109"/>
                  <a:pt x="175617" y="113109"/>
                </a:cubicBezTo>
                <a:lnTo>
                  <a:pt x="133945" y="11310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4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Registration &amp; Licensing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963" y="2209800"/>
            <a:ext cx="2028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Business, professional, and permit services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89845" y="1276350"/>
            <a:ext cx="2190750" cy="1428750"/>
          </a:xfrm>
          <a:custGeom>
            <a:avLst/>
            <a:gdLst/>
            <a:ahLst/>
            <a:cxnLst/>
            <a:rect l="l" t="t" r="r" b="b"/>
            <a:pathLst>
              <a:path w="2190750" h="1428750">
                <a:moveTo>
                  <a:pt x="38100" y="0"/>
                </a:moveTo>
                <a:lnTo>
                  <a:pt x="2152650" y="0"/>
                </a:lnTo>
                <a:cubicBezTo>
                  <a:pt x="2173692" y="0"/>
                  <a:pt x="2190750" y="17058"/>
                  <a:pt x="2190750" y="38100"/>
                </a:cubicBezTo>
                <a:lnTo>
                  <a:pt x="2190750" y="1352555"/>
                </a:lnTo>
                <a:cubicBezTo>
                  <a:pt x="2190750" y="1394636"/>
                  <a:pt x="2156636" y="1428750"/>
                  <a:pt x="211455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89845" y="12763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55848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14" name="Shape 12"/>
          <p:cNvSpPr/>
          <p:nvPr/>
        </p:nvSpPr>
        <p:spPr>
          <a:xfrm>
            <a:off x="3679924" y="1543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0836" y="83939"/>
                </a:moveTo>
                <a:lnTo>
                  <a:pt x="12055" y="110207"/>
                </a:lnTo>
                <a:lnTo>
                  <a:pt x="12055" y="35719"/>
                </a:lnTo>
                <a:cubicBezTo>
                  <a:pt x="12055" y="22585"/>
                  <a:pt x="22733" y="11906"/>
                  <a:pt x="35868" y="11906"/>
                </a:cubicBezTo>
                <a:lnTo>
                  <a:pt x="87474" y="11906"/>
                </a:lnTo>
                <a:cubicBezTo>
                  <a:pt x="92608" y="11906"/>
                  <a:pt x="97631" y="13581"/>
                  <a:pt x="101761" y="16669"/>
                </a:cubicBezTo>
                <a:lnTo>
                  <a:pt x="116049" y="27384"/>
                </a:lnTo>
                <a:cubicBezTo>
                  <a:pt x="118095" y="28947"/>
                  <a:pt x="120625" y="29766"/>
                  <a:pt x="123192" y="29766"/>
                </a:cubicBezTo>
                <a:lnTo>
                  <a:pt x="166836" y="29766"/>
                </a:lnTo>
                <a:cubicBezTo>
                  <a:pt x="179970" y="29766"/>
                  <a:pt x="190649" y="40444"/>
                  <a:pt x="190649" y="53578"/>
                </a:cubicBezTo>
                <a:lnTo>
                  <a:pt x="190649" y="59531"/>
                </a:lnTo>
                <a:lnTo>
                  <a:pt x="54694" y="59531"/>
                </a:lnTo>
                <a:cubicBezTo>
                  <a:pt x="39328" y="59531"/>
                  <a:pt x="25673" y="69354"/>
                  <a:pt x="20799" y="83939"/>
                </a:cubicBezTo>
                <a:close/>
                <a:moveTo>
                  <a:pt x="177775" y="166688"/>
                </a:moveTo>
                <a:lnTo>
                  <a:pt x="36835" y="166688"/>
                </a:lnTo>
                <a:cubicBezTo>
                  <a:pt x="24631" y="166688"/>
                  <a:pt x="16036" y="154744"/>
                  <a:pt x="19906" y="143173"/>
                </a:cubicBezTo>
                <a:lnTo>
                  <a:pt x="37765" y="89595"/>
                </a:lnTo>
                <a:cubicBezTo>
                  <a:pt x="40184" y="82302"/>
                  <a:pt x="47030" y="77391"/>
                  <a:pt x="54694" y="77391"/>
                </a:cubicBezTo>
                <a:lnTo>
                  <a:pt x="195635" y="77391"/>
                </a:lnTo>
                <a:cubicBezTo>
                  <a:pt x="207838" y="77391"/>
                  <a:pt x="216433" y="89334"/>
                  <a:pt x="212564" y="100905"/>
                </a:cubicBezTo>
                <a:lnTo>
                  <a:pt x="194704" y="154484"/>
                </a:lnTo>
                <a:cubicBezTo>
                  <a:pt x="192286" y="161776"/>
                  <a:pt x="185440" y="166688"/>
                  <a:pt x="177775" y="16668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2766045" y="194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 Management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70808" y="2209800"/>
            <a:ext cx="2028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Applications, appeals, and dispute resolution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98690" y="1276350"/>
            <a:ext cx="2190750" cy="1428750"/>
          </a:xfrm>
          <a:custGeom>
            <a:avLst/>
            <a:gdLst/>
            <a:ahLst/>
            <a:cxnLst/>
            <a:rect l="l" t="t" r="r" b="b"/>
            <a:pathLst>
              <a:path w="2190750" h="1428750">
                <a:moveTo>
                  <a:pt x="38100" y="0"/>
                </a:moveTo>
                <a:lnTo>
                  <a:pt x="2152650" y="0"/>
                </a:lnTo>
                <a:cubicBezTo>
                  <a:pt x="2173692" y="0"/>
                  <a:pt x="2190750" y="17058"/>
                  <a:pt x="2190750" y="38100"/>
                </a:cubicBezTo>
                <a:lnTo>
                  <a:pt x="2190750" y="1352555"/>
                </a:lnTo>
                <a:cubicBezTo>
                  <a:pt x="2190750" y="1394636"/>
                  <a:pt x="2156636" y="1428750"/>
                  <a:pt x="211455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98690" y="12763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9" name="Shape 17"/>
          <p:cNvSpPr/>
          <p:nvPr/>
        </p:nvSpPr>
        <p:spPr>
          <a:xfrm>
            <a:off x="5867326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Shape 18"/>
          <p:cNvSpPr/>
          <p:nvPr/>
        </p:nvSpPr>
        <p:spPr>
          <a:xfrm>
            <a:off x="6000676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10678" y="23812"/>
                  <a:pt x="0" y="34491"/>
                  <a:pt x="0" y="47625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47625"/>
                </a:lnTo>
                <a:cubicBezTo>
                  <a:pt x="190500" y="34491"/>
                  <a:pt x="179822" y="23812"/>
                  <a:pt x="166688" y="23812"/>
                </a:cubicBezTo>
                <a:lnTo>
                  <a:pt x="23812" y="23812"/>
                </a:lnTo>
                <a:close/>
                <a:moveTo>
                  <a:pt x="110133" y="107156"/>
                </a:moveTo>
                <a:lnTo>
                  <a:pt x="157758" y="107156"/>
                </a:lnTo>
                <a:cubicBezTo>
                  <a:pt x="162706" y="107156"/>
                  <a:pt x="166688" y="111137"/>
                  <a:pt x="166688" y="116086"/>
                </a:cubicBezTo>
                <a:cubicBezTo>
                  <a:pt x="166688" y="121034"/>
                  <a:pt x="162706" y="125016"/>
                  <a:pt x="157758" y="125016"/>
                </a:cubicBezTo>
                <a:lnTo>
                  <a:pt x="110133" y="125016"/>
                </a:lnTo>
                <a:cubicBezTo>
                  <a:pt x="105184" y="125016"/>
                  <a:pt x="101203" y="121034"/>
                  <a:pt x="101203" y="116086"/>
                </a:cubicBezTo>
                <a:cubicBezTo>
                  <a:pt x="101203" y="111137"/>
                  <a:pt x="105184" y="107156"/>
                  <a:pt x="110133" y="107156"/>
                </a:cubicBezTo>
                <a:close/>
                <a:moveTo>
                  <a:pt x="101203" y="74414"/>
                </a:moveTo>
                <a:cubicBezTo>
                  <a:pt x="101203" y="69466"/>
                  <a:pt x="105184" y="65484"/>
                  <a:pt x="110133" y="65484"/>
                </a:cubicBezTo>
                <a:lnTo>
                  <a:pt x="157758" y="65484"/>
                </a:lnTo>
                <a:cubicBezTo>
                  <a:pt x="162706" y="65484"/>
                  <a:pt x="166688" y="69466"/>
                  <a:pt x="166688" y="74414"/>
                </a:cubicBezTo>
                <a:cubicBezTo>
                  <a:pt x="166688" y="79363"/>
                  <a:pt x="162706" y="83344"/>
                  <a:pt x="157758" y="83344"/>
                </a:cubicBezTo>
                <a:lnTo>
                  <a:pt x="110133" y="83344"/>
                </a:lnTo>
                <a:cubicBezTo>
                  <a:pt x="105184" y="83344"/>
                  <a:pt x="101203" y="79363"/>
                  <a:pt x="101203" y="74414"/>
                </a:cubicBezTo>
                <a:close/>
                <a:moveTo>
                  <a:pt x="55066" y="53578"/>
                </a:moveTo>
                <a:cubicBezTo>
                  <a:pt x="59159" y="53578"/>
                  <a:pt x="62508" y="56927"/>
                  <a:pt x="62508" y="61020"/>
                </a:cubicBezTo>
                <a:lnTo>
                  <a:pt x="62508" y="62508"/>
                </a:lnTo>
                <a:lnTo>
                  <a:pt x="65484" y="62508"/>
                </a:lnTo>
                <a:cubicBezTo>
                  <a:pt x="69577" y="62508"/>
                  <a:pt x="72926" y="65856"/>
                  <a:pt x="72926" y="69949"/>
                </a:cubicBezTo>
                <a:cubicBezTo>
                  <a:pt x="72926" y="74042"/>
                  <a:pt x="69577" y="77391"/>
                  <a:pt x="65484" y="77391"/>
                </a:cubicBezTo>
                <a:lnTo>
                  <a:pt x="47811" y="77391"/>
                </a:lnTo>
                <a:cubicBezTo>
                  <a:pt x="45244" y="77391"/>
                  <a:pt x="43160" y="79474"/>
                  <a:pt x="43160" y="82042"/>
                </a:cubicBezTo>
                <a:cubicBezTo>
                  <a:pt x="43160" y="84311"/>
                  <a:pt x="44797" y="86246"/>
                  <a:pt x="47030" y="86618"/>
                </a:cubicBezTo>
                <a:lnTo>
                  <a:pt x="62545" y="89222"/>
                </a:lnTo>
                <a:cubicBezTo>
                  <a:pt x="71958" y="90785"/>
                  <a:pt x="78879" y="98933"/>
                  <a:pt x="78879" y="108496"/>
                </a:cubicBezTo>
                <a:cubicBezTo>
                  <a:pt x="78879" y="118207"/>
                  <a:pt x="71810" y="126243"/>
                  <a:pt x="62508" y="127769"/>
                </a:cubicBezTo>
                <a:lnTo>
                  <a:pt x="62508" y="129518"/>
                </a:lnTo>
                <a:cubicBezTo>
                  <a:pt x="62508" y="133610"/>
                  <a:pt x="59159" y="136959"/>
                  <a:pt x="55066" y="136959"/>
                </a:cubicBezTo>
                <a:cubicBezTo>
                  <a:pt x="50974" y="136959"/>
                  <a:pt x="47625" y="133610"/>
                  <a:pt x="47625" y="129518"/>
                </a:cubicBezTo>
                <a:lnTo>
                  <a:pt x="47625" y="128029"/>
                </a:lnTo>
                <a:lnTo>
                  <a:pt x="38695" y="128029"/>
                </a:lnTo>
                <a:cubicBezTo>
                  <a:pt x="34603" y="128029"/>
                  <a:pt x="31254" y="124681"/>
                  <a:pt x="31254" y="120588"/>
                </a:cubicBezTo>
                <a:cubicBezTo>
                  <a:pt x="31254" y="116495"/>
                  <a:pt x="34603" y="113147"/>
                  <a:pt x="38695" y="113147"/>
                </a:cubicBezTo>
                <a:lnTo>
                  <a:pt x="59345" y="113147"/>
                </a:lnTo>
                <a:cubicBezTo>
                  <a:pt x="61913" y="113147"/>
                  <a:pt x="63996" y="111063"/>
                  <a:pt x="63996" y="108496"/>
                </a:cubicBezTo>
                <a:cubicBezTo>
                  <a:pt x="63996" y="106226"/>
                  <a:pt x="62359" y="104291"/>
                  <a:pt x="60127" y="103919"/>
                </a:cubicBezTo>
                <a:lnTo>
                  <a:pt x="44611" y="101315"/>
                </a:lnTo>
                <a:cubicBezTo>
                  <a:pt x="35161" y="99715"/>
                  <a:pt x="28277" y="91567"/>
                  <a:pt x="28277" y="82042"/>
                </a:cubicBezTo>
                <a:cubicBezTo>
                  <a:pt x="28277" y="71326"/>
                  <a:pt x="36909" y="62619"/>
                  <a:pt x="47625" y="62508"/>
                </a:cubicBezTo>
                <a:lnTo>
                  <a:pt x="47625" y="61020"/>
                </a:lnTo>
                <a:cubicBezTo>
                  <a:pt x="47625" y="56927"/>
                  <a:pt x="50974" y="53578"/>
                  <a:pt x="55066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890" y="194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Payments &amp; Receipting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9653" y="2209800"/>
            <a:ext cx="2028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collection and financial transactions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07535" y="1276350"/>
            <a:ext cx="2190750" cy="1428750"/>
          </a:xfrm>
          <a:custGeom>
            <a:avLst/>
            <a:gdLst/>
            <a:ahLst/>
            <a:cxnLst/>
            <a:rect l="l" t="t" r="r" b="b"/>
            <a:pathLst>
              <a:path w="2190750" h="1428750">
                <a:moveTo>
                  <a:pt x="38100" y="0"/>
                </a:moveTo>
                <a:lnTo>
                  <a:pt x="2152650" y="0"/>
                </a:lnTo>
                <a:cubicBezTo>
                  <a:pt x="2173692" y="0"/>
                  <a:pt x="2190750" y="17058"/>
                  <a:pt x="2190750" y="38100"/>
                </a:cubicBezTo>
                <a:lnTo>
                  <a:pt x="2190750" y="1352555"/>
                </a:lnTo>
                <a:cubicBezTo>
                  <a:pt x="2190750" y="1394636"/>
                  <a:pt x="2156636" y="1428750"/>
                  <a:pt x="211455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07535" y="12763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25" name="Shape 23"/>
          <p:cNvSpPr/>
          <p:nvPr/>
        </p:nvSpPr>
        <p:spPr>
          <a:xfrm>
            <a:off x="8176171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26" name="Shape 24"/>
          <p:cNvSpPr/>
          <p:nvPr/>
        </p:nvSpPr>
        <p:spPr>
          <a:xfrm>
            <a:off x="8309521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3812"/>
                </a:moveTo>
                <a:cubicBezTo>
                  <a:pt x="0" y="17227"/>
                  <a:pt x="5321" y="11906"/>
                  <a:pt x="11906" y="11906"/>
                </a:cubicBezTo>
                <a:lnTo>
                  <a:pt x="178594" y="11906"/>
                </a:lnTo>
                <a:cubicBezTo>
                  <a:pt x="185179" y="11906"/>
                  <a:pt x="190500" y="17227"/>
                  <a:pt x="190500" y="23812"/>
                </a:cubicBezTo>
                <a:lnTo>
                  <a:pt x="190500" y="35719"/>
                </a:lnTo>
                <a:cubicBezTo>
                  <a:pt x="190500" y="42304"/>
                  <a:pt x="185179" y="47625"/>
                  <a:pt x="178594" y="47625"/>
                </a:cubicBezTo>
                <a:lnTo>
                  <a:pt x="11906" y="47625"/>
                </a:lnTo>
                <a:cubicBezTo>
                  <a:pt x="5321" y="47625"/>
                  <a:pt x="0" y="42304"/>
                  <a:pt x="0" y="35719"/>
                </a:cubicBezTo>
                <a:lnTo>
                  <a:pt x="0" y="23812"/>
                </a:lnTo>
                <a:close/>
                <a:moveTo>
                  <a:pt x="11906" y="65484"/>
                </a:moveTo>
                <a:lnTo>
                  <a:pt x="178594" y="65484"/>
                </a:lnTo>
                <a:lnTo>
                  <a:pt x="178594" y="154781"/>
                </a:lnTo>
                <a:cubicBezTo>
                  <a:pt x="178594" y="167915"/>
                  <a:pt x="167915" y="178594"/>
                  <a:pt x="154781" y="178594"/>
                </a:cubicBezTo>
                <a:lnTo>
                  <a:pt x="35719" y="178594"/>
                </a:lnTo>
                <a:cubicBezTo>
                  <a:pt x="22585" y="178594"/>
                  <a:pt x="11906" y="167915"/>
                  <a:pt x="11906" y="154781"/>
                </a:cubicBezTo>
                <a:lnTo>
                  <a:pt x="11906" y="65484"/>
                </a:lnTo>
                <a:close/>
                <a:moveTo>
                  <a:pt x="68461" y="89297"/>
                </a:moveTo>
                <a:cubicBezTo>
                  <a:pt x="63512" y="89297"/>
                  <a:pt x="59531" y="93278"/>
                  <a:pt x="59531" y="98227"/>
                </a:cubicBezTo>
                <a:cubicBezTo>
                  <a:pt x="59531" y="103175"/>
                  <a:pt x="63512" y="107156"/>
                  <a:pt x="68461" y="107156"/>
                </a:cubicBezTo>
                <a:lnTo>
                  <a:pt x="122039" y="107156"/>
                </a:lnTo>
                <a:cubicBezTo>
                  <a:pt x="126988" y="107156"/>
                  <a:pt x="130969" y="103175"/>
                  <a:pt x="130969" y="98227"/>
                </a:cubicBezTo>
                <a:cubicBezTo>
                  <a:pt x="130969" y="93278"/>
                  <a:pt x="126988" y="89297"/>
                  <a:pt x="122039" y="89297"/>
                </a:cubicBezTo>
                <a:lnTo>
                  <a:pt x="68461" y="8929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7383735" y="194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Records Modernisation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88498" y="2209800"/>
            <a:ext cx="2028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EDRMS deployment and digitisation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16380" y="1276350"/>
            <a:ext cx="2190750" cy="1428750"/>
          </a:xfrm>
          <a:custGeom>
            <a:avLst/>
            <a:gdLst/>
            <a:ahLst/>
            <a:cxnLst/>
            <a:rect l="l" t="t" r="r" b="b"/>
            <a:pathLst>
              <a:path w="2190750" h="1428750">
                <a:moveTo>
                  <a:pt x="38100" y="0"/>
                </a:moveTo>
                <a:lnTo>
                  <a:pt x="2152650" y="0"/>
                </a:lnTo>
                <a:cubicBezTo>
                  <a:pt x="2173692" y="0"/>
                  <a:pt x="2190750" y="17058"/>
                  <a:pt x="2190750" y="38100"/>
                </a:cubicBezTo>
                <a:lnTo>
                  <a:pt x="2190750" y="1352555"/>
                </a:lnTo>
                <a:cubicBezTo>
                  <a:pt x="2190750" y="1394636"/>
                  <a:pt x="2156636" y="1428750"/>
                  <a:pt x="2114555" y="1428750"/>
                </a:cubicBezTo>
                <a:lnTo>
                  <a:pt x="76195" y="1428750"/>
                </a:lnTo>
                <a:cubicBezTo>
                  <a:pt x="34114" y="1428750"/>
                  <a:pt x="0" y="1394636"/>
                  <a:pt x="0" y="135255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16380" y="1276350"/>
            <a:ext cx="2190750" cy="38100"/>
          </a:xfrm>
          <a:custGeom>
            <a:avLst/>
            <a:gdLst/>
            <a:ahLst/>
            <a:cxnLst/>
            <a:rect l="l" t="t" r="r" b="b"/>
            <a:pathLst>
              <a:path w="2190750" h="38100">
                <a:moveTo>
                  <a:pt x="38100" y="0"/>
                </a:moveTo>
                <a:lnTo>
                  <a:pt x="2152650" y="0"/>
                </a:lnTo>
                <a:cubicBezTo>
                  <a:pt x="2173678" y="0"/>
                  <a:pt x="2190750" y="17072"/>
                  <a:pt x="2190750" y="38100"/>
                </a:cubicBezTo>
                <a:lnTo>
                  <a:pt x="2190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85016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18366" y="1543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9692580" y="194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&amp; Verification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97343" y="2209800"/>
            <a:ext cx="20288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Identity and document authentication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00050" y="2819400"/>
            <a:ext cx="5638800" cy="2895600"/>
          </a:xfrm>
          <a:custGeom>
            <a:avLst/>
            <a:gdLst/>
            <a:ahLst/>
            <a:cxnLst/>
            <a:rect l="l" t="t" r="r" b="b"/>
            <a:pathLst>
              <a:path w="5638800" h="2895600">
                <a:moveTo>
                  <a:pt x="38100" y="0"/>
                </a:moveTo>
                <a:lnTo>
                  <a:pt x="5562588" y="0"/>
                </a:lnTo>
                <a:cubicBezTo>
                  <a:pt x="5604679" y="0"/>
                  <a:pt x="5638800" y="34121"/>
                  <a:pt x="5638800" y="76212"/>
                </a:cubicBezTo>
                <a:lnTo>
                  <a:pt x="5638800" y="2819388"/>
                </a:lnTo>
                <a:cubicBezTo>
                  <a:pt x="5638800" y="2861479"/>
                  <a:pt x="5604679" y="2895600"/>
                  <a:pt x="5562588" y="2895600"/>
                </a:cubicBez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00050" y="2819400"/>
            <a:ext cx="38100" cy="2895600"/>
          </a:xfrm>
          <a:custGeom>
            <a:avLst/>
            <a:gdLst/>
            <a:ahLst/>
            <a:cxnLst/>
            <a:rect l="l" t="t" r="r" b="b"/>
            <a:pathLst>
              <a:path w="38100" h="2895600">
                <a:moveTo>
                  <a:pt x="38100" y="0"/>
                </a:moveTo>
                <a:lnTo>
                  <a:pt x="38100" y="0"/>
                </a:lnTo>
                <a:lnTo>
                  <a:pt x="38100" y="2895600"/>
                </a:ln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37" name="Shape 35"/>
          <p:cNvSpPr/>
          <p:nvPr/>
        </p:nvSpPr>
        <p:spPr>
          <a:xfrm>
            <a:off x="606028" y="30194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8" name="Text 36"/>
          <p:cNvSpPr/>
          <p:nvPr/>
        </p:nvSpPr>
        <p:spPr>
          <a:xfrm>
            <a:off x="790575" y="29718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EDRMS Deployment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71500" y="3352800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695325" y="3505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0013"/>
                </a:moveTo>
                <a:cubicBezTo>
                  <a:pt x="0" y="123676"/>
                  <a:pt x="19199" y="142875"/>
                  <a:pt x="42863" y="142875"/>
                </a:cubicBezTo>
                <a:lnTo>
                  <a:pt x="133350" y="142875"/>
                </a:lnTo>
                <a:cubicBezTo>
                  <a:pt x="154394" y="142875"/>
                  <a:pt x="171450" y="125819"/>
                  <a:pt x="171450" y="104775"/>
                </a:cubicBezTo>
                <a:cubicBezTo>
                  <a:pt x="171450" y="89416"/>
                  <a:pt x="162371" y="76170"/>
                  <a:pt x="149275" y="70158"/>
                </a:cubicBezTo>
                <a:cubicBezTo>
                  <a:pt x="151269" y="66258"/>
                  <a:pt x="152400" y="61823"/>
                  <a:pt x="152400" y="57150"/>
                </a:cubicBezTo>
                <a:cubicBezTo>
                  <a:pt x="152400" y="41374"/>
                  <a:pt x="139601" y="28575"/>
                  <a:pt x="123825" y="28575"/>
                </a:cubicBezTo>
                <a:cubicBezTo>
                  <a:pt x="118556" y="28575"/>
                  <a:pt x="113645" y="30004"/>
                  <a:pt x="109418" y="32474"/>
                </a:cubicBezTo>
                <a:cubicBezTo>
                  <a:pt x="102245" y="18842"/>
                  <a:pt x="87928" y="9525"/>
                  <a:pt x="71438" y="9525"/>
                </a:cubicBezTo>
                <a:cubicBezTo>
                  <a:pt x="47774" y="9525"/>
                  <a:pt x="28575" y="28724"/>
                  <a:pt x="28575" y="52388"/>
                </a:cubicBezTo>
                <a:cubicBezTo>
                  <a:pt x="28575" y="54769"/>
                  <a:pt x="28783" y="57120"/>
                  <a:pt x="29141" y="59382"/>
                </a:cubicBezTo>
                <a:cubicBezTo>
                  <a:pt x="12204" y="65097"/>
                  <a:pt x="0" y="81141"/>
                  <a:pt x="0" y="10001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1" name="Text 39"/>
          <p:cNvSpPr/>
          <p:nvPr/>
        </p:nvSpPr>
        <p:spPr>
          <a:xfrm>
            <a:off x="876300" y="346710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Centralised Platform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5800" y="37338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enterprise EDRMS instance serving all MDAs with role-based access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1500" y="4114800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4" name="Shape 42"/>
          <p:cNvSpPr/>
          <p:nvPr/>
        </p:nvSpPr>
        <p:spPr>
          <a:xfrm>
            <a:off x="704850" y="4267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5" name="Text 43"/>
          <p:cNvSpPr/>
          <p:nvPr/>
        </p:nvSpPr>
        <p:spPr>
          <a:xfrm>
            <a:off x="876300" y="422910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Digitisation Pipeline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5800" y="44958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Standardised workflow: capture → QA → index → classify → store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1500" y="4876800"/>
            <a:ext cx="5314950" cy="685800"/>
          </a:xfrm>
          <a:custGeom>
            <a:avLst/>
            <a:gdLst/>
            <a:ahLst/>
            <a:cxnLst/>
            <a:rect l="l" t="t" r="r" b="b"/>
            <a:pathLst>
              <a:path w="5314950" h="685800">
                <a:moveTo>
                  <a:pt x="76199" y="0"/>
                </a:moveTo>
                <a:lnTo>
                  <a:pt x="5238751" y="0"/>
                </a:lnTo>
                <a:cubicBezTo>
                  <a:pt x="5280834" y="0"/>
                  <a:pt x="5314950" y="34116"/>
                  <a:pt x="5314950" y="76199"/>
                </a:cubicBezTo>
                <a:lnTo>
                  <a:pt x="5314950" y="609601"/>
                </a:lnTo>
                <a:cubicBezTo>
                  <a:pt x="5314950" y="651684"/>
                  <a:pt x="5280834" y="685800"/>
                  <a:pt x="52387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8" name="Shape 46"/>
          <p:cNvSpPr/>
          <p:nvPr/>
        </p:nvSpPr>
        <p:spPr>
          <a:xfrm>
            <a:off x="695325" y="5029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9" name="Text 47"/>
          <p:cNvSpPr/>
          <p:nvPr/>
        </p:nvSpPr>
        <p:spPr>
          <a:xfrm>
            <a:off x="876300" y="4991100"/>
            <a:ext cx="497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 Standards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5800" y="52578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classification scheme across government for discoverability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2200" y="2819400"/>
            <a:ext cx="5638800" cy="2895600"/>
          </a:xfrm>
          <a:custGeom>
            <a:avLst/>
            <a:gdLst/>
            <a:ahLst/>
            <a:cxnLst/>
            <a:rect l="l" t="t" r="r" b="b"/>
            <a:pathLst>
              <a:path w="5638800" h="2895600">
                <a:moveTo>
                  <a:pt x="38100" y="0"/>
                </a:moveTo>
                <a:lnTo>
                  <a:pt x="5562588" y="0"/>
                </a:lnTo>
                <a:cubicBezTo>
                  <a:pt x="5604679" y="0"/>
                  <a:pt x="5638800" y="34121"/>
                  <a:pt x="5638800" y="76212"/>
                </a:cubicBezTo>
                <a:lnTo>
                  <a:pt x="5638800" y="2819388"/>
                </a:lnTo>
                <a:cubicBezTo>
                  <a:pt x="5638800" y="2861479"/>
                  <a:pt x="5604679" y="2895600"/>
                  <a:pt x="5562588" y="2895600"/>
                </a:cubicBez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2819400"/>
            <a:ext cx="38100" cy="2895600"/>
          </a:xfrm>
          <a:custGeom>
            <a:avLst/>
            <a:gdLst/>
            <a:ahLst/>
            <a:cxnLst/>
            <a:rect l="l" t="t" r="r" b="b"/>
            <a:pathLst>
              <a:path w="38100" h="2895600">
                <a:moveTo>
                  <a:pt x="38100" y="0"/>
                </a:moveTo>
                <a:lnTo>
                  <a:pt x="38100" y="0"/>
                </a:lnTo>
                <a:lnTo>
                  <a:pt x="38100" y="2895600"/>
                </a:lnTo>
                <a:lnTo>
                  <a:pt x="38100" y="2895600"/>
                </a:lnTo>
                <a:cubicBezTo>
                  <a:pt x="17072" y="2895600"/>
                  <a:pt x="0" y="2878528"/>
                  <a:pt x="0" y="2857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3" name="Shape 51"/>
          <p:cNvSpPr/>
          <p:nvPr/>
        </p:nvSpPr>
        <p:spPr>
          <a:xfrm>
            <a:off x="6367463" y="30194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22962" y="138131"/>
                </a:moveTo>
                <a:cubicBezTo>
                  <a:pt x="112481" y="145632"/>
                  <a:pt x="99622" y="150019"/>
                  <a:pt x="85725" y="150019"/>
                </a:cubicBezTo>
                <a:cubicBezTo>
                  <a:pt x="71828" y="150019"/>
                  <a:pt x="58969" y="145632"/>
                  <a:pt x="48488" y="138131"/>
                </a:cubicBezTo>
                <a:lnTo>
                  <a:pt x="67910" y="118709"/>
                </a:lnTo>
                <a:cubicBezTo>
                  <a:pt x="73201" y="121589"/>
                  <a:pt x="79296" y="123230"/>
                  <a:pt x="85758" y="123230"/>
                </a:cubicBezTo>
                <a:cubicBezTo>
                  <a:pt x="92221" y="123230"/>
                  <a:pt x="98282" y="121589"/>
                  <a:pt x="103607" y="118709"/>
                </a:cubicBezTo>
                <a:lnTo>
                  <a:pt x="123029" y="138131"/>
                </a:lnTo>
                <a:close/>
                <a:moveTo>
                  <a:pt x="153334" y="138399"/>
                </a:moveTo>
                <a:cubicBezTo>
                  <a:pt x="164652" y="123866"/>
                  <a:pt x="171417" y="105582"/>
                  <a:pt x="171417" y="85725"/>
                </a:cubicBezTo>
                <a:cubicBezTo>
                  <a:pt x="171417" y="65868"/>
                  <a:pt x="164686" y="47584"/>
                  <a:pt x="153367" y="33051"/>
                </a:cubicBezTo>
                <a:cubicBezTo>
                  <a:pt x="156381" y="28865"/>
                  <a:pt x="156013" y="22972"/>
                  <a:pt x="152229" y="19221"/>
                </a:cubicBezTo>
                <a:cubicBezTo>
                  <a:pt x="148445" y="15471"/>
                  <a:pt x="142585" y="15069"/>
                  <a:pt x="138399" y="18083"/>
                </a:cubicBezTo>
                <a:cubicBezTo>
                  <a:pt x="123866" y="6764"/>
                  <a:pt x="105582" y="0"/>
                  <a:pt x="85725" y="0"/>
                </a:cubicBezTo>
                <a:cubicBezTo>
                  <a:pt x="65868" y="0"/>
                  <a:pt x="47584" y="6764"/>
                  <a:pt x="33051" y="18083"/>
                </a:cubicBezTo>
                <a:cubicBezTo>
                  <a:pt x="28865" y="15069"/>
                  <a:pt x="22972" y="15437"/>
                  <a:pt x="19221" y="19221"/>
                </a:cubicBezTo>
                <a:cubicBezTo>
                  <a:pt x="15471" y="23005"/>
                  <a:pt x="15069" y="28865"/>
                  <a:pt x="18083" y="33051"/>
                </a:cubicBezTo>
                <a:cubicBezTo>
                  <a:pt x="6764" y="47584"/>
                  <a:pt x="0" y="65868"/>
                  <a:pt x="0" y="85725"/>
                </a:cubicBezTo>
                <a:cubicBezTo>
                  <a:pt x="0" y="105582"/>
                  <a:pt x="6764" y="123866"/>
                  <a:pt x="18083" y="138399"/>
                </a:cubicBezTo>
                <a:cubicBezTo>
                  <a:pt x="15069" y="142585"/>
                  <a:pt x="15437" y="148478"/>
                  <a:pt x="19221" y="152229"/>
                </a:cubicBezTo>
                <a:cubicBezTo>
                  <a:pt x="23005" y="155979"/>
                  <a:pt x="28865" y="156381"/>
                  <a:pt x="33051" y="153367"/>
                </a:cubicBezTo>
                <a:cubicBezTo>
                  <a:pt x="47584" y="164686"/>
                  <a:pt x="65868" y="171450"/>
                  <a:pt x="85725" y="171450"/>
                </a:cubicBezTo>
                <a:cubicBezTo>
                  <a:pt x="105582" y="171450"/>
                  <a:pt x="123866" y="164686"/>
                  <a:pt x="138399" y="153367"/>
                </a:cubicBezTo>
                <a:cubicBezTo>
                  <a:pt x="142585" y="156381"/>
                  <a:pt x="148478" y="156013"/>
                  <a:pt x="152229" y="152229"/>
                </a:cubicBezTo>
                <a:cubicBezTo>
                  <a:pt x="155979" y="148445"/>
                  <a:pt x="156381" y="142585"/>
                  <a:pt x="153367" y="138399"/>
                </a:cubicBezTo>
                <a:close/>
                <a:moveTo>
                  <a:pt x="138098" y="122962"/>
                </a:moveTo>
                <a:lnTo>
                  <a:pt x="118676" y="103540"/>
                </a:lnTo>
                <a:cubicBezTo>
                  <a:pt x="121555" y="98249"/>
                  <a:pt x="123196" y="92154"/>
                  <a:pt x="123196" y="85692"/>
                </a:cubicBezTo>
                <a:cubicBezTo>
                  <a:pt x="123196" y="79229"/>
                  <a:pt x="121555" y="73168"/>
                  <a:pt x="118676" y="67843"/>
                </a:cubicBezTo>
                <a:lnTo>
                  <a:pt x="138098" y="48421"/>
                </a:lnTo>
                <a:cubicBezTo>
                  <a:pt x="145632" y="58969"/>
                  <a:pt x="150019" y="71828"/>
                  <a:pt x="150019" y="85725"/>
                </a:cubicBezTo>
                <a:cubicBezTo>
                  <a:pt x="150019" y="99622"/>
                  <a:pt x="145632" y="112481"/>
                  <a:pt x="138131" y="122962"/>
                </a:cubicBezTo>
                <a:close/>
                <a:moveTo>
                  <a:pt x="122962" y="33319"/>
                </a:moveTo>
                <a:lnTo>
                  <a:pt x="103540" y="52741"/>
                </a:lnTo>
                <a:cubicBezTo>
                  <a:pt x="98249" y="49861"/>
                  <a:pt x="92154" y="48220"/>
                  <a:pt x="85692" y="48220"/>
                </a:cubicBezTo>
                <a:cubicBezTo>
                  <a:pt x="79229" y="48220"/>
                  <a:pt x="73168" y="49861"/>
                  <a:pt x="67843" y="52741"/>
                </a:cubicBezTo>
                <a:lnTo>
                  <a:pt x="48421" y="33319"/>
                </a:lnTo>
                <a:cubicBezTo>
                  <a:pt x="58969" y="25818"/>
                  <a:pt x="71828" y="21431"/>
                  <a:pt x="85725" y="21431"/>
                </a:cubicBezTo>
                <a:cubicBezTo>
                  <a:pt x="99622" y="21431"/>
                  <a:pt x="112481" y="25818"/>
                  <a:pt x="122962" y="33319"/>
                </a:cubicBezTo>
                <a:close/>
                <a:moveTo>
                  <a:pt x="52741" y="103573"/>
                </a:moveTo>
                <a:lnTo>
                  <a:pt x="33319" y="122995"/>
                </a:lnTo>
                <a:cubicBezTo>
                  <a:pt x="25818" y="112481"/>
                  <a:pt x="21431" y="99622"/>
                  <a:pt x="21431" y="85725"/>
                </a:cubicBezTo>
                <a:cubicBezTo>
                  <a:pt x="21431" y="71828"/>
                  <a:pt x="25818" y="58969"/>
                  <a:pt x="33319" y="48488"/>
                </a:cubicBezTo>
                <a:lnTo>
                  <a:pt x="52741" y="67910"/>
                </a:lnTo>
                <a:cubicBezTo>
                  <a:pt x="49861" y="73201"/>
                  <a:pt x="48220" y="79296"/>
                  <a:pt x="48220" y="85758"/>
                </a:cubicBezTo>
                <a:cubicBezTo>
                  <a:pt x="48220" y="92221"/>
                  <a:pt x="49861" y="98282"/>
                  <a:pt x="52741" y="103607"/>
                </a:cubicBezTo>
                <a:close/>
                <a:moveTo>
                  <a:pt x="69652" y="85725"/>
                </a:moveTo>
                <a:cubicBezTo>
                  <a:pt x="69652" y="76854"/>
                  <a:pt x="76854" y="69652"/>
                  <a:pt x="85725" y="69652"/>
                </a:cubicBezTo>
                <a:cubicBezTo>
                  <a:pt x="94596" y="69652"/>
                  <a:pt x="101798" y="76854"/>
                  <a:pt x="101798" y="85725"/>
                </a:cubicBezTo>
                <a:cubicBezTo>
                  <a:pt x="101798" y="94596"/>
                  <a:pt x="94596" y="101798"/>
                  <a:pt x="85725" y="101798"/>
                </a:cubicBezTo>
                <a:cubicBezTo>
                  <a:pt x="76854" y="101798"/>
                  <a:pt x="69652" y="94596"/>
                  <a:pt x="69652" y="8572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4" name="Text 52"/>
          <p:cNvSpPr/>
          <p:nvPr/>
        </p:nvSpPr>
        <p:spPr>
          <a:xfrm>
            <a:off x="6562725" y="297180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Lifecycle Records Governance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43650" y="3371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56" name="Text 54"/>
          <p:cNvSpPr/>
          <p:nvPr/>
        </p:nvSpPr>
        <p:spPr>
          <a:xfrm>
            <a:off x="6474842" y="342900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762750" y="3352800"/>
            <a:ext cx="2838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Creation &amp; Capture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62750" y="3581400"/>
            <a:ext cx="2828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records creation from digital services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3650" y="3867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60" name="Text 58"/>
          <p:cNvSpPr/>
          <p:nvPr/>
        </p:nvSpPr>
        <p:spPr>
          <a:xfrm>
            <a:off x="6462043" y="39243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762750" y="384810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Classification &amp; Control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62750" y="407670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Standardised metadata and access controls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43650" y="43624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4" name="Text 62"/>
          <p:cNvSpPr/>
          <p:nvPr/>
        </p:nvSpPr>
        <p:spPr>
          <a:xfrm>
            <a:off x="6460331" y="44196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62750" y="4343400"/>
            <a:ext cx="2714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Retention &amp; Disposal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762750" y="4572000"/>
            <a:ext cx="2705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retention schedules and legal hold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43650" y="4857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68" name="Text 66"/>
          <p:cNvSpPr/>
          <p:nvPr/>
        </p:nvSpPr>
        <p:spPr>
          <a:xfrm>
            <a:off x="6462117" y="49149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762750" y="4838700"/>
            <a:ext cx="273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Archival &amp; Preservation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62750" y="5067300"/>
            <a:ext cx="2724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preservation of permanent records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81000" y="582930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609601"/>
                </a:lnTo>
                <a:cubicBezTo>
                  <a:pt x="11430000" y="651684"/>
                  <a:pt x="11395884" y="685800"/>
                  <a:pt x="11353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52"/>
              </a:gs>
              <a:gs pos="100000">
                <a:srgbClr val="4A6B82"/>
              </a:gs>
            </a:gsLst>
            <a:lin ang="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23875" y="6057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3" name="Text 71"/>
          <p:cNvSpPr/>
          <p:nvPr/>
        </p:nvSpPr>
        <p:spPr>
          <a:xfrm>
            <a:off x="895350" y="5943600"/>
            <a:ext cx="289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Digitisation Target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95350" y="6210300"/>
            <a:ext cx="2876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of active records digitised within 24 months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9130978" y="5943600"/>
            <a:ext cx="866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159553" y="6248400"/>
            <a:ext cx="809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MDA Coverage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0108853" y="5943600"/>
            <a:ext cx="857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5M+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0137428" y="6248400"/>
            <a:ext cx="800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Records Target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1082412" y="5943600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24mo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110987" y="624840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Timeline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Service-Orchestrated Government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automation enabling seamless, efficient public service delivery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5657850" cy="3867150"/>
          </a:xfrm>
          <a:custGeom>
            <a:avLst/>
            <a:gdLst/>
            <a:ahLst/>
            <a:cxnLst/>
            <a:rect l="l" t="t" r="r" b="b"/>
            <a:pathLst>
              <a:path w="5657850" h="386715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790967"/>
                </a:lnTo>
                <a:cubicBezTo>
                  <a:pt x="5657850" y="3833042"/>
                  <a:pt x="5623742" y="3867150"/>
                  <a:pt x="5581667" y="3867150"/>
                </a:cubicBezTo>
                <a:lnTo>
                  <a:pt x="76183" y="3867150"/>
                </a:lnTo>
                <a:cubicBezTo>
                  <a:pt x="34136" y="3867150"/>
                  <a:pt x="0" y="3833014"/>
                  <a:pt x="0" y="379096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276350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7" name="Shape 5"/>
          <p:cNvSpPr/>
          <p:nvPr/>
        </p:nvSpPr>
        <p:spPr>
          <a:xfrm>
            <a:off x="535781" y="14954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17872" y="0"/>
                </a:moveTo>
                <a:cubicBezTo>
                  <a:pt x="117872" y="-5927"/>
                  <a:pt x="113083" y="-10716"/>
                  <a:pt x="107156" y="-10716"/>
                </a:cubicBezTo>
                <a:cubicBezTo>
                  <a:pt x="101229" y="-10716"/>
                  <a:pt x="96441" y="-5927"/>
                  <a:pt x="96441" y="0"/>
                </a:cubicBezTo>
                <a:lnTo>
                  <a:pt x="96441" y="21431"/>
                </a:lnTo>
                <a:lnTo>
                  <a:pt x="64294" y="21431"/>
                </a:lnTo>
                <a:cubicBezTo>
                  <a:pt x="46546" y="21431"/>
                  <a:pt x="32147" y="35830"/>
                  <a:pt x="32147" y="53578"/>
                </a:cubicBezTo>
                <a:lnTo>
                  <a:pt x="32147" y="128588"/>
                </a:lnTo>
                <a:cubicBezTo>
                  <a:pt x="32147" y="146335"/>
                  <a:pt x="46546" y="160734"/>
                  <a:pt x="64294" y="160734"/>
                </a:cubicBezTo>
                <a:lnTo>
                  <a:pt x="150019" y="160734"/>
                </a:lnTo>
                <a:cubicBezTo>
                  <a:pt x="167767" y="160734"/>
                  <a:pt x="182166" y="146335"/>
                  <a:pt x="182166" y="128588"/>
                </a:cubicBezTo>
                <a:lnTo>
                  <a:pt x="182166" y="53578"/>
                </a:lnTo>
                <a:cubicBezTo>
                  <a:pt x="182166" y="35830"/>
                  <a:pt x="167767" y="21431"/>
                  <a:pt x="150019" y="21431"/>
                </a:cubicBezTo>
                <a:lnTo>
                  <a:pt x="117872" y="21431"/>
                </a:lnTo>
                <a:lnTo>
                  <a:pt x="117872" y="0"/>
                </a:lnTo>
                <a:close/>
                <a:moveTo>
                  <a:pt x="53578" y="123230"/>
                </a:moveTo>
                <a:cubicBezTo>
                  <a:pt x="53578" y="118776"/>
                  <a:pt x="57161" y="115193"/>
                  <a:pt x="61615" y="115193"/>
                </a:cubicBezTo>
                <a:lnTo>
                  <a:pt x="72330" y="115193"/>
                </a:lnTo>
                <a:cubicBezTo>
                  <a:pt x="76784" y="115193"/>
                  <a:pt x="80367" y="118776"/>
                  <a:pt x="80367" y="123230"/>
                </a:cubicBezTo>
                <a:cubicBezTo>
                  <a:pt x="80367" y="127683"/>
                  <a:pt x="76784" y="131266"/>
                  <a:pt x="72330" y="131266"/>
                </a:cubicBezTo>
                <a:lnTo>
                  <a:pt x="61615" y="131266"/>
                </a:lnTo>
                <a:cubicBezTo>
                  <a:pt x="57161" y="131266"/>
                  <a:pt x="53578" y="127683"/>
                  <a:pt x="53578" y="123230"/>
                </a:cubicBezTo>
                <a:close/>
                <a:moveTo>
                  <a:pt x="93762" y="123230"/>
                </a:moveTo>
                <a:cubicBezTo>
                  <a:pt x="93762" y="118776"/>
                  <a:pt x="97345" y="115193"/>
                  <a:pt x="101798" y="115193"/>
                </a:cubicBezTo>
                <a:lnTo>
                  <a:pt x="112514" y="115193"/>
                </a:lnTo>
                <a:cubicBezTo>
                  <a:pt x="116968" y="115193"/>
                  <a:pt x="120551" y="118776"/>
                  <a:pt x="120551" y="123230"/>
                </a:cubicBezTo>
                <a:cubicBezTo>
                  <a:pt x="120551" y="127683"/>
                  <a:pt x="116968" y="131266"/>
                  <a:pt x="112514" y="131266"/>
                </a:cubicBezTo>
                <a:lnTo>
                  <a:pt x="101798" y="131266"/>
                </a:lnTo>
                <a:cubicBezTo>
                  <a:pt x="97345" y="131266"/>
                  <a:pt x="93762" y="127683"/>
                  <a:pt x="93762" y="123230"/>
                </a:cubicBezTo>
                <a:close/>
                <a:moveTo>
                  <a:pt x="133945" y="123230"/>
                </a:moveTo>
                <a:cubicBezTo>
                  <a:pt x="133945" y="118776"/>
                  <a:pt x="137528" y="115193"/>
                  <a:pt x="141982" y="115193"/>
                </a:cubicBezTo>
                <a:lnTo>
                  <a:pt x="152698" y="115193"/>
                </a:lnTo>
                <a:cubicBezTo>
                  <a:pt x="157151" y="115193"/>
                  <a:pt x="160734" y="118776"/>
                  <a:pt x="160734" y="123230"/>
                </a:cubicBezTo>
                <a:cubicBezTo>
                  <a:pt x="160734" y="127683"/>
                  <a:pt x="157151" y="131266"/>
                  <a:pt x="152698" y="131266"/>
                </a:cubicBezTo>
                <a:lnTo>
                  <a:pt x="141982" y="131266"/>
                </a:lnTo>
                <a:cubicBezTo>
                  <a:pt x="137528" y="131266"/>
                  <a:pt x="133945" y="127683"/>
                  <a:pt x="133945" y="123230"/>
                </a:cubicBezTo>
                <a:close/>
                <a:moveTo>
                  <a:pt x="75009" y="58936"/>
                </a:moveTo>
                <a:cubicBezTo>
                  <a:pt x="83881" y="58936"/>
                  <a:pt x="91083" y="66138"/>
                  <a:pt x="91083" y="75009"/>
                </a:cubicBezTo>
                <a:cubicBezTo>
                  <a:pt x="91083" y="83881"/>
                  <a:pt x="83881" y="91083"/>
                  <a:pt x="75009" y="91083"/>
                </a:cubicBezTo>
                <a:cubicBezTo>
                  <a:pt x="66138" y="91083"/>
                  <a:pt x="58936" y="83881"/>
                  <a:pt x="58936" y="75009"/>
                </a:cubicBezTo>
                <a:cubicBezTo>
                  <a:pt x="58936" y="66138"/>
                  <a:pt x="66138" y="58936"/>
                  <a:pt x="75009" y="58936"/>
                </a:cubicBezTo>
                <a:close/>
                <a:moveTo>
                  <a:pt x="123230" y="75009"/>
                </a:moveTo>
                <a:cubicBezTo>
                  <a:pt x="123230" y="66138"/>
                  <a:pt x="130432" y="58936"/>
                  <a:pt x="139303" y="58936"/>
                </a:cubicBezTo>
                <a:cubicBezTo>
                  <a:pt x="148174" y="58936"/>
                  <a:pt x="155377" y="66138"/>
                  <a:pt x="155377" y="75009"/>
                </a:cubicBezTo>
                <a:cubicBezTo>
                  <a:pt x="155377" y="83881"/>
                  <a:pt x="148174" y="91083"/>
                  <a:pt x="139303" y="91083"/>
                </a:cubicBezTo>
                <a:cubicBezTo>
                  <a:pt x="130432" y="91083"/>
                  <a:pt x="123230" y="83881"/>
                  <a:pt x="123230" y="75009"/>
                </a:cubicBezTo>
                <a:close/>
                <a:moveTo>
                  <a:pt x="21431" y="75009"/>
                </a:moveTo>
                <a:cubicBezTo>
                  <a:pt x="21431" y="69082"/>
                  <a:pt x="16643" y="64294"/>
                  <a:pt x="10716" y="64294"/>
                </a:cubicBezTo>
                <a:cubicBezTo>
                  <a:pt x="4789" y="64294"/>
                  <a:pt x="0" y="69082"/>
                  <a:pt x="0" y="75009"/>
                </a:cubicBezTo>
                <a:lnTo>
                  <a:pt x="0" y="107156"/>
                </a:lnTo>
                <a:cubicBezTo>
                  <a:pt x="0" y="113083"/>
                  <a:pt x="4789" y="117872"/>
                  <a:pt x="10716" y="117872"/>
                </a:cubicBezTo>
                <a:cubicBezTo>
                  <a:pt x="16643" y="117872"/>
                  <a:pt x="21431" y="113083"/>
                  <a:pt x="21431" y="107156"/>
                </a:cubicBezTo>
                <a:lnTo>
                  <a:pt x="21431" y="75009"/>
                </a:lnTo>
                <a:close/>
                <a:moveTo>
                  <a:pt x="203597" y="64294"/>
                </a:moveTo>
                <a:cubicBezTo>
                  <a:pt x="197670" y="64294"/>
                  <a:pt x="192881" y="69082"/>
                  <a:pt x="192881" y="75009"/>
                </a:cubicBezTo>
                <a:lnTo>
                  <a:pt x="192881" y="107156"/>
                </a:lnTo>
                <a:cubicBezTo>
                  <a:pt x="192881" y="113083"/>
                  <a:pt x="197670" y="117872"/>
                  <a:pt x="203597" y="117872"/>
                </a:cubicBezTo>
                <a:cubicBezTo>
                  <a:pt x="209524" y="117872"/>
                  <a:pt x="214313" y="113083"/>
                  <a:pt x="214313" y="107156"/>
                </a:cubicBezTo>
                <a:lnTo>
                  <a:pt x="214313" y="75009"/>
                </a:lnTo>
                <a:cubicBezTo>
                  <a:pt x="214313" y="69082"/>
                  <a:pt x="209524" y="64294"/>
                  <a:pt x="203597" y="64294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52475" y="14478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Vision &amp; Principles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450" y="1828800"/>
            <a:ext cx="5334000" cy="876300"/>
          </a:xfrm>
          <a:custGeom>
            <a:avLst/>
            <a:gdLst/>
            <a:ahLst/>
            <a:cxnLst/>
            <a:rect l="l" t="t" r="r" b="b"/>
            <a:pathLst>
              <a:path w="5334000" h="876300">
                <a:moveTo>
                  <a:pt x="38100" y="0"/>
                </a:moveTo>
                <a:lnTo>
                  <a:pt x="5257797" y="0"/>
                </a:lnTo>
                <a:cubicBezTo>
                  <a:pt x="5299883" y="0"/>
                  <a:pt x="5334000" y="34117"/>
                  <a:pt x="5334000" y="76203"/>
                </a:cubicBezTo>
                <a:lnTo>
                  <a:pt x="5334000" y="800097"/>
                </a:lnTo>
                <a:cubicBezTo>
                  <a:pt x="5334000" y="842183"/>
                  <a:pt x="5299883" y="876300"/>
                  <a:pt x="52577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552450" y="18288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943100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Service-Orchestrated Government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209800"/>
            <a:ext cx="5153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engines orchestrate end-to-end services across multiple agencies without manual handoffs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52450" y="2781300"/>
            <a:ext cx="5334000" cy="685800"/>
          </a:xfrm>
          <a:custGeom>
            <a:avLst/>
            <a:gdLst/>
            <a:ahLst/>
            <a:cxnLst/>
            <a:rect l="l" t="t" r="r" b="b"/>
            <a:pathLst>
              <a:path w="5334000" h="685800">
                <a:moveTo>
                  <a:pt x="38100" y="0"/>
                </a:moveTo>
                <a:lnTo>
                  <a:pt x="5257801" y="0"/>
                </a:lnTo>
                <a:cubicBezTo>
                  <a:pt x="5299884" y="0"/>
                  <a:pt x="5334000" y="34116"/>
                  <a:pt x="5334000" y="76199"/>
                </a:cubicBezTo>
                <a:lnTo>
                  <a:pt x="5334000" y="609601"/>
                </a:lnTo>
                <a:cubicBezTo>
                  <a:pt x="5334000" y="651684"/>
                  <a:pt x="5299884" y="685800"/>
                  <a:pt x="52578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552450" y="27813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895600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Rules-Based Decisioning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31623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decisions based on predefined rules, with escalation paths for exceptions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2450" y="3543300"/>
            <a:ext cx="5334000" cy="685800"/>
          </a:xfrm>
          <a:custGeom>
            <a:avLst/>
            <a:gdLst/>
            <a:ahLst/>
            <a:cxnLst/>
            <a:rect l="l" t="t" r="r" b="b"/>
            <a:pathLst>
              <a:path w="5334000" h="685800">
                <a:moveTo>
                  <a:pt x="38100" y="0"/>
                </a:moveTo>
                <a:lnTo>
                  <a:pt x="5257801" y="0"/>
                </a:lnTo>
                <a:cubicBezTo>
                  <a:pt x="5299884" y="0"/>
                  <a:pt x="5334000" y="34116"/>
                  <a:pt x="5334000" y="76199"/>
                </a:cubicBezTo>
                <a:lnTo>
                  <a:pt x="5334000" y="609601"/>
                </a:lnTo>
                <a:cubicBezTo>
                  <a:pt x="5334000" y="651684"/>
                  <a:pt x="5299884" y="685800"/>
                  <a:pt x="52578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52450" y="35433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57600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Human-in-the-Loop Governance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9243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human oversight for complex decisions, with full audit trails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2450" y="4305300"/>
            <a:ext cx="5334000" cy="685800"/>
          </a:xfrm>
          <a:custGeom>
            <a:avLst/>
            <a:gdLst/>
            <a:ahLst/>
            <a:cxnLst/>
            <a:rect l="l" t="t" r="r" b="b"/>
            <a:pathLst>
              <a:path w="5334000" h="685800">
                <a:moveTo>
                  <a:pt x="38100" y="0"/>
                </a:moveTo>
                <a:lnTo>
                  <a:pt x="5257801" y="0"/>
                </a:lnTo>
                <a:cubicBezTo>
                  <a:pt x="5299884" y="0"/>
                  <a:pt x="5334000" y="34116"/>
                  <a:pt x="5334000" y="76199"/>
                </a:cubicBezTo>
                <a:lnTo>
                  <a:pt x="5334000" y="609601"/>
                </a:lnTo>
                <a:cubicBezTo>
                  <a:pt x="5334000" y="651684"/>
                  <a:pt x="5299884" y="685800"/>
                  <a:pt x="52578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52450" y="43053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419600"/>
            <a:ext cx="516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Risk-Aware Automation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4686300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Automation depth calibrated to risk profile—higher risk requires more human oversight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53150" y="1276350"/>
            <a:ext cx="5657850" cy="2914650"/>
          </a:xfrm>
          <a:custGeom>
            <a:avLst/>
            <a:gdLst/>
            <a:ahLst/>
            <a:cxnLst/>
            <a:rect l="l" t="t" r="r" b="b"/>
            <a:pathLst>
              <a:path w="5657850" h="2914650">
                <a:moveTo>
                  <a:pt x="38100" y="0"/>
                </a:moveTo>
                <a:lnTo>
                  <a:pt x="5619750" y="0"/>
                </a:lnTo>
                <a:cubicBezTo>
                  <a:pt x="5640792" y="0"/>
                  <a:pt x="5657850" y="17058"/>
                  <a:pt x="5657850" y="38100"/>
                </a:cubicBezTo>
                <a:lnTo>
                  <a:pt x="5657850" y="2838461"/>
                </a:lnTo>
                <a:cubicBezTo>
                  <a:pt x="5657850" y="2880539"/>
                  <a:pt x="5623739" y="2914650"/>
                  <a:pt x="5581661" y="2914650"/>
                </a:cubicBezTo>
                <a:lnTo>
                  <a:pt x="76189" y="2914650"/>
                </a:lnTo>
                <a:cubicBezTo>
                  <a:pt x="34111" y="2914650"/>
                  <a:pt x="0" y="2880539"/>
                  <a:pt x="0" y="283846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3150" y="1276350"/>
            <a:ext cx="5657850" cy="38100"/>
          </a:xfrm>
          <a:custGeom>
            <a:avLst/>
            <a:gdLst/>
            <a:ahLst/>
            <a:cxnLst/>
            <a:rect l="l" t="t" r="r" b="b"/>
            <a:pathLst>
              <a:path w="5657850" h="38100">
                <a:moveTo>
                  <a:pt x="38100" y="0"/>
                </a:moveTo>
                <a:lnTo>
                  <a:pt x="5619750" y="0"/>
                </a:lnTo>
                <a:cubicBezTo>
                  <a:pt x="5640778" y="0"/>
                  <a:pt x="5657850" y="17072"/>
                  <a:pt x="5657850" y="38100"/>
                </a:cubicBezTo>
                <a:lnTo>
                  <a:pt x="56578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7931" y="14954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524625" y="1447800"/>
            <a:ext cx="521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Automation Components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05550" y="1828800"/>
            <a:ext cx="5353050" cy="685800"/>
          </a:xfrm>
          <a:custGeom>
            <a:avLst/>
            <a:gdLst/>
            <a:ahLst/>
            <a:cxnLst/>
            <a:rect l="l" t="t" r="r" b="b"/>
            <a:pathLst>
              <a:path w="5353050" h="68580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609601"/>
                </a:lnTo>
                <a:cubicBezTo>
                  <a:pt x="5353050" y="651684"/>
                  <a:pt x="5318934" y="685800"/>
                  <a:pt x="52768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52"/>
              </a:gs>
              <a:gs pos="100000">
                <a:srgbClr val="4A6B82"/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6443663" y="1971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6710363" y="194310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Orchestration Engines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19850" y="220980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BPMN-based workflow engines managing multi-step, multi-agency processes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5550" y="2590800"/>
            <a:ext cx="5353050" cy="685800"/>
          </a:xfrm>
          <a:custGeom>
            <a:avLst/>
            <a:gdLst/>
            <a:ahLst/>
            <a:cxnLst/>
            <a:rect l="l" t="t" r="r" b="b"/>
            <a:pathLst>
              <a:path w="5353050" h="68580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609601"/>
                </a:lnTo>
                <a:cubicBezTo>
                  <a:pt x="5353050" y="651684"/>
                  <a:pt x="5318934" y="685800"/>
                  <a:pt x="52768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B82"/>
              </a:gs>
              <a:gs pos="100000">
                <a:srgbClr val="1A3A52"/>
              </a:gs>
            </a:gsLst>
            <a:lin ang="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6443663" y="2733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5" name="Text 33"/>
          <p:cNvSpPr/>
          <p:nvPr/>
        </p:nvSpPr>
        <p:spPr>
          <a:xfrm>
            <a:off x="6710363" y="270510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 Decision Systems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9850" y="297180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Drools-based rule engines for automated eligibility and approval decisions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05550" y="3352800"/>
            <a:ext cx="5353050" cy="685800"/>
          </a:xfrm>
          <a:custGeom>
            <a:avLst/>
            <a:gdLst/>
            <a:ahLst/>
            <a:cxnLst/>
            <a:rect l="l" t="t" r="r" b="b"/>
            <a:pathLst>
              <a:path w="5353050" h="685800">
                <a:moveTo>
                  <a:pt x="76199" y="0"/>
                </a:moveTo>
                <a:lnTo>
                  <a:pt x="5276851" y="0"/>
                </a:lnTo>
                <a:cubicBezTo>
                  <a:pt x="5318934" y="0"/>
                  <a:pt x="5353050" y="34116"/>
                  <a:pt x="5353050" y="76199"/>
                </a:cubicBezTo>
                <a:lnTo>
                  <a:pt x="5353050" y="609601"/>
                </a:lnTo>
                <a:cubicBezTo>
                  <a:pt x="5353050" y="651684"/>
                  <a:pt x="5318934" y="685800"/>
                  <a:pt x="52768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rotWithShape="1" flip="none">
            <a:gsLst>
              <a:gs pos="0">
                <a:srgbClr val="C9A227"/>
              </a:gs>
              <a:gs pos="100000">
                <a:srgbClr val="C9A227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6454378" y="34956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-10716"/>
                </a:moveTo>
                <a:cubicBezTo>
                  <a:pt x="48790" y="-10716"/>
                  <a:pt x="53578" y="-5927"/>
                  <a:pt x="53578" y="0"/>
                </a:cubicBezTo>
                <a:lnTo>
                  <a:pt x="53578" y="32147"/>
                </a:lnTo>
                <a:lnTo>
                  <a:pt x="96441" y="32147"/>
                </a:lnTo>
                <a:lnTo>
                  <a:pt x="96441" y="0"/>
                </a:lnTo>
                <a:cubicBezTo>
                  <a:pt x="96441" y="-5927"/>
                  <a:pt x="101229" y="-10716"/>
                  <a:pt x="107156" y="-10716"/>
                </a:cubicBezTo>
                <a:cubicBezTo>
                  <a:pt x="113083" y="-10716"/>
                  <a:pt x="117872" y="-5927"/>
                  <a:pt x="117872" y="0"/>
                </a:cubicBezTo>
                <a:lnTo>
                  <a:pt x="117872" y="32147"/>
                </a:ln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cubicBezTo>
                  <a:pt x="150019" y="48790"/>
                  <a:pt x="145230" y="53578"/>
                  <a:pt x="139303" y="53578"/>
                </a:cubicBezTo>
                <a:lnTo>
                  <a:pt x="139303" y="75009"/>
                </a:lnTo>
                <a:cubicBezTo>
                  <a:pt x="139303" y="106855"/>
                  <a:pt x="116131" y="133309"/>
                  <a:pt x="85725" y="138399"/>
                </a:cubicBezTo>
                <a:lnTo>
                  <a:pt x="85725" y="160734"/>
                </a:lnTo>
                <a:cubicBezTo>
                  <a:pt x="85725" y="166661"/>
                  <a:pt x="80936" y="171450"/>
                  <a:pt x="75009" y="171450"/>
                </a:cubicBezTo>
                <a:cubicBezTo>
                  <a:pt x="69082" y="171450"/>
                  <a:pt x="64294" y="166661"/>
                  <a:pt x="64294" y="160734"/>
                </a:cubicBezTo>
                <a:lnTo>
                  <a:pt x="64294" y="138399"/>
                </a:lnTo>
                <a:cubicBezTo>
                  <a:pt x="33888" y="133309"/>
                  <a:pt x="10716" y="106855"/>
                  <a:pt x="10716" y="75009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lnTo>
                  <a:pt x="32147" y="0"/>
                </a:lnTo>
                <a:cubicBezTo>
                  <a:pt x="32147" y="-5927"/>
                  <a:pt x="36935" y="-10716"/>
                  <a:pt x="42863" y="-1071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710363" y="346710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API-Driven Integration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19850" y="3733800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APIs enabling real-time data exchange between systems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53150" y="4305300"/>
            <a:ext cx="5657850" cy="1714500"/>
          </a:xfrm>
          <a:custGeom>
            <a:avLst/>
            <a:gdLst/>
            <a:ahLst/>
            <a:cxnLst/>
            <a:rect l="l" t="t" r="r" b="b"/>
            <a:pathLst>
              <a:path w="5657850" h="1714500">
                <a:moveTo>
                  <a:pt x="76192" y="0"/>
                </a:moveTo>
                <a:lnTo>
                  <a:pt x="5581658" y="0"/>
                </a:lnTo>
                <a:cubicBezTo>
                  <a:pt x="5623738" y="0"/>
                  <a:pt x="5657850" y="34112"/>
                  <a:pt x="5657850" y="76192"/>
                </a:cubicBezTo>
                <a:lnTo>
                  <a:pt x="5657850" y="1638308"/>
                </a:lnTo>
                <a:cubicBezTo>
                  <a:pt x="5657850" y="1680388"/>
                  <a:pt x="5623738" y="1714500"/>
                  <a:pt x="5581658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2460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3350" y="76200"/>
                </a:moveTo>
                <a:cubicBezTo>
                  <a:pt x="133350" y="44658"/>
                  <a:pt x="107742" y="19050"/>
                  <a:pt x="76200" y="19050"/>
                </a:cubicBezTo>
                <a:cubicBezTo>
                  <a:pt x="44658" y="19050"/>
                  <a:pt x="19050" y="44658"/>
                  <a:pt x="19050" y="76200"/>
                </a:cubicBezTo>
                <a:cubicBezTo>
                  <a:pt x="19050" y="107742"/>
                  <a:pt x="44658" y="133350"/>
                  <a:pt x="76200" y="133350"/>
                </a:cubicBezTo>
                <a:cubicBezTo>
                  <a:pt x="107742" y="133350"/>
                  <a:pt x="133350" y="107742"/>
                  <a:pt x="133350" y="76200"/>
                </a:cubicBezTo>
                <a:close/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76200" y="100013"/>
                </a:moveTo>
                <a:cubicBezTo>
                  <a:pt x="89342" y="100013"/>
                  <a:pt x="100013" y="89342"/>
                  <a:pt x="100013" y="76200"/>
                </a:cubicBezTo>
                <a:cubicBezTo>
                  <a:pt x="100013" y="63058"/>
                  <a:pt x="89342" y="52388"/>
                  <a:pt x="76200" y="52388"/>
                </a:cubicBezTo>
                <a:cubicBezTo>
                  <a:pt x="63058" y="52388"/>
                  <a:pt x="52388" y="63058"/>
                  <a:pt x="52388" y="76200"/>
                </a:cubicBezTo>
                <a:cubicBezTo>
                  <a:pt x="52388" y="89342"/>
                  <a:pt x="63058" y="100013"/>
                  <a:pt x="76200" y="100013"/>
                </a:cubicBezTo>
                <a:close/>
                <a:moveTo>
                  <a:pt x="76200" y="33338"/>
                </a:moveTo>
                <a:cubicBezTo>
                  <a:pt x="99856" y="33338"/>
                  <a:pt x="119062" y="52544"/>
                  <a:pt x="119062" y="76200"/>
                </a:cubicBezTo>
                <a:cubicBezTo>
                  <a:pt x="119062" y="99856"/>
                  <a:pt x="99856" y="119062"/>
                  <a:pt x="76200" y="119062"/>
                </a:cubicBezTo>
                <a:cubicBezTo>
                  <a:pt x="52544" y="119062"/>
                  <a:pt x="33338" y="99856"/>
                  <a:pt x="33338" y="76200"/>
                </a:cubicBezTo>
                <a:cubicBezTo>
                  <a:pt x="33338" y="52544"/>
                  <a:pt x="52544" y="33338"/>
                  <a:pt x="76200" y="33338"/>
                </a:cubicBezTo>
                <a:close/>
                <a:moveTo>
                  <a:pt x="66675" y="76200"/>
                </a:moveTo>
                <a:cubicBezTo>
                  <a:pt x="66675" y="70943"/>
                  <a:pt x="70943" y="66675"/>
                  <a:pt x="76200" y="66675"/>
                </a:cubicBezTo>
                <a:cubicBezTo>
                  <a:pt x="81457" y="66675"/>
                  <a:pt x="85725" y="70943"/>
                  <a:pt x="85725" y="76200"/>
                </a:cubicBezTo>
                <a:cubicBezTo>
                  <a:pt x="85725" y="81457"/>
                  <a:pt x="81457" y="85725"/>
                  <a:pt x="76200" y="85725"/>
                </a:cubicBezTo>
                <a:cubicBezTo>
                  <a:pt x="70943" y="85725"/>
                  <a:pt x="66675" y="81457"/>
                  <a:pt x="66675" y="7620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6496050" y="4457700"/>
            <a:ext cx="523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Automated State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5550" y="4762500"/>
            <a:ext cx="5353050" cy="342900"/>
          </a:xfrm>
          <a:custGeom>
            <a:avLst/>
            <a:gdLst/>
            <a:ahLst/>
            <a:cxnLst/>
            <a:rect l="l" t="t" r="r" b="b"/>
            <a:pathLst>
              <a:path w="5353050" h="342900">
                <a:moveTo>
                  <a:pt x="38100" y="0"/>
                </a:moveTo>
                <a:lnTo>
                  <a:pt x="5314950" y="0"/>
                </a:lnTo>
                <a:cubicBezTo>
                  <a:pt x="5335992" y="0"/>
                  <a:pt x="5353050" y="17058"/>
                  <a:pt x="5353050" y="38100"/>
                </a:cubicBezTo>
                <a:lnTo>
                  <a:pt x="5353050" y="304800"/>
                </a:lnTo>
                <a:cubicBezTo>
                  <a:pt x="5353050" y="325842"/>
                  <a:pt x="5335992" y="342900"/>
                  <a:pt x="53149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5" name="Text 43"/>
          <p:cNvSpPr/>
          <p:nvPr/>
        </p:nvSpPr>
        <p:spPr>
          <a:xfrm>
            <a:off x="6381750" y="4838700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Straight-Through Processing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929640" y="483870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70% Target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5550" y="5143500"/>
            <a:ext cx="5353050" cy="342900"/>
          </a:xfrm>
          <a:custGeom>
            <a:avLst/>
            <a:gdLst/>
            <a:ahLst/>
            <a:cxnLst/>
            <a:rect l="l" t="t" r="r" b="b"/>
            <a:pathLst>
              <a:path w="5353050" h="342900">
                <a:moveTo>
                  <a:pt x="38100" y="0"/>
                </a:moveTo>
                <a:lnTo>
                  <a:pt x="5314950" y="0"/>
                </a:lnTo>
                <a:cubicBezTo>
                  <a:pt x="5335992" y="0"/>
                  <a:pt x="5353050" y="17058"/>
                  <a:pt x="5353050" y="38100"/>
                </a:cubicBezTo>
                <a:lnTo>
                  <a:pt x="5353050" y="304800"/>
                </a:lnTo>
                <a:cubicBezTo>
                  <a:pt x="5353050" y="325842"/>
                  <a:pt x="5335992" y="342900"/>
                  <a:pt x="53149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8" name="Text 46"/>
          <p:cNvSpPr/>
          <p:nvPr/>
        </p:nvSpPr>
        <p:spPr>
          <a:xfrm>
            <a:off x="6381750" y="52197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Time Reduction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932170" y="521970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 Faster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05550" y="5524500"/>
            <a:ext cx="5353050" cy="342900"/>
          </a:xfrm>
          <a:custGeom>
            <a:avLst/>
            <a:gdLst/>
            <a:ahLst/>
            <a:cxnLst/>
            <a:rect l="l" t="t" r="r" b="b"/>
            <a:pathLst>
              <a:path w="5353050" h="342900">
                <a:moveTo>
                  <a:pt x="38100" y="0"/>
                </a:moveTo>
                <a:lnTo>
                  <a:pt x="5314950" y="0"/>
                </a:lnTo>
                <a:cubicBezTo>
                  <a:pt x="5335992" y="0"/>
                  <a:pt x="5353050" y="17058"/>
                  <a:pt x="5353050" y="38100"/>
                </a:cubicBezTo>
                <a:lnTo>
                  <a:pt x="5353050" y="304800"/>
                </a:lnTo>
                <a:cubicBezTo>
                  <a:pt x="5353050" y="325842"/>
                  <a:pt x="5335992" y="342900"/>
                  <a:pt x="531495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1" name="Text 49"/>
          <p:cNvSpPr/>
          <p:nvPr/>
        </p:nvSpPr>
        <p:spPr>
          <a:xfrm>
            <a:off x="6381750" y="560070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1252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 Rate Reduction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14683" y="5600700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 Lower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1000" y="6096000"/>
            <a:ext cx="11430000" cy="685800"/>
          </a:xfrm>
          <a:custGeom>
            <a:avLst/>
            <a:gdLst/>
            <a:ahLst/>
            <a:cxnLst/>
            <a:rect l="l" t="t" r="r" b="b"/>
            <a:pathLst>
              <a:path w="11430000" h="6858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609601"/>
                </a:lnTo>
                <a:cubicBezTo>
                  <a:pt x="11430000" y="651684"/>
                  <a:pt x="11395884" y="685800"/>
                  <a:pt x="11353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52"/>
              </a:gs>
              <a:gs pos="100000">
                <a:srgbClr val="4A6B82"/>
              </a:gs>
            </a:gsLst>
            <a:lin ang="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23875" y="6324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5" name="Text 53"/>
          <p:cNvSpPr/>
          <p:nvPr/>
        </p:nvSpPr>
        <p:spPr>
          <a:xfrm>
            <a:off x="895350" y="62103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Service Automation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5350" y="6477000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application to approval—minimal manual intervention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953551" y="6210300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100+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982126" y="6515100"/>
            <a:ext cx="1047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 Automated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100048" y="6210300"/>
            <a:ext cx="657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24/7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128623" y="6515100"/>
            <a:ext cx="600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spc="90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Phased Transformation Journey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9525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Decision-gate controlled progression ensuring quality at each phase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276350"/>
            <a:ext cx="3733800" cy="3762375"/>
          </a:xfrm>
          <a:custGeom>
            <a:avLst/>
            <a:gdLst/>
            <a:ahLst/>
            <a:cxnLst/>
            <a:rect l="l" t="t" r="r" b="b"/>
            <a:pathLst>
              <a:path w="3733800" h="376237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686168"/>
                </a:lnTo>
                <a:cubicBezTo>
                  <a:pt x="3733800" y="3728256"/>
                  <a:pt x="3699681" y="3762375"/>
                  <a:pt x="3657593" y="3762375"/>
                </a:cubicBezTo>
                <a:lnTo>
                  <a:pt x="76207" y="3762375"/>
                </a:lnTo>
                <a:cubicBezTo>
                  <a:pt x="34119" y="3762375"/>
                  <a:pt x="0" y="3728256"/>
                  <a:pt x="0" y="368616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2763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8" name="Text 6"/>
          <p:cNvSpPr/>
          <p:nvPr/>
        </p:nvSpPr>
        <p:spPr>
          <a:xfrm>
            <a:off x="774055" y="1619250"/>
            <a:ext cx="14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447800"/>
            <a:ext cx="99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160020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Stabilisation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18669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0-6 Months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217170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76196" y="0"/>
                </a:moveTo>
                <a:lnTo>
                  <a:pt x="3352804" y="0"/>
                </a:lnTo>
                <a:cubicBezTo>
                  <a:pt x="3394886" y="0"/>
                  <a:pt x="3429000" y="34114"/>
                  <a:pt x="3429000" y="76196"/>
                </a:cubicBezTo>
                <a:lnTo>
                  <a:pt x="3429000" y="952504"/>
                </a:lnTo>
                <a:cubicBezTo>
                  <a:pt x="3429000" y="994586"/>
                  <a:pt x="3394886" y="1028700"/>
                  <a:pt x="33528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6984" y="2276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81050" y="22479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24765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MATC establishment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27051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Governance framework rollout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29337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Architecture standards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327660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76196" y="0"/>
                </a:moveTo>
                <a:lnTo>
                  <a:pt x="3352804" y="0"/>
                </a:lnTo>
                <a:cubicBezTo>
                  <a:pt x="3394886" y="0"/>
                  <a:pt x="3429000" y="34114"/>
                  <a:pt x="3429000" y="76196"/>
                </a:cubicBezTo>
                <a:lnTo>
                  <a:pt x="3429000" y="952504"/>
                </a:lnTo>
                <a:cubicBezTo>
                  <a:pt x="3429000" y="994586"/>
                  <a:pt x="3394886" y="1028700"/>
                  <a:pt x="33528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8650" y="33813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781050" y="33528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Wins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35814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20 high-impact services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38100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EDRMS pilot deployment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40386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GIF implementation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400" y="4424363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  <a:lnTo>
                  <a:pt x="3429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5" name="Text 23"/>
          <p:cNvSpPr/>
          <p:nvPr/>
        </p:nvSpPr>
        <p:spPr>
          <a:xfrm>
            <a:off x="533400" y="454342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 Criteria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90950" y="4562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533400" y="4733925"/>
            <a:ext cx="3486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Governance operational, 20 services digitised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29100" y="1276350"/>
            <a:ext cx="3733800" cy="3762375"/>
          </a:xfrm>
          <a:custGeom>
            <a:avLst/>
            <a:gdLst/>
            <a:ahLst/>
            <a:cxnLst/>
            <a:rect l="l" t="t" r="r" b="b"/>
            <a:pathLst>
              <a:path w="3733800" h="376237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686168"/>
                </a:lnTo>
                <a:cubicBezTo>
                  <a:pt x="3733800" y="3728256"/>
                  <a:pt x="3699681" y="3762375"/>
                  <a:pt x="3657593" y="3762375"/>
                </a:cubicBezTo>
                <a:lnTo>
                  <a:pt x="76207" y="3762375"/>
                </a:lnTo>
                <a:cubicBezTo>
                  <a:pt x="34119" y="3762375"/>
                  <a:pt x="0" y="3728256"/>
                  <a:pt x="0" y="368616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29100" y="12763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30" name="Shape 28"/>
          <p:cNvSpPr/>
          <p:nvPr/>
        </p:nvSpPr>
        <p:spPr>
          <a:xfrm>
            <a:off x="43815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31" name="Text 29"/>
          <p:cNvSpPr/>
          <p:nvPr/>
        </p:nvSpPr>
        <p:spPr>
          <a:xfrm>
            <a:off x="4596185" y="16192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0" y="1447800"/>
            <a:ext cx="781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0" y="160020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0" y="1866900"/>
            <a:ext cx="790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6-18 Months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1500" y="217170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76196" y="0"/>
                </a:moveTo>
                <a:lnTo>
                  <a:pt x="3352804" y="0"/>
                </a:lnTo>
                <a:cubicBezTo>
                  <a:pt x="3394886" y="0"/>
                  <a:pt x="3429000" y="34114"/>
                  <a:pt x="3429000" y="76196"/>
                </a:cubicBezTo>
                <a:lnTo>
                  <a:pt x="3429000" y="952504"/>
                </a:lnTo>
                <a:cubicBezTo>
                  <a:pt x="3429000" y="994586"/>
                  <a:pt x="3394886" y="1028700"/>
                  <a:pt x="33528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5084" y="22764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334" y="8334"/>
                </a:moveTo>
                <a:cubicBezTo>
                  <a:pt x="3724" y="8334"/>
                  <a:pt x="0" y="12059"/>
                  <a:pt x="0" y="16669"/>
                </a:cubicBezTo>
                <a:lnTo>
                  <a:pt x="0" y="41672"/>
                </a:lnTo>
                <a:cubicBezTo>
                  <a:pt x="0" y="46282"/>
                  <a:pt x="3724" y="50006"/>
                  <a:pt x="8334" y="50006"/>
                </a:cubicBezTo>
                <a:cubicBezTo>
                  <a:pt x="12944" y="50006"/>
                  <a:pt x="16669" y="46282"/>
                  <a:pt x="16669" y="41672"/>
                </a:cubicBezTo>
                <a:lnTo>
                  <a:pt x="16669" y="25003"/>
                </a:lnTo>
                <a:lnTo>
                  <a:pt x="33337" y="25003"/>
                </a:lnTo>
                <a:cubicBezTo>
                  <a:pt x="37947" y="25003"/>
                  <a:pt x="41672" y="21279"/>
                  <a:pt x="41672" y="16669"/>
                </a:cubicBezTo>
                <a:cubicBezTo>
                  <a:pt x="41672" y="12059"/>
                  <a:pt x="37947" y="8334"/>
                  <a:pt x="33337" y="8334"/>
                </a:cubicBezTo>
                <a:lnTo>
                  <a:pt x="8334" y="8334"/>
                </a:lnTo>
                <a:close/>
                <a:moveTo>
                  <a:pt x="16669" y="91678"/>
                </a:moveTo>
                <a:cubicBezTo>
                  <a:pt x="16669" y="87068"/>
                  <a:pt x="12944" y="83344"/>
                  <a:pt x="8334" y="83344"/>
                </a:cubicBezTo>
                <a:cubicBezTo>
                  <a:pt x="3724" y="83344"/>
                  <a:pt x="0" y="87068"/>
                  <a:pt x="0" y="91678"/>
                </a:cubicBezTo>
                <a:lnTo>
                  <a:pt x="0" y="116681"/>
                </a:lnTo>
                <a:cubicBezTo>
                  <a:pt x="0" y="121291"/>
                  <a:pt x="3724" y="125016"/>
                  <a:pt x="8334" y="125016"/>
                </a:cubicBezTo>
                <a:lnTo>
                  <a:pt x="33337" y="125016"/>
                </a:lnTo>
                <a:cubicBezTo>
                  <a:pt x="37947" y="125016"/>
                  <a:pt x="41672" y="121291"/>
                  <a:pt x="41672" y="116681"/>
                </a:cubicBezTo>
                <a:cubicBezTo>
                  <a:pt x="41672" y="112071"/>
                  <a:pt x="37947" y="108347"/>
                  <a:pt x="33337" y="108347"/>
                </a:cubicBezTo>
                <a:lnTo>
                  <a:pt x="16669" y="108347"/>
                </a:lnTo>
                <a:lnTo>
                  <a:pt x="16669" y="91678"/>
                </a:lnTo>
                <a:close/>
                <a:moveTo>
                  <a:pt x="83344" y="8334"/>
                </a:moveTo>
                <a:cubicBezTo>
                  <a:pt x="78734" y="8334"/>
                  <a:pt x="75009" y="12059"/>
                  <a:pt x="75009" y="16669"/>
                </a:cubicBezTo>
                <a:cubicBezTo>
                  <a:pt x="75009" y="21279"/>
                  <a:pt x="78734" y="25003"/>
                  <a:pt x="83344" y="25003"/>
                </a:cubicBezTo>
                <a:lnTo>
                  <a:pt x="100013" y="25003"/>
                </a:lnTo>
                <a:lnTo>
                  <a:pt x="100013" y="41672"/>
                </a:lnTo>
                <a:cubicBezTo>
                  <a:pt x="100013" y="46282"/>
                  <a:pt x="103737" y="50006"/>
                  <a:pt x="108347" y="50006"/>
                </a:cubicBezTo>
                <a:cubicBezTo>
                  <a:pt x="112957" y="50006"/>
                  <a:pt x="116681" y="46282"/>
                  <a:pt x="116681" y="41672"/>
                </a:cubicBezTo>
                <a:lnTo>
                  <a:pt x="116681" y="16669"/>
                </a:lnTo>
                <a:cubicBezTo>
                  <a:pt x="116681" y="12059"/>
                  <a:pt x="112957" y="8334"/>
                  <a:pt x="108347" y="8334"/>
                </a:cubicBezTo>
                <a:lnTo>
                  <a:pt x="83344" y="8334"/>
                </a:lnTo>
                <a:close/>
                <a:moveTo>
                  <a:pt x="116681" y="91678"/>
                </a:moveTo>
                <a:cubicBezTo>
                  <a:pt x="116681" y="87068"/>
                  <a:pt x="112957" y="83344"/>
                  <a:pt x="108347" y="83344"/>
                </a:cubicBezTo>
                <a:cubicBezTo>
                  <a:pt x="103737" y="83344"/>
                  <a:pt x="100013" y="87068"/>
                  <a:pt x="100013" y="91678"/>
                </a:cubicBezTo>
                <a:lnTo>
                  <a:pt x="100013" y="108347"/>
                </a:lnTo>
                <a:lnTo>
                  <a:pt x="83344" y="108347"/>
                </a:lnTo>
                <a:cubicBezTo>
                  <a:pt x="78734" y="108347"/>
                  <a:pt x="75009" y="112071"/>
                  <a:pt x="75009" y="116681"/>
                </a:cubicBezTo>
                <a:cubicBezTo>
                  <a:pt x="75009" y="121291"/>
                  <a:pt x="78734" y="125016"/>
                  <a:pt x="83344" y="125016"/>
                </a:cubicBezTo>
                <a:lnTo>
                  <a:pt x="108347" y="125016"/>
                </a:lnTo>
                <a:cubicBezTo>
                  <a:pt x="112957" y="125016"/>
                  <a:pt x="116681" y="121291"/>
                  <a:pt x="116681" y="116681"/>
                </a:cubicBezTo>
                <a:lnTo>
                  <a:pt x="116681" y="91678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4629150" y="22479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57700" y="24765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100+ services digitised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57700" y="27051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EDRMS full deployment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57700" y="29337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Automation rollout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381500" y="327660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76196" y="0"/>
                </a:moveTo>
                <a:lnTo>
                  <a:pt x="3352804" y="0"/>
                </a:lnTo>
                <a:cubicBezTo>
                  <a:pt x="3394886" y="0"/>
                  <a:pt x="3429000" y="34114"/>
                  <a:pt x="3429000" y="76196"/>
                </a:cubicBezTo>
                <a:lnTo>
                  <a:pt x="3429000" y="952504"/>
                </a:lnTo>
                <a:cubicBezTo>
                  <a:pt x="3429000" y="994586"/>
                  <a:pt x="3394886" y="1028700"/>
                  <a:pt x="33528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2" name="Shape 40"/>
          <p:cNvSpPr/>
          <p:nvPr/>
        </p:nvSpPr>
        <p:spPr>
          <a:xfrm>
            <a:off x="4460081" y="33813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83344" y="4167"/>
                </a:moveTo>
                <a:cubicBezTo>
                  <a:pt x="98293" y="4167"/>
                  <a:pt x="110430" y="16304"/>
                  <a:pt x="110430" y="31254"/>
                </a:cubicBezTo>
                <a:cubicBezTo>
                  <a:pt x="110430" y="46203"/>
                  <a:pt x="98293" y="58341"/>
                  <a:pt x="83344" y="58341"/>
                </a:cubicBezTo>
                <a:cubicBezTo>
                  <a:pt x="68394" y="58341"/>
                  <a:pt x="56257" y="46203"/>
                  <a:pt x="56257" y="31254"/>
                </a:cubicBezTo>
                <a:cubicBezTo>
                  <a:pt x="56257" y="16304"/>
                  <a:pt x="68394" y="4167"/>
                  <a:pt x="83344" y="4167"/>
                </a:cubicBezTo>
                <a:close/>
                <a:moveTo>
                  <a:pt x="25003" y="22920"/>
                </a:moveTo>
                <a:cubicBezTo>
                  <a:pt x="35353" y="22920"/>
                  <a:pt x="43755" y="31322"/>
                  <a:pt x="43755" y="41672"/>
                </a:cubicBezTo>
                <a:cubicBezTo>
                  <a:pt x="43755" y="52022"/>
                  <a:pt x="35353" y="60424"/>
                  <a:pt x="25003" y="60424"/>
                </a:cubicBezTo>
                <a:cubicBezTo>
                  <a:pt x="14653" y="60424"/>
                  <a:pt x="6251" y="52022"/>
                  <a:pt x="6251" y="41672"/>
                </a:cubicBezTo>
                <a:cubicBezTo>
                  <a:pt x="6251" y="31322"/>
                  <a:pt x="14653" y="22920"/>
                  <a:pt x="25003" y="22920"/>
                </a:cubicBezTo>
                <a:close/>
                <a:moveTo>
                  <a:pt x="0" y="108347"/>
                </a:moveTo>
                <a:cubicBezTo>
                  <a:pt x="0" y="89933"/>
                  <a:pt x="14924" y="75009"/>
                  <a:pt x="33337" y="75009"/>
                </a:cubicBezTo>
                <a:cubicBezTo>
                  <a:pt x="36671" y="75009"/>
                  <a:pt x="39901" y="75504"/>
                  <a:pt x="42948" y="76416"/>
                </a:cubicBezTo>
                <a:cubicBezTo>
                  <a:pt x="34379" y="86000"/>
                  <a:pt x="29170" y="98658"/>
                  <a:pt x="29170" y="112514"/>
                </a:cubicBezTo>
                <a:lnTo>
                  <a:pt x="29170" y="116681"/>
                </a:lnTo>
                <a:cubicBezTo>
                  <a:pt x="29170" y="119650"/>
                  <a:pt x="29795" y="122463"/>
                  <a:pt x="30915" y="125016"/>
                </a:cubicBezTo>
                <a:lnTo>
                  <a:pt x="8334" y="125016"/>
                </a:lnTo>
                <a:cubicBezTo>
                  <a:pt x="3724" y="125016"/>
                  <a:pt x="0" y="121291"/>
                  <a:pt x="0" y="116681"/>
                </a:cubicBezTo>
                <a:lnTo>
                  <a:pt x="0" y="108347"/>
                </a:lnTo>
                <a:close/>
                <a:moveTo>
                  <a:pt x="135772" y="125016"/>
                </a:moveTo>
                <a:cubicBezTo>
                  <a:pt x="136892" y="122463"/>
                  <a:pt x="137517" y="119650"/>
                  <a:pt x="137517" y="116681"/>
                </a:cubicBezTo>
                <a:lnTo>
                  <a:pt x="137517" y="112514"/>
                </a:lnTo>
                <a:cubicBezTo>
                  <a:pt x="137517" y="98658"/>
                  <a:pt x="132308" y="86000"/>
                  <a:pt x="123739" y="76416"/>
                </a:cubicBezTo>
                <a:cubicBezTo>
                  <a:pt x="126787" y="75504"/>
                  <a:pt x="130016" y="75009"/>
                  <a:pt x="133350" y="75009"/>
                </a:cubicBezTo>
                <a:cubicBezTo>
                  <a:pt x="151764" y="75009"/>
                  <a:pt x="166688" y="89933"/>
                  <a:pt x="166688" y="108347"/>
                </a:cubicBezTo>
                <a:lnTo>
                  <a:pt x="166688" y="116681"/>
                </a:lnTo>
                <a:cubicBezTo>
                  <a:pt x="166688" y="121291"/>
                  <a:pt x="162963" y="125016"/>
                  <a:pt x="158353" y="125016"/>
                </a:cubicBezTo>
                <a:lnTo>
                  <a:pt x="135772" y="125016"/>
                </a:lnTo>
                <a:close/>
                <a:moveTo>
                  <a:pt x="122932" y="41672"/>
                </a:moveTo>
                <a:cubicBezTo>
                  <a:pt x="122932" y="31322"/>
                  <a:pt x="131335" y="22920"/>
                  <a:pt x="141684" y="22920"/>
                </a:cubicBezTo>
                <a:cubicBezTo>
                  <a:pt x="152034" y="22920"/>
                  <a:pt x="160437" y="31322"/>
                  <a:pt x="160437" y="41672"/>
                </a:cubicBezTo>
                <a:cubicBezTo>
                  <a:pt x="160437" y="52022"/>
                  <a:pt x="152034" y="60424"/>
                  <a:pt x="141684" y="60424"/>
                </a:cubicBezTo>
                <a:cubicBezTo>
                  <a:pt x="131335" y="60424"/>
                  <a:pt x="122932" y="52022"/>
                  <a:pt x="122932" y="41672"/>
                </a:cubicBezTo>
                <a:close/>
                <a:moveTo>
                  <a:pt x="41672" y="112514"/>
                </a:moveTo>
                <a:cubicBezTo>
                  <a:pt x="41672" y="89490"/>
                  <a:pt x="60320" y="70842"/>
                  <a:pt x="83344" y="70842"/>
                </a:cubicBezTo>
                <a:cubicBezTo>
                  <a:pt x="106367" y="70842"/>
                  <a:pt x="125016" y="89490"/>
                  <a:pt x="125016" y="112514"/>
                </a:cubicBezTo>
                <a:lnTo>
                  <a:pt x="125016" y="116681"/>
                </a:lnTo>
                <a:cubicBezTo>
                  <a:pt x="125016" y="121291"/>
                  <a:pt x="121291" y="125016"/>
                  <a:pt x="116681" y="125016"/>
                </a:cubicBezTo>
                <a:lnTo>
                  <a:pt x="50006" y="125016"/>
                </a:lnTo>
                <a:cubicBezTo>
                  <a:pt x="45396" y="125016"/>
                  <a:pt x="41672" y="121291"/>
                  <a:pt x="41672" y="116681"/>
                </a:cubicBezTo>
                <a:lnTo>
                  <a:pt x="41672" y="11251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4629150" y="33528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Capability Building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57700" y="35814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Training programmes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457700" y="38100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Change management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57700" y="40386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MDA support units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381500" y="4424363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  <a:lnTo>
                  <a:pt x="3429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4381500" y="4543425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 Criteria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639050" y="4562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0" name="Text 48"/>
          <p:cNvSpPr/>
          <p:nvPr/>
        </p:nvSpPr>
        <p:spPr>
          <a:xfrm>
            <a:off x="4381500" y="4733925"/>
            <a:ext cx="3486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services live, 50% records digitised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077200" y="1276350"/>
            <a:ext cx="3733800" cy="3762375"/>
          </a:xfrm>
          <a:custGeom>
            <a:avLst/>
            <a:gdLst/>
            <a:ahLst/>
            <a:cxnLst/>
            <a:rect l="l" t="t" r="r" b="b"/>
            <a:pathLst>
              <a:path w="3733800" h="3762375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686168"/>
                </a:lnTo>
                <a:cubicBezTo>
                  <a:pt x="3733800" y="3728256"/>
                  <a:pt x="3699681" y="3762375"/>
                  <a:pt x="3657593" y="3762375"/>
                </a:cubicBezTo>
                <a:lnTo>
                  <a:pt x="76207" y="3762375"/>
                </a:lnTo>
                <a:cubicBezTo>
                  <a:pt x="34119" y="3762375"/>
                  <a:pt x="0" y="3728256"/>
                  <a:pt x="0" y="368616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077200" y="1276350"/>
            <a:ext cx="3733800" cy="38100"/>
          </a:xfrm>
          <a:custGeom>
            <a:avLst/>
            <a:gdLst/>
            <a:ahLst/>
            <a:cxnLst/>
            <a:rect l="l" t="t" r="r" b="b"/>
            <a:pathLst>
              <a:path w="3733800" h="38100">
                <a:moveTo>
                  <a:pt x="38100" y="0"/>
                </a:moveTo>
                <a:lnTo>
                  <a:pt x="3695700" y="0"/>
                </a:lnTo>
                <a:cubicBezTo>
                  <a:pt x="3716728" y="0"/>
                  <a:pt x="3733800" y="17072"/>
                  <a:pt x="3733800" y="38100"/>
                </a:cubicBezTo>
                <a:lnTo>
                  <a:pt x="3733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3" name="Shape 51"/>
          <p:cNvSpPr/>
          <p:nvPr/>
        </p:nvSpPr>
        <p:spPr>
          <a:xfrm>
            <a:off x="82296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54" name="Text 52"/>
          <p:cNvSpPr/>
          <p:nvPr/>
        </p:nvSpPr>
        <p:spPr>
          <a:xfrm>
            <a:off x="8418240" y="1619250"/>
            <a:ext cx="247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III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877300" y="1447800"/>
            <a:ext cx="1028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877300" y="160020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Optimisation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877300" y="1866900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18+ Months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229600" y="217170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76196" y="0"/>
                </a:moveTo>
                <a:lnTo>
                  <a:pt x="3352804" y="0"/>
                </a:lnTo>
                <a:cubicBezTo>
                  <a:pt x="3394886" y="0"/>
                  <a:pt x="3429000" y="34114"/>
                  <a:pt x="3429000" y="76196"/>
                </a:cubicBezTo>
                <a:lnTo>
                  <a:pt x="3429000" y="952504"/>
                </a:lnTo>
                <a:cubicBezTo>
                  <a:pt x="3429000" y="994586"/>
                  <a:pt x="3394886" y="1028700"/>
                  <a:pt x="33528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9" name="Shape 57"/>
          <p:cNvSpPr/>
          <p:nvPr/>
        </p:nvSpPr>
        <p:spPr>
          <a:xfrm>
            <a:off x="8324850" y="2276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0" name="Text 58"/>
          <p:cNvSpPr/>
          <p:nvPr/>
        </p:nvSpPr>
        <p:spPr>
          <a:xfrm>
            <a:off x="8477250" y="22479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Improvement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05800" y="24765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AI/ML integration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05800" y="27051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Predictive analytics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305800" y="29337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Service optimisation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229600" y="3276600"/>
            <a:ext cx="3429000" cy="1028700"/>
          </a:xfrm>
          <a:custGeom>
            <a:avLst/>
            <a:gdLst/>
            <a:ahLst/>
            <a:cxnLst/>
            <a:rect l="l" t="t" r="r" b="b"/>
            <a:pathLst>
              <a:path w="3429000" h="1028700">
                <a:moveTo>
                  <a:pt x="76196" y="0"/>
                </a:moveTo>
                <a:lnTo>
                  <a:pt x="3352804" y="0"/>
                </a:lnTo>
                <a:cubicBezTo>
                  <a:pt x="3394886" y="0"/>
                  <a:pt x="3429000" y="34114"/>
                  <a:pt x="3429000" y="76196"/>
                </a:cubicBezTo>
                <a:lnTo>
                  <a:pt x="3429000" y="952504"/>
                </a:lnTo>
                <a:cubicBezTo>
                  <a:pt x="3429000" y="994586"/>
                  <a:pt x="3394886" y="1028700"/>
                  <a:pt x="3352804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5" name="Shape 63"/>
          <p:cNvSpPr/>
          <p:nvPr/>
        </p:nvSpPr>
        <p:spPr>
          <a:xfrm>
            <a:off x="8308181" y="338137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0" y="66675"/>
                </a:moveTo>
                <a:cubicBezTo>
                  <a:pt x="0" y="43651"/>
                  <a:pt x="18648" y="25003"/>
                  <a:pt x="41672" y="25003"/>
                </a:cubicBezTo>
                <a:cubicBezTo>
                  <a:pt x="54799" y="25003"/>
                  <a:pt x="67144" y="31176"/>
                  <a:pt x="75009" y="41672"/>
                </a:cubicBezTo>
                <a:lnTo>
                  <a:pt x="83344" y="52793"/>
                </a:lnTo>
                <a:lnTo>
                  <a:pt x="91678" y="41672"/>
                </a:lnTo>
                <a:cubicBezTo>
                  <a:pt x="99544" y="31176"/>
                  <a:pt x="111889" y="25003"/>
                  <a:pt x="125016" y="25003"/>
                </a:cubicBezTo>
                <a:cubicBezTo>
                  <a:pt x="148039" y="25003"/>
                  <a:pt x="166688" y="43651"/>
                  <a:pt x="166688" y="66675"/>
                </a:cubicBezTo>
                <a:cubicBezTo>
                  <a:pt x="166688" y="89699"/>
                  <a:pt x="148039" y="108347"/>
                  <a:pt x="125016" y="108347"/>
                </a:cubicBezTo>
                <a:cubicBezTo>
                  <a:pt x="111889" y="108347"/>
                  <a:pt x="99544" y="102174"/>
                  <a:pt x="91678" y="91678"/>
                </a:cubicBezTo>
                <a:lnTo>
                  <a:pt x="83344" y="80557"/>
                </a:lnTo>
                <a:lnTo>
                  <a:pt x="75009" y="91678"/>
                </a:lnTo>
                <a:cubicBezTo>
                  <a:pt x="67144" y="102174"/>
                  <a:pt x="54799" y="108347"/>
                  <a:pt x="41672" y="108347"/>
                </a:cubicBezTo>
                <a:cubicBezTo>
                  <a:pt x="18648" y="108347"/>
                  <a:pt x="0" y="89699"/>
                  <a:pt x="0" y="66675"/>
                </a:cubicBezTo>
                <a:close/>
                <a:moveTo>
                  <a:pt x="72926" y="66675"/>
                </a:moveTo>
                <a:lnTo>
                  <a:pt x="61674" y="51673"/>
                </a:lnTo>
                <a:cubicBezTo>
                  <a:pt x="56960" y="45370"/>
                  <a:pt x="49537" y="41672"/>
                  <a:pt x="41672" y="41672"/>
                </a:cubicBezTo>
                <a:cubicBezTo>
                  <a:pt x="27868" y="41672"/>
                  <a:pt x="16669" y="52871"/>
                  <a:pt x="16669" y="66675"/>
                </a:cubicBezTo>
                <a:cubicBezTo>
                  <a:pt x="16669" y="80479"/>
                  <a:pt x="27868" y="91678"/>
                  <a:pt x="41672" y="91678"/>
                </a:cubicBezTo>
                <a:cubicBezTo>
                  <a:pt x="49537" y="91678"/>
                  <a:pt x="56960" y="87980"/>
                  <a:pt x="61674" y="81677"/>
                </a:cubicBezTo>
                <a:lnTo>
                  <a:pt x="72926" y="66675"/>
                </a:lnTo>
                <a:close/>
                <a:moveTo>
                  <a:pt x="93762" y="66675"/>
                </a:moveTo>
                <a:lnTo>
                  <a:pt x="105013" y="81677"/>
                </a:lnTo>
                <a:cubicBezTo>
                  <a:pt x="109727" y="87980"/>
                  <a:pt x="117150" y="91678"/>
                  <a:pt x="125016" y="91678"/>
                </a:cubicBezTo>
                <a:cubicBezTo>
                  <a:pt x="138819" y="91678"/>
                  <a:pt x="150019" y="80479"/>
                  <a:pt x="150019" y="66675"/>
                </a:cubicBezTo>
                <a:cubicBezTo>
                  <a:pt x="150019" y="52871"/>
                  <a:pt x="138819" y="41672"/>
                  <a:pt x="125016" y="41672"/>
                </a:cubicBezTo>
                <a:cubicBezTo>
                  <a:pt x="117150" y="41672"/>
                  <a:pt x="109727" y="45370"/>
                  <a:pt x="105013" y="51673"/>
                </a:cubicBezTo>
                <a:lnTo>
                  <a:pt x="93762" y="6667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6" name="Text 64"/>
          <p:cNvSpPr/>
          <p:nvPr/>
        </p:nvSpPr>
        <p:spPr>
          <a:xfrm>
            <a:off x="8477250" y="33528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Integration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305800" y="35814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Cross-border services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05800" y="38100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Private sector APIs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305800" y="4038600"/>
            <a:ext cx="3343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Innovation ecosystem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29600" y="4424363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  <a:lnTo>
                  <a:pt x="3429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71" name="Text 69"/>
          <p:cNvSpPr/>
          <p:nvPr/>
        </p:nvSpPr>
        <p:spPr>
          <a:xfrm>
            <a:off x="8229600" y="4543425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State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496675" y="45624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9525" y="0"/>
                </a:moveTo>
                <a:cubicBezTo>
                  <a:pt x="14794" y="0"/>
                  <a:pt x="19050" y="4256"/>
                  <a:pt x="19050" y="9525"/>
                </a:cubicBezTo>
                <a:lnTo>
                  <a:pt x="19050" y="14288"/>
                </a:lnTo>
                <a:lnTo>
                  <a:pt x="39588" y="9168"/>
                </a:lnTo>
                <a:cubicBezTo>
                  <a:pt x="50929" y="6340"/>
                  <a:pt x="62895" y="7650"/>
                  <a:pt x="73372" y="12889"/>
                </a:cubicBezTo>
                <a:cubicBezTo>
                  <a:pt x="87154" y="19794"/>
                  <a:pt x="103376" y="19794"/>
                  <a:pt x="117157" y="12889"/>
                </a:cubicBezTo>
                <a:lnTo>
                  <a:pt x="120015" y="11460"/>
                </a:lnTo>
                <a:cubicBezTo>
                  <a:pt x="126147" y="8364"/>
                  <a:pt x="133350" y="12829"/>
                  <a:pt x="133350" y="19675"/>
                </a:cubicBezTo>
                <a:lnTo>
                  <a:pt x="133350" y="102930"/>
                </a:lnTo>
                <a:cubicBezTo>
                  <a:pt x="133350" y="106888"/>
                  <a:pt x="130879" y="110460"/>
                  <a:pt x="127159" y="111859"/>
                </a:cubicBezTo>
                <a:lnTo>
                  <a:pt x="116830" y="115729"/>
                </a:lnTo>
                <a:cubicBezTo>
                  <a:pt x="103078" y="120878"/>
                  <a:pt x="87779" y="120075"/>
                  <a:pt x="74652" y="113526"/>
                </a:cubicBezTo>
                <a:cubicBezTo>
                  <a:pt x="63371" y="107871"/>
                  <a:pt x="50423" y="106472"/>
                  <a:pt x="38189" y="109537"/>
                </a:cubicBezTo>
                <a:lnTo>
                  <a:pt x="19050" y="114300"/>
                </a:lnTo>
                <a:lnTo>
                  <a:pt x="19050" y="142875"/>
                </a:lnTo>
                <a:cubicBezTo>
                  <a:pt x="19050" y="148144"/>
                  <a:pt x="14794" y="152400"/>
                  <a:pt x="9525" y="152400"/>
                </a:cubicBezTo>
                <a:cubicBezTo>
                  <a:pt x="4256" y="152400"/>
                  <a:pt x="0" y="148144"/>
                  <a:pt x="0" y="142875"/>
                </a:cubicBezTo>
                <a:lnTo>
                  <a:pt x="0" y="9525"/>
                </a:lnTo>
                <a:cubicBezTo>
                  <a:pt x="0" y="4256"/>
                  <a:pt x="4256" y="0"/>
                  <a:pt x="9525" y="0"/>
                </a:cubicBezTo>
                <a:close/>
                <a:moveTo>
                  <a:pt x="19050" y="55691"/>
                </a:moveTo>
                <a:lnTo>
                  <a:pt x="38100" y="51554"/>
                </a:lnTo>
                <a:lnTo>
                  <a:pt x="38100" y="71051"/>
                </a:lnTo>
                <a:lnTo>
                  <a:pt x="19050" y="75188"/>
                </a:lnTo>
                <a:lnTo>
                  <a:pt x="19050" y="94684"/>
                </a:lnTo>
                <a:lnTo>
                  <a:pt x="33576" y="91053"/>
                </a:lnTo>
                <a:cubicBezTo>
                  <a:pt x="35094" y="90666"/>
                  <a:pt x="36582" y="90339"/>
                  <a:pt x="38100" y="90071"/>
                </a:cubicBezTo>
                <a:lnTo>
                  <a:pt x="38100" y="71051"/>
                </a:lnTo>
                <a:lnTo>
                  <a:pt x="49679" y="68550"/>
                </a:lnTo>
                <a:cubicBezTo>
                  <a:pt x="52149" y="68014"/>
                  <a:pt x="54650" y="67806"/>
                  <a:pt x="57150" y="67925"/>
                </a:cubicBezTo>
                <a:lnTo>
                  <a:pt x="57150" y="48875"/>
                </a:lnTo>
                <a:cubicBezTo>
                  <a:pt x="61198" y="48994"/>
                  <a:pt x="65246" y="49649"/>
                  <a:pt x="69175" y="50780"/>
                </a:cubicBezTo>
                <a:lnTo>
                  <a:pt x="76200" y="52834"/>
                </a:lnTo>
                <a:lnTo>
                  <a:pt x="76200" y="72688"/>
                </a:lnTo>
                <a:lnTo>
                  <a:pt x="63788" y="69026"/>
                </a:lnTo>
                <a:cubicBezTo>
                  <a:pt x="61615" y="68401"/>
                  <a:pt x="59382" y="68014"/>
                  <a:pt x="57150" y="67895"/>
                </a:cubicBezTo>
                <a:lnTo>
                  <a:pt x="57150" y="89148"/>
                </a:lnTo>
                <a:cubicBezTo>
                  <a:pt x="63639" y="89714"/>
                  <a:pt x="70039" y="91142"/>
                  <a:pt x="76200" y="93434"/>
                </a:cubicBezTo>
                <a:lnTo>
                  <a:pt x="76200" y="72658"/>
                </a:lnTo>
                <a:lnTo>
                  <a:pt x="82957" y="74652"/>
                </a:lnTo>
                <a:cubicBezTo>
                  <a:pt x="86975" y="75843"/>
                  <a:pt x="91083" y="76557"/>
                  <a:pt x="95250" y="76855"/>
                </a:cubicBezTo>
                <a:lnTo>
                  <a:pt x="95250" y="57745"/>
                </a:lnTo>
                <a:cubicBezTo>
                  <a:pt x="92928" y="57507"/>
                  <a:pt x="90607" y="57061"/>
                  <a:pt x="88344" y="56406"/>
                </a:cubicBezTo>
                <a:lnTo>
                  <a:pt x="76200" y="52834"/>
                </a:lnTo>
                <a:lnTo>
                  <a:pt x="76200" y="34379"/>
                </a:lnTo>
                <a:cubicBezTo>
                  <a:pt x="72330" y="33248"/>
                  <a:pt x="68520" y="31760"/>
                  <a:pt x="64830" y="29914"/>
                </a:cubicBezTo>
                <a:cubicBezTo>
                  <a:pt x="62389" y="28694"/>
                  <a:pt x="59799" y="27831"/>
                  <a:pt x="57150" y="27295"/>
                </a:cubicBezTo>
                <a:lnTo>
                  <a:pt x="57150" y="48845"/>
                </a:lnTo>
                <a:cubicBezTo>
                  <a:pt x="53280" y="48726"/>
                  <a:pt x="49411" y="49084"/>
                  <a:pt x="45631" y="49917"/>
                </a:cubicBezTo>
                <a:lnTo>
                  <a:pt x="38100" y="51554"/>
                </a:lnTo>
                <a:lnTo>
                  <a:pt x="38100" y="29170"/>
                </a:lnTo>
                <a:lnTo>
                  <a:pt x="19050" y="33933"/>
                </a:lnTo>
                <a:lnTo>
                  <a:pt x="19050" y="55691"/>
                </a:lnTo>
                <a:close/>
                <a:moveTo>
                  <a:pt x="95250" y="99923"/>
                </a:moveTo>
                <a:cubicBezTo>
                  <a:pt x="100251" y="100370"/>
                  <a:pt x="105341" y="99715"/>
                  <a:pt x="110133" y="97899"/>
                </a:cubicBezTo>
                <a:lnTo>
                  <a:pt x="114300" y="96351"/>
                </a:lnTo>
                <a:lnTo>
                  <a:pt x="114300" y="75009"/>
                </a:lnTo>
                <a:lnTo>
                  <a:pt x="111949" y="75545"/>
                </a:lnTo>
                <a:cubicBezTo>
                  <a:pt x="106472" y="76825"/>
                  <a:pt x="100846" y="77242"/>
                  <a:pt x="95250" y="76885"/>
                </a:cubicBezTo>
                <a:lnTo>
                  <a:pt x="95250" y="99923"/>
                </a:lnTo>
                <a:close/>
                <a:moveTo>
                  <a:pt x="114300" y="55453"/>
                </a:moveTo>
                <a:lnTo>
                  <a:pt x="114300" y="34379"/>
                </a:lnTo>
                <a:cubicBezTo>
                  <a:pt x="108079" y="36195"/>
                  <a:pt x="101679" y="37088"/>
                  <a:pt x="95250" y="37088"/>
                </a:cubicBezTo>
                <a:lnTo>
                  <a:pt x="95250" y="57745"/>
                </a:lnTo>
                <a:cubicBezTo>
                  <a:pt x="99387" y="58162"/>
                  <a:pt x="103584" y="57894"/>
                  <a:pt x="107662" y="56971"/>
                </a:cubicBezTo>
                <a:lnTo>
                  <a:pt x="114300" y="55424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3" name="Text 71"/>
          <p:cNvSpPr/>
          <p:nvPr/>
        </p:nvSpPr>
        <p:spPr>
          <a:xfrm>
            <a:off x="8229600" y="4733925"/>
            <a:ext cx="3486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WoG model, 80% automation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81000" y="5153025"/>
            <a:ext cx="11430000" cy="1295400"/>
          </a:xfrm>
          <a:custGeom>
            <a:avLst/>
            <a:gdLst/>
            <a:ahLst/>
            <a:cxnLst/>
            <a:rect l="l" t="t" r="r" b="b"/>
            <a:pathLst>
              <a:path w="11430000" h="1295400">
                <a:moveTo>
                  <a:pt x="76195" y="0"/>
                </a:moveTo>
                <a:lnTo>
                  <a:pt x="11353805" y="0"/>
                </a:lnTo>
                <a:cubicBezTo>
                  <a:pt x="11395858" y="0"/>
                  <a:pt x="11430000" y="34142"/>
                  <a:pt x="11430000" y="76195"/>
                </a:cubicBezTo>
                <a:lnTo>
                  <a:pt x="11430000" y="1219205"/>
                </a:lnTo>
                <a:cubicBezTo>
                  <a:pt x="11430000" y="1261286"/>
                  <a:pt x="11395886" y="1295400"/>
                  <a:pt x="11353805" y="1295400"/>
                </a:cubicBezTo>
                <a:lnTo>
                  <a:pt x="76195" y="1295400"/>
                </a:lnTo>
                <a:cubicBezTo>
                  <a:pt x="34142" y="1295400"/>
                  <a:pt x="0" y="1261258"/>
                  <a:pt x="0" y="12192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gradFill rotWithShape="1" flip="none">
            <a:gsLst>
              <a:gs pos="0">
                <a:srgbClr val="1A3A52"/>
              </a:gs>
              <a:gs pos="100000">
                <a:srgbClr val="4A6B82"/>
              </a:gs>
            </a:gsLst>
            <a:lin ang="0" scaled="1"/>
          </a:gra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19113" y="53149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6" name="Text 74"/>
          <p:cNvSpPr/>
          <p:nvPr/>
        </p:nvSpPr>
        <p:spPr>
          <a:xfrm>
            <a:off x="714375" y="5267325"/>
            <a:ext cx="1106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Decision-Gate Controlled Progression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495300" y="5610225"/>
            <a:ext cx="2714625" cy="723900"/>
          </a:xfrm>
          <a:custGeom>
            <a:avLst/>
            <a:gdLst/>
            <a:ahLst/>
            <a:cxnLst/>
            <a:rect l="l" t="t" r="r" b="b"/>
            <a:pathLst>
              <a:path w="2714625" h="723900">
                <a:moveTo>
                  <a:pt x="76198" y="0"/>
                </a:moveTo>
                <a:lnTo>
                  <a:pt x="2638427" y="0"/>
                </a:lnTo>
                <a:cubicBezTo>
                  <a:pt x="2680482" y="0"/>
                  <a:pt x="2714625" y="34143"/>
                  <a:pt x="2714625" y="76198"/>
                </a:cubicBezTo>
                <a:lnTo>
                  <a:pt x="2714625" y="647702"/>
                </a:lnTo>
                <a:cubicBezTo>
                  <a:pt x="2714625" y="689757"/>
                  <a:pt x="2680482" y="723900"/>
                  <a:pt x="26384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781175" y="56864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102840" y="96999"/>
                </a:moveTo>
                <a:cubicBezTo>
                  <a:pt x="105445" y="92832"/>
                  <a:pt x="104180" y="87325"/>
                  <a:pt x="100012" y="84683"/>
                </a:cubicBezTo>
                <a:cubicBezTo>
                  <a:pt x="95845" y="82042"/>
                  <a:pt x="90339" y="83344"/>
                  <a:pt x="87697" y="87511"/>
                </a:cubicBezTo>
                <a:lnTo>
                  <a:pt x="64852" y="124085"/>
                </a:lnTo>
                <a:lnTo>
                  <a:pt x="54806" y="110691"/>
                </a:lnTo>
                <a:cubicBezTo>
                  <a:pt x="51829" y="106747"/>
                  <a:pt x="46248" y="105928"/>
                  <a:pt x="42304" y="108905"/>
                </a:cubicBezTo>
                <a:cubicBezTo>
                  <a:pt x="38360" y="111882"/>
                  <a:pt x="37542" y="117463"/>
                  <a:pt x="40518" y="121407"/>
                </a:cubicBezTo>
                <a:lnTo>
                  <a:pt x="58378" y="145219"/>
                </a:lnTo>
                <a:cubicBezTo>
                  <a:pt x="60127" y="147563"/>
                  <a:pt x="62954" y="148903"/>
                  <a:pt x="65894" y="148791"/>
                </a:cubicBezTo>
                <a:cubicBezTo>
                  <a:pt x="68833" y="148679"/>
                  <a:pt x="71512" y="147117"/>
                  <a:pt x="73075" y="144587"/>
                </a:cubicBezTo>
                <a:lnTo>
                  <a:pt x="102840" y="96962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9" name="Text 77"/>
          <p:cNvSpPr/>
          <p:nvPr/>
        </p:nvSpPr>
        <p:spPr>
          <a:xfrm>
            <a:off x="538163" y="5915025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Review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542925" y="610552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 assessment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324225" y="5610225"/>
            <a:ext cx="2714625" cy="723900"/>
          </a:xfrm>
          <a:custGeom>
            <a:avLst/>
            <a:gdLst/>
            <a:ahLst/>
            <a:cxnLst/>
            <a:rect l="l" t="t" r="r" b="b"/>
            <a:pathLst>
              <a:path w="2714625" h="723900">
                <a:moveTo>
                  <a:pt x="76198" y="0"/>
                </a:moveTo>
                <a:lnTo>
                  <a:pt x="2638427" y="0"/>
                </a:lnTo>
                <a:cubicBezTo>
                  <a:pt x="2680482" y="0"/>
                  <a:pt x="2714625" y="34143"/>
                  <a:pt x="2714625" y="76198"/>
                </a:cubicBezTo>
                <a:lnTo>
                  <a:pt x="2714625" y="647702"/>
                </a:lnTo>
                <a:cubicBezTo>
                  <a:pt x="2714625" y="689757"/>
                  <a:pt x="2680482" y="723900"/>
                  <a:pt x="26384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4586288" y="5686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3" name="Text 81"/>
          <p:cNvSpPr/>
          <p:nvPr/>
        </p:nvSpPr>
        <p:spPr>
          <a:xfrm>
            <a:off x="3367088" y="5915025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Criteria Check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3371850" y="610552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Exit gates validation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153150" y="5610225"/>
            <a:ext cx="2714625" cy="723900"/>
          </a:xfrm>
          <a:custGeom>
            <a:avLst/>
            <a:gdLst/>
            <a:ahLst/>
            <a:cxnLst/>
            <a:rect l="l" t="t" r="r" b="b"/>
            <a:pathLst>
              <a:path w="2714625" h="723900">
                <a:moveTo>
                  <a:pt x="76198" y="0"/>
                </a:moveTo>
                <a:lnTo>
                  <a:pt x="2638427" y="0"/>
                </a:lnTo>
                <a:cubicBezTo>
                  <a:pt x="2680482" y="0"/>
                  <a:pt x="2714625" y="34143"/>
                  <a:pt x="2714625" y="76198"/>
                </a:cubicBezTo>
                <a:lnTo>
                  <a:pt x="2714625" y="647702"/>
                </a:lnTo>
                <a:cubicBezTo>
                  <a:pt x="2714625" y="689757"/>
                  <a:pt x="2680482" y="723900"/>
                  <a:pt x="26384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7415213" y="56864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7" name="Text 85"/>
          <p:cNvSpPr/>
          <p:nvPr/>
        </p:nvSpPr>
        <p:spPr>
          <a:xfrm>
            <a:off x="6196013" y="5915025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200775" y="610552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Formal go-ahead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982075" y="5610225"/>
            <a:ext cx="2714625" cy="723900"/>
          </a:xfrm>
          <a:custGeom>
            <a:avLst/>
            <a:gdLst/>
            <a:ahLst/>
            <a:cxnLst/>
            <a:rect l="l" t="t" r="r" b="b"/>
            <a:pathLst>
              <a:path w="2714625" h="723900">
                <a:moveTo>
                  <a:pt x="76198" y="0"/>
                </a:moveTo>
                <a:lnTo>
                  <a:pt x="2638427" y="0"/>
                </a:lnTo>
                <a:cubicBezTo>
                  <a:pt x="2680482" y="0"/>
                  <a:pt x="2714625" y="34143"/>
                  <a:pt x="2714625" y="76198"/>
                </a:cubicBezTo>
                <a:lnTo>
                  <a:pt x="2714625" y="647702"/>
                </a:lnTo>
                <a:cubicBezTo>
                  <a:pt x="2714625" y="689757"/>
                  <a:pt x="2680482" y="723900"/>
                  <a:pt x="26384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0232231" y="56864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8299" y="16036"/>
                </a:moveTo>
                <a:cubicBezTo>
                  <a:pt x="133983" y="11906"/>
                  <a:pt x="127620" y="10753"/>
                  <a:pt x="122151" y="13097"/>
                </a:cubicBezTo>
                <a:cubicBezTo>
                  <a:pt x="116681" y="15441"/>
                  <a:pt x="113109" y="20836"/>
                  <a:pt x="113109" y="26789"/>
                </a:cubicBezTo>
                <a:lnTo>
                  <a:pt x="113109" y="77502"/>
                </a:lnTo>
                <a:lnTo>
                  <a:pt x="49002" y="16073"/>
                </a:lnTo>
                <a:cubicBezTo>
                  <a:pt x="44686" y="11906"/>
                  <a:pt x="38323" y="10753"/>
                  <a:pt x="32854" y="13097"/>
                </a:cubicBezTo>
                <a:cubicBezTo>
                  <a:pt x="27384" y="15441"/>
                  <a:pt x="23812" y="20836"/>
                  <a:pt x="23812" y="26789"/>
                </a:cubicBezTo>
                <a:lnTo>
                  <a:pt x="23812" y="163711"/>
                </a:lnTo>
                <a:cubicBezTo>
                  <a:pt x="23812" y="169664"/>
                  <a:pt x="27384" y="175059"/>
                  <a:pt x="32854" y="177403"/>
                </a:cubicBezTo>
                <a:cubicBezTo>
                  <a:pt x="38323" y="179747"/>
                  <a:pt x="44686" y="178594"/>
                  <a:pt x="49002" y="174464"/>
                </a:cubicBezTo>
                <a:lnTo>
                  <a:pt x="113109" y="112998"/>
                </a:lnTo>
                <a:lnTo>
                  <a:pt x="113109" y="163711"/>
                </a:lnTo>
                <a:cubicBezTo>
                  <a:pt x="113109" y="169664"/>
                  <a:pt x="116681" y="175059"/>
                  <a:pt x="122151" y="177403"/>
                </a:cubicBezTo>
                <a:cubicBezTo>
                  <a:pt x="127620" y="179747"/>
                  <a:pt x="133983" y="178594"/>
                  <a:pt x="138299" y="174464"/>
                </a:cubicBezTo>
                <a:lnTo>
                  <a:pt x="209736" y="106003"/>
                </a:lnTo>
                <a:cubicBezTo>
                  <a:pt x="212675" y="103212"/>
                  <a:pt x="214313" y="99306"/>
                  <a:pt x="214313" y="95250"/>
                </a:cubicBezTo>
                <a:cubicBezTo>
                  <a:pt x="214313" y="91194"/>
                  <a:pt x="212638" y="87325"/>
                  <a:pt x="209736" y="84497"/>
                </a:cubicBezTo>
                <a:lnTo>
                  <a:pt x="138299" y="16036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91" name="Text 89"/>
          <p:cNvSpPr/>
          <p:nvPr/>
        </p:nvSpPr>
        <p:spPr>
          <a:xfrm>
            <a:off x="9024938" y="5915025"/>
            <a:ext cx="2628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Phase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9029700" y="6105525"/>
            <a:ext cx="2619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release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13648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b="1" spc="87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&amp; RISK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550015"/>
            <a:ext cx="11596150" cy="330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5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Framework &amp; Risk Mitigation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6677" y="916692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Measuring success and managing transformation risks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6677" y="1228367"/>
            <a:ext cx="5674322" cy="3721768"/>
          </a:xfrm>
          <a:custGeom>
            <a:avLst/>
            <a:gdLst/>
            <a:ahLst/>
            <a:cxnLst/>
            <a:rect l="l" t="t" r="r" b="b"/>
            <a:pathLst>
              <a:path w="5674322" h="3721768">
                <a:moveTo>
                  <a:pt x="36668" y="0"/>
                </a:moveTo>
                <a:lnTo>
                  <a:pt x="5637654" y="0"/>
                </a:lnTo>
                <a:cubicBezTo>
                  <a:pt x="5657905" y="0"/>
                  <a:pt x="5674322" y="16417"/>
                  <a:pt x="5674322" y="36668"/>
                </a:cubicBezTo>
                <a:lnTo>
                  <a:pt x="5674322" y="3648450"/>
                </a:lnTo>
                <a:cubicBezTo>
                  <a:pt x="5674322" y="3688942"/>
                  <a:pt x="5641496" y="3721768"/>
                  <a:pt x="5601003" y="3721768"/>
                </a:cubicBezTo>
                <a:lnTo>
                  <a:pt x="73319" y="3721768"/>
                </a:lnTo>
                <a:cubicBezTo>
                  <a:pt x="32826" y="3721768"/>
                  <a:pt x="0" y="3688942"/>
                  <a:pt x="0" y="3648450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5002" dist="36668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6677" y="1228367"/>
            <a:ext cx="5674322" cy="36668"/>
          </a:xfrm>
          <a:custGeom>
            <a:avLst/>
            <a:gdLst/>
            <a:ahLst/>
            <a:cxnLst/>
            <a:rect l="l" t="t" r="r" b="b"/>
            <a:pathLst>
              <a:path w="5674322" h="36668">
                <a:moveTo>
                  <a:pt x="36668" y="0"/>
                </a:moveTo>
                <a:lnTo>
                  <a:pt x="5637654" y="0"/>
                </a:lnTo>
                <a:cubicBezTo>
                  <a:pt x="5657905" y="0"/>
                  <a:pt x="5674322" y="16417"/>
                  <a:pt x="5674322" y="36668"/>
                </a:cubicBezTo>
                <a:lnTo>
                  <a:pt x="5674322" y="36668"/>
                </a:lnTo>
                <a:lnTo>
                  <a:pt x="0" y="36668"/>
                </a:ln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7" name="Shape 5"/>
          <p:cNvSpPr/>
          <p:nvPr/>
        </p:nvSpPr>
        <p:spPr>
          <a:xfrm>
            <a:off x="536265" y="1439206"/>
            <a:ext cx="165005" cy="165005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10313" y="10313"/>
                </a:moveTo>
                <a:cubicBezTo>
                  <a:pt x="16017" y="10313"/>
                  <a:pt x="20626" y="14921"/>
                  <a:pt x="20626" y="20626"/>
                </a:cubicBezTo>
                <a:lnTo>
                  <a:pt x="20626" y="128910"/>
                </a:lnTo>
                <a:cubicBezTo>
                  <a:pt x="20626" y="131746"/>
                  <a:pt x="22946" y="134066"/>
                  <a:pt x="25782" y="134066"/>
                </a:cubicBezTo>
                <a:lnTo>
                  <a:pt x="154692" y="134066"/>
                </a:lnTo>
                <a:cubicBezTo>
                  <a:pt x="160396" y="134066"/>
                  <a:pt x="165005" y="138675"/>
                  <a:pt x="165005" y="144379"/>
                </a:cubicBezTo>
                <a:cubicBezTo>
                  <a:pt x="165005" y="150083"/>
                  <a:pt x="160396" y="154692"/>
                  <a:pt x="154692" y="154692"/>
                </a:cubicBezTo>
                <a:lnTo>
                  <a:pt x="25782" y="154692"/>
                </a:lnTo>
                <a:cubicBezTo>
                  <a:pt x="11537" y="154692"/>
                  <a:pt x="0" y="143154"/>
                  <a:pt x="0" y="128910"/>
                </a:cubicBezTo>
                <a:lnTo>
                  <a:pt x="0" y="20626"/>
                </a:lnTo>
                <a:cubicBezTo>
                  <a:pt x="0" y="14921"/>
                  <a:pt x="4609" y="10313"/>
                  <a:pt x="10313" y="10313"/>
                </a:cubicBezTo>
                <a:close/>
                <a:moveTo>
                  <a:pt x="41251" y="30938"/>
                </a:moveTo>
                <a:cubicBezTo>
                  <a:pt x="41251" y="25234"/>
                  <a:pt x="45860" y="20626"/>
                  <a:pt x="51564" y="20626"/>
                </a:cubicBezTo>
                <a:lnTo>
                  <a:pt x="113441" y="20626"/>
                </a:lnTo>
                <a:cubicBezTo>
                  <a:pt x="119145" y="20626"/>
                  <a:pt x="123753" y="25234"/>
                  <a:pt x="123753" y="30938"/>
                </a:cubicBezTo>
                <a:cubicBezTo>
                  <a:pt x="123753" y="36643"/>
                  <a:pt x="119145" y="41251"/>
                  <a:pt x="113441" y="41251"/>
                </a:cubicBezTo>
                <a:lnTo>
                  <a:pt x="51564" y="41251"/>
                </a:lnTo>
                <a:cubicBezTo>
                  <a:pt x="45860" y="41251"/>
                  <a:pt x="41251" y="36643"/>
                  <a:pt x="41251" y="30938"/>
                </a:cubicBezTo>
                <a:close/>
                <a:moveTo>
                  <a:pt x="51564" y="56720"/>
                </a:moveTo>
                <a:lnTo>
                  <a:pt x="92815" y="56720"/>
                </a:lnTo>
                <a:cubicBezTo>
                  <a:pt x="98519" y="56720"/>
                  <a:pt x="103128" y="61329"/>
                  <a:pt x="103128" y="67033"/>
                </a:cubicBezTo>
                <a:cubicBezTo>
                  <a:pt x="103128" y="72737"/>
                  <a:pt x="98519" y="77346"/>
                  <a:pt x="92815" y="77346"/>
                </a:cubicBezTo>
                <a:lnTo>
                  <a:pt x="51564" y="77346"/>
                </a:lnTo>
                <a:cubicBezTo>
                  <a:pt x="45860" y="77346"/>
                  <a:pt x="41251" y="72737"/>
                  <a:pt x="41251" y="67033"/>
                </a:cubicBezTo>
                <a:cubicBezTo>
                  <a:pt x="41251" y="61329"/>
                  <a:pt x="45860" y="56720"/>
                  <a:pt x="51564" y="56720"/>
                </a:cubicBezTo>
                <a:close/>
                <a:moveTo>
                  <a:pt x="51564" y="92815"/>
                </a:moveTo>
                <a:lnTo>
                  <a:pt x="134066" y="92815"/>
                </a:lnTo>
                <a:cubicBezTo>
                  <a:pt x="139770" y="92815"/>
                  <a:pt x="144379" y="97424"/>
                  <a:pt x="144379" y="103128"/>
                </a:cubicBezTo>
                <a:cubicBezTo>
                  <a:pt x="144379" y="108832"/>
                  <a:pt x="139770" y="113441"/>
                  <a:pt x="134066" y="113441"/>
                </a:cubicBezTo>
                <a:lnTo>
                  <a:pt x="51564" y="113441"/>
                </a:lnTo>
                <a:cubicBezTo>
                  <a:pt x="45860" y="113441"/>
                  <a:pt x="41251" y="108832"/>
                  <a:pt x="41251" y="103128"/>
                </a:cubicBezTo>
                <a:cubicBezTo>
                  <a:pt x="41251" y="97424"/>
                  <a:pt x="45860" y="92815"/>
                  <a:pt x="51564" y="9281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24186" y="1393371"/>
            <a:ext cx="5252644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&amp; KPIs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1681" y="1760048"/>
            <a:ext cx="5362647" cy="953359"/>
          </a:xfrm>
          <a:custGeom>
            <a:avLst/>
            <a:gdLst/>
            <a:ahLst/>
            <a:cxnLst/>
            <a:rect l="l" t="t" r="r" b="b"/>
            <a:pathLst>
              <a:path w="5362647" h="953359">
                <a:moveTo>
                  <a:pt x="36668" y="0"/>
                </a:moveTo>
                <a:lnTo>
                  <a:pt x="5289314" y="0"/>
                </a:lnTo>
                <a:cubicBezTo>
                  <a:pt x="5329815" y="0"/>
                  <a:pt x="5362647" y="32832"/>
                  <a:pt x="5362647" y="73332"/>
                </a:cubicBezTo>
                <a:lnTo>
                  <a:pt x="5362647" y="880027"/>
                </a:lnTo>
                <a:cubicBezTo>
                  <a:pt x="5362647" y="920527"/>
                  <a:pt x="5329815" y="953359"/>
                  <a:pt x="5289314" y="953359"/>
                </a:cubicBezTo>
                <a:lnTo>
                  <a:pt x="36668" y="953359"/>
                </a:lnTo>
                <a:cubicBezTo>
                  <a:pt x="16417" y="953359"/>
                  <a:pt x="0" y="936943"/>
                  <a:pt x="0" y="916692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531681" y="1760048"/>
            <a:ext cx="36668" cy="953359"/>
          </a:xfrm>
          <a:custGeom>
            <a:avLst/>
            <a:gdLst/>
            <a:ahLst/>
            <a:cxnLst/>
            <a:rect l="l" t="t" r="r" b="b"/>
            <a:pathLst>
              <a:path w="36668" h="953359">
                <a:moveTo>
                  <a:pt x="36668" y="0"/>
                </a:moveTo>
                <a:lnTo>
                  <a:pt x="36668" y="0"/>
                </a:lnTo>
                <a:lnTo>
                  <a:pt x="36668" y="953359"/>
                </a:lnTo>
                <a:lnTo>
                  <a:pt x="36668" y="953359"/>
                </a:lnTo>
                <a:cubicBezTo>
                  <a:pt x="16417" y="953359"/>
                  <a:pt x="0" y="936943"/>
                  <a:pt x="0" y="916692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1A3A52"/>
          </a:solidFill>
          <a:ln/>
        </p:spPr>
      </p:sp>
      <p:sp>
        <p:nvSpPr>
          <p:cNvPr id="11" name="Shape 9"/>
          <p:cNvSpPr/>
          <p:nvPr/>
        </p:nvSpPr>
        <p:spPr>
          <a:xfrm>
            <a:off x="678352" y="1906719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0" y="73335"/>
                </a:moveTo>
                <a:cubicBezTo>
                  <a:pt x="0" y="32860"/>
                  <a:pt x="32860" y="0"/>
                  <a:pt x="73335" y="0"/>
                </a:cubicBezTo>
                <a:cubicBezTo>
                  <a:pt x="113810" y="0"/>
                  <a:pt x="146671" y="32860"/>
                  <a:pt x="146671" y="73335"/>
                </a:cubicBezTo>
                <a:cubicBezTo>
                  <a:pt x="146671" y="113810"/>
                  <a:pt x="113810" y="146671"/>
                  <a:pt x="73335" y="146671"/>
                </a:cubicBezTo>
                <a:cubicBezTo>
                  <a:pt x="32860" y="146671"/>
                  <a:pt x="0" y="113810"/>
                  <a:pt x="0" y="73335"/>
                </a:cubicBezTo>
                <a:close/>
                <a:moveTo>
                  <a:pt x="82502" y="27501"/>
                </a:moveTo>
                <a:cubicBezTo>
                  <a:pt x="82502" y="22441"/>
                  <a:pt x="78395" y="18334"/>
                  <a:pt x="73335" y="18334"/>
                </a:cubicBezTo>
                <a:cubicBezTo>
                  <a:pt x="68276" y="18334"/>
                  <a:pt x="64168" y="22441"/>
                  <a:pt x="64168" y="27501"/>
                </a:cubicBezTo>
                <a:cubicBezTo>
                  <a:pt x="64168" y="32560"/>
                  <a:pt x="68276" y="36668"/>
                  <a:pt x="73335" y="36668"/>
                </a:cubicBezTo>
                <a:cubicBezTo>
                  <a:pt x="78395" y="36668"/>
                  <a:pt x="82502" y="32560"/>
                  <a:pt x="82502" y="27501"/>
                </a:cubicBezTo>
                <a:close/>
                <a:moveTo>
                  <a:pt x="73335" y="119170"/>
                </a:moveTo>
                <a:cubicBezTo>
                  <a:pt x="83448" y="119170"/>
                  <a:pt x="91669" y="110948"/>
                  <a:pt x="91669" y="100836"/>
                </a:cubicBezTo>
                <a:cubicBezTo>
                  <a:pt x="91669" y="96195"/>
                  <a:pt x="89950" y="91927"/>
                  <a:pt x="87086" y="88719"/>
                </a:cubicBezTo>
                <a:lnTo>
                  <a:pt x="106995" y="48928"/>
                </a:lnTo>
                <a:cubicBezTo>
                  <a:pt x="108685" y="45519"/>
                  <a:pt x="107310" y="41394"/>
                  <a:pt x="103930" y="39704"/>
                </a:cubicBezTo>
                <a:cubicBezTo>
                  <a:pt x="100550" y="38014"/>
                  <a:pt x="96396" y="39389"/>
                  <a:pt x="94706" y="42769"/>
                </a:cubicBezTo>
                <a:lnTo>
                  <a:pt x="74796" y="82560"/>
                </a:lnTo>
                <a:cubicBezTo>
                  <a:pt x="74309" y="82531"/>
                  <a:pt x="73822" y="82502"/>
                  <a:pt x="73335" y="82502"/>
                </a:cubicBezTo>
                <a:cubicBezTo>
                  <a:pt x="63223" y="82502"/>
                  <a:pt x="55002" y="90724"/>
                  <a:pt x="55002" y="100836"/>
                </a:cubicBezTo>
                <a:cubicBezTo>
                  <a:pt x="55002" y="110948"/>
                  <a:pt x="63223" y="119170"/>
                  <a:pt x="73335" y="119170"/>
                </a:cubicBezTo>
                <a:close/>
                <a:moveTo>
                  <a:pt x="50418" y="41251"/>
                </a:moveTo>
                <a:cubicBezTo>
                  <a:pt x="50418" y="36192"/>
                  <a:pt x="46310" y="32084"/>
                  <a:pt x="41251" y="32084"/>
                </a:cubicBezTo>
                <a:cubicBezTo>
                  <a:pt x="36192" y="32084"/>
                  <a:pt x="32084" y="36192"/>
                  <a:pt x="32084" y="41251"/>
                </a:cubicBezTo>
                <a:cubicBezTo>
                  <a:pt x="32084" y="46310"/>
                  <a:pt x="36192" y="50418"/>
                  <a:pt x="41251" y="50418"/>
                </a:cubicBezTo>
                <a:cubicBezTo>
                  <a:pt x="46310" y="50418"/>
                  <a:pt x="50418" y="46310"/>
                  <a:pt x="50418" y="41251"/>
                </a:cubicBezTo>
                <a:close/>
                <a:moveTo>
                  <a:pt x="27501" y="82502"/>
                </a:moveTo>
                <a:cubicBezTo>
                  <a:pt x="32560" y="82502"/>
                  <a:pt x="36668" y="78395"/>
                  <a:pt x="36668" y="73335"/>
                </a:cubicBezTo>
                <a:cubicBezTo>
                  <a:pt x="36668" y="68276"/>
                  <a:pt x="32560" y="64168"/>
                  <a:pt x="27501" y="64168"/>
                </a:cubicBezTo>
                <a:cubicBezTo>
                  <a:pt x="22441" y="64168"/>
                  <a:pt x="18334" y="68276"/>
                  <a:pt x="18334" y="73335"/>
                </a:cubicBezTo>
                <a:cubicBezTo>
                  <a:pt x="18334" y="78395"/>
                  <a:pt x="22441" y="82502"/>
                  <a:pt x="27501" y="82502"/>
                </a:cubicBezTo>
                <a:close/>
                <a:moveTo>
                  <a:pt x="128337" y="73335"/>
                </a:moveTo>
                <a:cubicBezTo>
                  <a:pt x="128337" y="68276"/>
                  <a:pt x="124229" y="64168"/>
                  <a:pt x="119170" y="64168"/>
                </a:cubicBezTo>
                <a:cubicBezTo>
                  <a:pt x="114111" y="64168"/>
                  <a:pt x="110003" y="68276"/>
                  <a:pt x="110003" y="73335"/>
                </a:cubicBezTo>
                <a:cubicBezTo>
                  <a:pt x="110003" y="78395"/>
                  <a:pt x="114111" y="82502"/>
                  <a:pt x="119170" y="82502"/>
                </a:cubicBezTo>
                <a:cubicBezTo>
                  <a:pt x="124229" y="82502"/>
                  <a:pt x="128337" y="78395"/>
                  <a:pt x="128337" y="73335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843356" y="1870051"/>
            <a:ext cx="501430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Digital Maturity Index (DMI)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0018" y="2126725"/>
            <a:ext cx="518847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scorecard measuring MDA digital capability across 5 dimensions: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0018" y="2383398"/>
            <a:ext cx="540848" cy="220006"/>
          </a:xfrm>
          <a:custGeom>
            <a:avLst/>
            <a:gdLst/>
            <a:ahLst/>
            <a:cxnLst/>
            <a:rect l="l" t="t" r="r" b="b"/>
            <a:pathLst>
              <a:path w="540848" h="220006">
                <a:moveTo>
                  <a:pt x="36668" y="0"/>
                </a:moveTo>
                <a:lnTo>
                  <a:pt x="504180" y="0"/>
                </a:lnTo>
                <a:cubicBezTo>
                  <a:pt x="524418" y="0"/>
                  <a:pt x="540848" y="16431"/>
                  <a:pt x="540848" y="36668"/>
                </a:cubicBezTo>
                <a:lnTo>
                  <a:pt x="540848" y="183338"/>
                </a:lnTo>
                <a:cubicBezTo>
                  <a:pt x="540848" y="203589"/>
                  <a:pt x="524431" y="220006"/>
                  <a:pt x="504180" y="220006"/>
                </a:cubicBezTo>
                <a:lnTo>
                  <a:pt x="36668" y="220006"/>
                </a:lnTo>
                <a:cubicBezTo>
                  <a:pt x="16431" y="220006"/>
                  <a:pt x="0" y="203575"/>
                  <a:pt x="0" y="183338"/>
                </a:cubicBezTo>
                <a:lnTo>
                  <a:pt x="0" y="36668"/>
                </a:lnTo>
                <a:cubicBezTo>
                  <a:pt x="0" y="16431"/>
                  <a:pt x="16431" y="0"/>
                  <a:pt x="36668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0018" y="2383398"/>
            <a:ext cx="595850" cy="220006"/>
          </a:xfrm>
          <a:prstGeom prst="rect">
            <a:avLst/>
          </a:prstGeom>
          <a:noFill/>
          <a:ln/>
        </p:spPr>
        <p:txBody>
          <a:bodyPr wrap="square" lIns="73335" tIns="36668" rIns="73335" bIns="36668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73414" y="2383398"/>
            <a:ext cx="550015" cy="220006"/>
          </a:xfrm>
          <a:custGeom>
            <a:avLst/>
            <a:gdLst/>
            <a:ahLst/>
            <a:cxnLst/>
            <a:rect l="l" t="t" r="r" b="b"/>
            <a:pathLst>
              <a:path w="550015" h="220006">
                <a:moveTo>
                  <a:pt x="36668" y="0"/>
                </a:moveTo>
                <a:lnTo>
                  <a:pt x="513347" y="0"/>
                </a:lnTo>
                <a:cubicBezTo>
                  <a:pt x="533584" y="0"/>
                  <a:pt x="550015" y="16431"/>
                  <a:pt x="550015" y="36668"/>
                </a:cubicBezTo>
                <a:lnTo>
                  <a:pt x="550015" y="183338"/>
                </a:lnTo>
                <a:cubicBezTo>
                  <a:pt x="550015" y="203589"/>
                  <a:pt x="533598" y="220006"/>
                  <a:pt x="513347" y="220006"/>
                </a:cubicBezTo>
                <a:lnTo>
                  <a:pt x="36668" y="220006"/>
                </a:lnTo>
                <a:cubicBezTo>
                  <a:pt x="16431" y="220006"/>
                  <a:pt x="0" y="203575"/>
                  <a:pt x="0" y="183338"/>
                </a:cubicBezTo>
                <a:lnTo>
                  <a:pt x="0" y="36668"/>
                </a:lnTo>
                <a:cubicBezTo>
                  <a:pt x="0" y="16431"/>
                  <a:pt x="16431" y="0"/>
                  <a:pt x="36668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73414" y="2383398"/>
            <a:ext cx="605017" cy="220006"/>
          </a:xfrm>
          <a:prstGeom prst="rect">
            <a:avLst/>
          </a:prstGeom>
          <a:noFill/>
          <a:ln/>
        </p:spPr>
        <p:txBody>
          <a:bodyPr wrap="square" lIns="73335" tIns="36668" rIns="73335" bIns="36668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92754" y="2383398"/>
            <a:ext cx="696686" cy="220006"/>
          </a:xfrm>
          <a:custGeom>
            <a:avLst/>
            <a:gdLst/>
            <a:ahLst/>
            <a:cxnLst/>
            <a:rect l="l" t="t" r="r" b="b"/>
            <a:pathLst>
              <a:path w="696686" h="220006">
                <a:moveTo>
                  <a:pt x="36668" y="0"/>
                </a:moveTo>
                <a:lnTo>
                  <a:pt x="660017" y="0"/>
                </a:lnTo>
                <a:cubicBezTo>
                  <a:pt x="680255" y="0"/>
                  <a:pt x="696686" y="16431"/>
                  <a:pt x="696686" y="36668"/>
                </a:cubicBezTo>
                <a:lnTo>
                  <a:pt x="696686" y="183338"/>
                </a:lnTo>
                <a:cubicBezTo>
                  <a:pt x="696686" y="203589"/>
                  <a:pt x="680269" y="220006"/>
                  <a:pt x="660017" y="220006"/>
                </a:cubicBezTo>
                <a:lnTo>
                  <a:pt x="36668" y="220006"/>
                </a:lnTo>
                <a:cubicBezTo>
                  <a:pt x="16431" y="220006"/>
                  <a:pt x="0" y="203575"/>
                  <a:pt x="0" y="183338"/>
                </a:cubicBezTo>
                <a:lnTo>
                  <a:pt x="0" y="36668"/>
                </a:lnTo>
                <a:cubicBezTo>
                  <a:pt x="0" y="16431"/>
                  <a:pt x="16431" y="0"/>
                  <a:pt x="36668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892754" y="2383398"/>
            <a:ext cx="751687" cy="220006"/>
          </a:xfrm>
          <a:prstGeom prst="rect">
            <a:avLst/>
          </a:prstGeom>
          <a:noFill/>
          <a:ln/>
        </p:spPr>
        <p:txBody>
          <a:bodyPr wrap="square" lIns="73335" tIns="36668" rIns="73335" bIns="36668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665783" y="2383398"/>
            <a:ext cx="366677" cy="220006"/>
          </a:xfrm>
          <a:custGeom>
            <a:avLst/>
            <a:gdLst/>
            <a:ahLst/>
            <a:cxnLst/>
            <a:rect l="l" t="t" r="r" b="b"/>
            <a:pathLst>
              <a:path w="366677" h="220006">
                <a:moveTo>
                  <a:pt x="36668" y="0"/>
                </a:moveTo>
                <a:lnTo>
                  <a:pt x="330008" y="0"/>
                </a:lnTo>
                <a:cubicBezTo>
                  <a:pt x="350246" y="0"/>
                  <a:pt x="366677" y="16431"/>
                  <a:pt x="366677" y="36668"/>
                </a:cubicBezTo>
                <a:lnTo>
                  <a:pt x="366677" y="183338"/>
                </a:lnTo>
                <a:cubicBezTo>
                  <a:pt x="366677" y="203589"/>
                  <a:pt x="350260" y="220006"/>
                  <a:pt x="330008" y="220006"/>
                </a:cubicBezTo>
                <a:lnTo>
                  <a:pt x="36668" y="220006"/>
                </a:lnTo>
                <a:cubicBezTo>
                  <a:pt x="16431" y="220006"/>
                  <a:pt x="0" y="203575"/>
                  <a:pt x="0" y="183338"/>
                </a:cubicBezTo>
                <a:lnTo>
                  <a:pt x="0" y="36668"/>
                </a:lnTo>
                <a:cubicBezTo>
                  <a:pt x="0" y="16431"/>
                  <a:pt x="16431" y="0"/>
                  <a:pt x="36668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665783" y="2383398"/>
            <a:ext cx="421678" cy="220006"/>
          </a:xfrm>
          <a:prstGeom prst="rect">
            <a:avLst/>
          </a:prstGeom>
          <a:noFill/>
          <a:ln/>
        </p:spPr>
        <p:txBody>
          <a:bodyPr wrap="square" lIns="73335" tIns="36668" rIns="73335" bIns="36668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07227" y="2383398"/>
            <a:ext cx="724186" cy="220006"/>
          </a:xfrm>
          <a:custGeom>
            <a:avLst/>
            <a:gdLst/>
            <a:ahLst/>
            <a:cxnLst/>
            <a:rect l="l" t="t" r="r" b="b"/>
            <a:pathLst>
              <a:path w="724186" h="220006">
                <a:moveTo>
                  <a:pt x="36668" y="0"/>
                </a:moveTo>
                <a:lnTo>
                  <a:pt x="687518" y="0"/>
                </a:lnTo>
                <a:cubicBezTo>
                  <a:pt x="707756" y="0"/>
                  <a:pt x="724186" y="16431"/>
                  <a:pt x="724186" y="36668"/>
                </a:cubicBezTo>
                <a:lnTo>
                  <a:pt x="724186" y="183338"/>
                </a:lnTo>
                <a:cubicBezTo>
                  <a:pt x="724186" y="203589"/>
                  <a:pt x="707769" y="220006"/>
                  <a:pt x="687518" y="220006"/>
                </a:cubicBezTo>
                <a:lnTo>
                  <a:pt x="36668" y="220006"/>
                </a:lnTo>
                <a:cubicBezTo>
                  <a:pt x="16431" y="220006"/>
                  <a:pt x="0" y="203575"/>
                  <a:pt x="0" y="183338"/>
                </a:cubicBezTo>
                <a:lnTo>
                  <a:pt x="0" y="36668"/>
                </a:lnTo>
                <a:cubicBezTo>
                  <a:pt x="0" y="16431"/>
                  <a:pt x="16431" y="0"/>
                  <a:pt x="36668" y="0"/>
                </a:cubicBezTo>
                <a:close/>
              </a:path>
            </a:pathLst>
          </a:custGeom>
          <a:solidFill>
            <a:srgbClr val="1A3A52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107227" y="2383398"/>
            <a:ext cx="779188" cy="220006"/>
          </a:xfrm>
          <a:prstGeom prst="rect">
            <a:avLst/>
          </a:prstGeom>
          <a:noFill/>
          <a:ln/>
        </p:spPr>
        <p:txBody>
          <a:bodyPr wrap="square" lIns="73335" tIns="36668" rIns="73335" bIns="36668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1681" y="2786743"/>
            <a:ext cx="5362647" cy="1283368"/>
          </a:xfrm>
          <a:custGeom>
            <a:avLst/>
            <a:gdLst/>
            <a:ahLst/>
            <a:cxnLst/>
            <a:rect l="l" t="t" r="r" b="b"/>
            <a:pathLst>
              <a:path w="5362647" h="1283368">
                <a:moveTo>
                  <a:pt x="36668" y="0"/>
                </a:moveTo>
                <a:lnTo>
                  <a:pt x="5289315" y="0"/>
                </a:lnTo>
                <a:cubicBezTo>
                  <a:pt x="5329815" y="0"/>
                  <a:pt x="5362647" y="32832"/>
                  <a:pt x="5362647" y="73332"/>
                </a:cubicBezTo>
                <a:lnTo>
                  <a:pt x="5362647" y="1210037"/>
                </a:lnTo>
                <a:cubicBezTo>
                  <a:pt x="5362647" y="1250537"/>
                  <a:pt x="5329815" y="1283368"/>
                  <a:pt x="5289315" y="1283368"/>
                </a:cubicBezTo>
                <a:lnTo>
                  <a:pt x="36668" y="1283368"/>
                </a:lnTo>
                <a:cubicBezTo>
                  <a:pt x="16417" y="1283368"/>
                  <a:pt x="0" y="1266952"/>
                  <a:pt x="0" y="1246701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31681" y="2786743"/>
            <a:ext cx="36668" cy="1283368"/>
          </a:xfrm>
          <a:custGeom>
            <a:avLst/>
            <a:gdLst/>
            <a:ahLst/>
            <a:cxnLst/>
            <a:rect l="l" t="t" r="r" b="b"/>
            <a:pathLst>
              <a:path w="36668" h="1283368">
                <a:moveTo>
                  <a:pt x="36668" y="0"/>
                </a:moveTo>
                <a:lnTo>
                  <a:pt x="36668" y="0"/>
                </a:lnTo>
                <a:lnTo>
                  <a:pt x="36668" y="1283368"/>
                </a:lnTo>
                <a:lnTo>
                  <a:pt x="36668" y="1283368"/>
                </a:lnTo>
                <a:cubicBezTo>
                  <a:pt x="16417" y="1283368"/>
                  <a:pt x="0" y="1266952"/>
                  <a:pt x="0" y="1246701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4A6B82"/>
          </a:solidFill>
          <a:ln/>
        </p:spPr>
      </p:sp>
      <p:sp>
        <p:nvSpPr>
          <p:cNvPr id="26" name="Shape 24"/>
          <p:cNvSpPr/>
          <p:nvPr/>
        </p:nvSpPr>
        <p:spPr>
          <a:xfrm>
            <a:off x="660018" y="2933414"/>
            <a:ext cx="183338" cy="146671"/>
          </a:xfrm>
          <a:custGeom>
            <a:avLst/>
            <a:gdLst/>
            <a:ahLst/>
            <a:cxnLst/>
            <a:rect l="l" t="t" r="r" b="b"/>
            <a:pathLst>
              <a:path w="183338" h="146671">
                <a:moveTo>
                  <a:pt x="119141" y="60301"/>
                </a:moveTo>
                <a:cubicBezTo>
                  <a:pt x="122636" y="59356"/>
                  <a:pt x="126303" y="61017"/>
                  <a:pt x="127878" y="64254"/>
                </a:cubicBezTo>
                <a:lnTo>
                  <a:pt x="133207" y="75025"/>
                </a:lnTo>
                <a:cubicBezTo>
                  <a:pt x="136157" y="75427"/>
                  <a:pt x="139051" y="76229"/>
                  <a:pt x="141772" y="77346"/>
                </a:cubicBezTo>
                <a:lnTo>
                  <a:pt x="151798" y="70671"/>
                </a:lnTo>
                <a:cubicBezTo>
                  <a:pt x="154806" y="68666"/>
                  <a:pt x="158788" y="69067"/>
                  <a:pt x="161338" y="71617"/>
                </a:cubicBezTo>
                <a:lnTo>
                  <a:pt x="166838" y="77117"/>
                </a:lnTo>
                <a:cubicBezTo>
                  <a:pt x="169387" y="79666"/>
                  <a:pt x="169788" y="83677"/>
                  <a:pt x="167783" y="86656"/>
                </a:cubicBezTo>
                <a:lnTo>
                  <a:pt x="161109" y="96654"/>
                </a:lnTo>
                <a:cubicBezTo>
                  <a:pt x="161653" y="98000"/>
                  <a:pt x="162140" y="99404"/>
                  <a:pt x="162541" y="100865"/>
                </a:cubicBezTo>
                <a:cubicBezTo>
                  <a:pt x="162942" y="102326"/>
                  <a:pt x="163200" y="103758"/>
                  <a:pt x="163400" y="105219"/>
                </a:cubicBezTo>
                <a:lnTo>
                  <a:pt x="174200" y="110547"/>
                </a:lnTo>
                <a:cubicBezTo>
                  <a:pt x="177437" y="112152"/>
                  <a:pt x="179099" y="115818"/>
                  <a:pt x="178153" y="119285"/>
                </a:cubicBezTo>
                <a:lnTo>
                  <a:pt x="176148" y="126790"/>
                </a:lnTo>
                <a:cubicBezTo>
                  <a:pt x="175203" y="130256"/>
                  <a:pt x="171966" y="132605"/>
                  <a:pt x="168356" y="132376"/>
                </a:cubicBezTo>
                <a:lnTo>
                  <a:pt x="156325" y="131603"/>
                </a:lnTo>
                <a:cubicBezTo>
                  <a:pt x="154520" y="133923"/>
                  <a:pt x="152429" y="136071"/>
                  <a:pt x="150051" y="137905"/>
                </a:cubicBezTo>
                <a:lnTo>
                  <a:pt x="150824" y="149908"/>
                </a:lnTo>
                <a:cubicBezTo>
                  <a:pt x="151054" y="153517"/>
                  <a:pt x="148705" y="156783"/>
                  <a:pt x="145238" y="157700"/>
                </a:cubicBezTo>
                <a:lnTo>
                  <a:pt x="137733" y="159705"/>
                </a:lnTo>
                <a:cubicBezTo>
                  <a:pt x="134238" y="160650"/>
                  <a:pt x="130600" y="158989"/>
                  <a:pt x="128996" y="155752"/>
                </a:cubicBezTo>
                <a:lnTo>
                  <a:pt x="123667" y="144981"/>
                </a:lnTo>
                <a:cubicBezTo>
                  <a:pt x="120717" y="144579"/>
                  <a:pt x="117824" y="143777"/>
                  <a:pt x="115102" y="142660"/>
                </a:cubicBezTo>
                <a:lnTo>
                  <a:pt x="105076" y="149335"/>
                </a:lnTo>
                <a:cubicBezTo>
                  <a:pt x="102068" y="151340"/>
                  <a:pt x="98086" y="150939"/>
                  <a:pt x="95536" y="148389"/>
                </a:cubicBezTo>
                <a:lnTo>
                  <a:pt x="90036" y="142889"/>
                </a:lnTo>
                <a:cubicBezTo>
                  <a:pt x="87487" y="140340"/>
                  <a:pt x="87086" y="136358"/>
                  <a:pt x="89091" y="133350"/>
                </a:cubicBezTo>
                <a:lnTo>
                  <a:pt x="95766" y="123324"/>
                </a:lnTo>
                <a:cubicBezTo>
                  <a:pt x="95221" y="121977"/>
                  <a:pt x="94734" y="120574"/>
                  <a:pt x="94333" y="119113"/>
                </a:cubicBezTo>
                <a:cubicBezTo>
                  <a:pt x="93932" y="117652"/>
                  <a:pt x="93674" y="116191"/>
                  <a:pt x="93474" y="114758"/>
                </a:cubicBezTo>
                <a:lnTo>
                  <a:pt x="82674" y="109430"/>
                </a:lnTo>
                <a:cubicBezTo>
                  <a:pt x="79437" y="107826"/>
                  <a:pt x="77804" y="104159"/>
                  <a:pt x="78721" y="100693"/>
                </a:cubicBezTo>
                <a:lnTo>
                  <a:pt x="80726" y="93187"/>
                </a:lnTo>
                <a:cubicBezTo>
                  <a:pt x="81672" y="89721"/>
                  <a:pt x="84909" y="87372"/>
                  <a:pt x="88518" y="87601"/>
                </a:cubicBezTo>
                <a:lnTo>
                  <a:pt x="100521" y="88375"/>
                </a:lnTo>
                <a:cubicBezTo>
                  <a:pt x="102326" y="86054"/>
                  <a:pt x="104417" y="83906"/>
                  <a:pt x="106795" y="82073"/>
                </a:cubicBezTo>
                <a:lnTo>
                  <a:pt x="106021" y="70098"/>
                </a:lnTo>
                <a:cubicBezTo>
                  <a:pt x="105792" y="66489"/>
                  <a:pt x="108141" y="63223"/>
                  <a:pt x="111607" y="62306"/>
                </a:cubicBezTo>
                <a:lnTo>
                  <a:pt x="119113" y="60301"/>
                </a:lnTo>
                <a:close/>
                <a:moveTo>
                  <a:pt x="128451" y="97398"/>
                </a:moveTo>
                <a:cubicBezTo>
                  <a:pt x="121495" y="97406"/>
                  <a:pt x="115853" y="103061"/>
                  <a:pt x="115861" y="110017"/>
                </a:cubicBezTo>
                <a:cubicBezTo>
                  <a:pt x="115869" y="116974"/>
                  <a:pt x="121523" y="122615"/>
                  <a:pt x="128480" y="122608"/>
                </a:cubicBezTo>
                <a:cubicBezTo>
                  <a:pt x="135437" y="122600"/>
                  <a:pt x="141078" y="116945"/>
                  <a:pt x="141070" y="109989"/>
                </a:cubicBezTo>
                <a:cubicBezTo>
                  <a:pt x="141062" y="103032"/>
                  <a:pt x="135408" y="97391"/>
                  <a:pt x="128451" y="97398"/>
                </a:cubicBezTo>
                <a:close/>
                <a:moveTo>
                  <a:pt x="64426" y="-13034"/>
                </a:moveTo>
                <a:lnTo>
                  <a:pt x="71932" y="-11029"/>
                </a:lnTo>
                <a:cubicBezTo>
                  <a:pt x="75398" y="-10084"/>
                  <a:pt x="77747" y="-6818"/>
                  <a:pt x="77518" y="-3237"/>
                </a:cubicBezTo>
                <a:lnTo>
                  <a:pt x="76744" y="8737"/>
                </a:lnTo>
                <a:cubicBezTo>
                  <a:pt x="79122" y="10571"/>
                  <a:pt x="81213" y="12690"/>
                  <a:pt x="83018" y="15039"/>
                </a:cubicBezTo>
                <a:lnTo>
                  <a:pt x="95049" y="14266"/>
                </a:lnTo>
                <a:cubicBezTo>
                  <a:pt x="98630" y="14037"/>
                  <a:pt x="101896" y="16386"/>
                  <a:pt x="102841" y="19852"/>
                </a:cubicBezTo>
                <a:lnTo>
                  <a:pt x="104847" y="27358"/>
                </a:lnTo>
                <a:cubicBezTo>
                  <a:pt x="105763" y="30824"/>
                  <a:pt x="104130" y="34491"/>
                  <a:pt x="100893" y="36095"/>
                </a:cubicBezTo>
                <a:lnTo>
                  <a:pt x="90094" y="41423"/>
                </a:lnTo>
                <a:cubicBezTo>
                  <a:pt x="89893" y="42884"/>
                  <a:pt x="89607" y="44345"/>
                  <a:pt x="89234" y="45777"/>
                </a:cubicBezTo>
                <a:cubicBezTo>
                  <a:pt x="88862" y="47210"/>
                  <a:pt x="88346" y="48642"/>
                  <a:pt x="87802" y="49988"/>
                </a:cubicBezTo>
                <a:lnTo>
                  <a:pt x="94477" y="60015"/>
                </a:lnTo>
                <a:cubicBezTo>
                  <a:pt x="96482" y="63023"/>
                  <a:pt x="96081" y="67004"/>
                  <a:pt x="93531" y="69554"/>
                </a:cubicBezTo>
                <a:lnTo>
                  <a:pt x="88031" y="75054"/>
                </a:lnTo>
                <a:cubicBezTo>
                  <a:pt x="85482" y="77604"/>
                  <a:pt x="81500" y="78005"/>
                  <a:pt x="78492" y="75999"/>
                </a:cubicBezTo>
                <a:lnTo>
                  <a:pt x="68465" y="69325"/>
                </a:lnTo>
                <a:cubicBezTo>
                  <a:pt x="65744" y="70442"/>
                  <a:pt x="62851" y="71244"/>
                  <a:pt x="59900" y="71645"/>
                </a:cubicBezTo>
                <a:lnTo>
                  <a:pt x="54572" y="82416"/>
                </a:lnTo>
                <a:cubicBezTo>
                  <a:pt x="52968" y="85653"/>
                  <a:pt x="49301" y="87286"/>
                  <a:pt x="45835" y="86370"/>
                </a:cubicBezTo>
                <a:lnTo>
                  <a:pt x="38329" y="84364"/>
                </a:lnTo>
                <a:cubicBezTo>
                  <a:pt x="34834" y="83419"/>
                  <a:pt x="32514" y="80153"/>
                  <a:pt x="32743" y="76572"/>
                </a:cubicBezTo>
                <a:lnTo>
                  <a:pt x="33517" y="64569"/>
                </a:lnTo>
                <a:cubicBezTo>
                  <a:pt x="31139" y="62736"/>
                  <a:pt x="29048" y="60616"/>
                  <a:pt x="27243" y="58267"/>
                </a:cubicBezTo>
                <a:lnTo>
                  <a:pt x="15211" y="59041"/>
                </a:lnTo>
                <a:cubicBezTo>
                  <a:pt x="11631" y="59270"/>
                  <a:pt x="8365" y="56921"/>
                  <a:pt x="7419" y="53455"/>
                </a:cubicBezTo>
                <a:lnTo>
                  <a:pt x="5414" y="45949"/>
                </a:lnTo>
                <a:cubicBezTo>
                  <a:pt x="4498" y="42483"/>
                  <a:pt x="6130" y="38816"/>
                  <a:pt x="9367" y="37212"/>
                </a:cubicBezTo>
                <a:lnTo>
                  <a:pt x="20167" y="31884"/>
                </a:lnTo>
                <a:cubicBezTo>
                  <a:pt x="20368" y="30423"/>
                  <a:pt x="20654" y="28990"/>
                  <a:pt x="21027" y="27529"/>
                </a:cubicBezTo>
                <a:cubicBezTo>
                  <a:pt x="21428" y="26068"/>
                  <a:pt x="21886" y="24665"/>
                  <a:pt x="22459" y="23318"/>
                </a:cubicBezTo>
                <a:lnTo>
                  <a:pt x="15784" y="13321"/>
                </a:lnTo>
                <a:cubicBezTo>
                  <a:pt x="13779" y="10313"/>
                  <a:pt x="14180" y="6331"/>
                  <a:pt x="16730" y="3781"/>
                </a:cubicBezTo>
                <a:lnTo>
                  <a:pt x="22230" y="-1719"/>
                </a:lnTo>
                <a:cubicBezTo>
                  <a:pt x="24779" y="-4268"/>
                  <a:pt x="28761" y="-4669"/>
                  <a:pt x="31769" y="-2664"/>
                </a:cubicBezTo>
                <a:lnTo>
                  <a:pt x="41795" y="4011"/>
                </a:lnTo>
                <a:cubicBezTo>
                  <a:pt x="44517" y="2893"/>
                  <a:pt x="47410" y="2091"/>
                  <a:pt x="50361" y="1690"/>
                </a:cubicBezTo>
                <a:lnTo>
                  <a:pt x="55689" y="-9081"/>
                </a:lnTo>
                <a:cubicBezTo>
                  <a:pt x="57293" y="-12318"/>
                  <a:pt x="60931" y="-13951"/>
                  <a:pt x="64426" y="-13034"/>
                </a:cubicBezTo>
                <a:close/>
                <a:moveTo>
                  <a:pt x="55116" y="24063"/>
                </a:moveTo>
                <a:cubicBezTo>
                  <a:pt x="48159" y="24063"/>
                  <a:pt x="42512" y="29711"/>
                  <a:pt x="42512" y="36668"/>
                </a:cubicBezTo>
                <a:cubicBezTo>
                  <a:pt x="42512" y="43624"/>
                  <a:pt x="48159" y="49272"/>
                  <a:pt x="55116" y="49272"/>
                </a:cubicBezTo>
                <a:cubicBezTo>
                  <a:pt x="62073" y="49272"/>
                  <a:pt x="67721" y="43624"/>
                  <a:pt x="67721" y="36668"/>
                </a:cubicBezTo>
                <a:cubicBezTo>
                  <a:pt x="67721" y="29711"/>
                  <a:pt x="62073" y="24063"/>
                  <a:pt x="55116" y="24063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843356" y="2896746"/>
            <a:ext cx="501430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Performance Indicators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0018" y="3153420"/>
            <a:ext cx="25850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Time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0018" y="3336758"/>
            <a:ext cx="25850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80% reduction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58266" y="3153420"/>
            <a:ext cx="25850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Completion Rate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58266" y="3336758"/>
            <a:ext cx="25850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95% first-time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0018" y="3593432"/>
            <a:ext cx="25850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Satisfaction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0018" y="3776770"/>
            <a:ext cx="25850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4.5/5.0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58266" y="3593432"/>
            <a:ext cx="25850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58266" y="3776770"/>
            <a:ext cx="25850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99.5% uptime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1681" y="4143447"/>
            <a:ext cx="5362647" cy="660018"/>
          </a:xfrm>
          <a:custGeom>
            <a:avLst/>
            <a:gdLst/>
            <a:ahLst/>
            <a:cxnLst/>
            <a:rect l="l" t="t" r="r" b="b"/>
            <a:pathLst>
              <a:path w="5362647" h="660018">
                <a:moveTo>
                  <a:pt x="36668" y="0"/>
                </a:moveTo>
                <a:lnTo>
                  <a:pt x="5289312" y="0"/>
                </a:lnTo>
                <a:cubicBezTo>
                  <a:pt x="5329814" y="0"/>
                  <a:pt x="5362647" y="32833"/>
                  <a:pt x="5362647" y="73335"/>
                </a:cubicBezTo>
                <a:lnTo>
                  <a:pt x="5362647" y="586683"/>
                </a:lnTo>
                <a:cubicBezTo>
                  <a:pt x="5362647" y="627185"/>
                  <a:pt x="5329814" y="660018"/>
                  <a:pt x="5289312" y="660018"/>
                </a:cubicBezTo>
                <a:lnTo>
                  <a:pt x="36668" y="660018"/>
                </a:lnTo>
                <a:cubicBezTo>
                  <a:pt x="16430" y="660018"/>
                  <a:pt x="0" y="643588"/>
                  <a:pt x="0" y="623350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Shape 35"/>
          <p:cNvSpPr/>
          <p:nvPr/>
        </p:nvSpPr>
        <p:spPr>
          <a:xfrm>
            <a:off x="531681" y="4143447"/>
            <a:ext cx="36668" cy="660018"/>
          </a:xfrm>
          <a:custGeom>
            <a:avLst/>
            <a:gdLst/>
            <a:ahLst/>
            <a:cxnLst/>
            <a:rect l="l" t="t" r="r" b="b"/>
            <a:pathLst>
              <a:path w="36668" h="660018">
                <a:moveTo>
                  <a:pt x="36668" y="0"/>
                </a:moveTo>
                <a:lnTo>
                  <a:pt x="36668" y="0"/>
                </a:lnTo>
                <a:lnTo>
                  <a:pt x="36668" y="660018"/>
                </a:lnTo>
                <a:lnTo>
                  <a:pt x="36668" y="660018"/>
                </a:lnTo>
                <a:cubicBezTo>
                  <a:pt x="16430" y="660018"/>
                  <a:pt x="0" y="643588"/>
                  <a:pt x="0" y="623350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8" name="Shape 36"/>
          <p:cNvSpPr/>
          <p:nvPr/>
        </p:nvSpPr>
        <p:spPr>
          <a:xfrm>
            <a:off x="678352" y="4290117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0"/>
                </a:moveTo>
                <a:cubicBezTo>
                  <a:pt x="74653" y="0"/>
                  <a:pt x="75971" y="286"/>
                  <a:pt x="77174" y="831"/>
                </a:cubicBezTo>
                <a:lnTo>
                  <a:pt x="131144" y="23719"/>
                </a:lnTo>
                <a:cubicBezTo>
                  <a:pt x="137446" y="26384"/>
                  <a:pt x="142145" y="32600"/>
                  <a:pt x="142116" y="40105"/>
                </a:cubicBezTo>
                <a:cubicBezTo>
                  <a:pt x="141973" y="68523"/>
                  <a:pt x="130285" y="120516"/>
                  <a:pt x="80927" y="144150"/>
                </a:cubicBezTo>
                <a:cubicBezTo>
                  <a:pt x="76143" y="146442"/>
                  <a:pt x="70585" y="146442"/>
                  <a:pt x="65801" y="144150"/>
                </a:cubicBezTo>
                <a:cubicBezTo>
                  <a:pt x="16415" y="120516"/>
                  <a:pt x="4755" y="68523"/>
                  <a:pt x="4612" y="40105"/>
                </a:cubicBezTo>
                <a:cubicBezTo>
                  <a:pt x="4583" y="32600"/>
                  <a:pt x="9282" y="26384"/>
                  <a:pt x="15584" y="23719"/>
                </a:cubicBezTo>
                <a:lnTo>
                  <a:pt x="69525" y="831"/>
                </a:lnTo>
                <a:cubicBezTo>
                  <a:pt x="70728" y="286"/>
                  <a:pt x="72018" y="0"/>
                  <a:pt x="73335" y="0"/>
                </a:cubicBezTo>
                <a:close/>
                <a:moveTo>
                  <a:pt x="73335" y="19136"/>
                </a:moveTo>
                <a:lnTo>
                  <a:pt x="73335" y="127449"/>
                </a:lnTo>
                <a:cubicBezTo>
                  <a:pt x="112868" y="108313"/>
                  <a:pt x="123496" y="65916"/>
                  <a:pt x="123753" y="40535"/>
                </a:cubicBezTo>
                <a:lnTo>
                  <a:pt x="73335" y="19165"/>
                </a:lnTo>
                <a:lnTo>
                  <a:pt x="73335" y="19165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843356" y="4253450"/>
            <a:ext cx="501430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Compliance Tracking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0018" y="4510123"/>
            <a:ext cx="518847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dashboard monitoring standards adherence and interoperability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49927" y="1228367"/>
            <a:ext cx="5674322" cy="4565125"/>
          </a:xfrm>
          <a:custGeom>
            <a:avLst/>
            <a:gdLst/>
            <a:ahLst/>
            <a:cxnLst/>
            <a:rect l="l" t="t" r="r" b="b"/>
            <a:pathLst>
              <a:path w="5674322" h="4565125">
                <a:moveTo>
                  <a:pt x="36668" y="0"/>
                </a:moveTo>
                <a:lnTo>
                  <a:pt x="5637654" y="0"/>
                </a:lnTo>
                <a:cubicBezTo>
                  <a:pt x="5657905" y="0"/>
                  <a:pt x="5674322" y="16417"/>
                  <a:pt x="5674322" y="36668"/>
                </a:cubicBezTo>
                <a:lnTo>
                  <a:pt x="5674322" y="4491809"/>
                </a:lnTo>
                <a:cubicBezTo>
                  <a:pt x="5674322" y="4532300"/>
                  <a:pt x="5641497" y="4565125"/>
                  <a:pt x="5601006" y="4565125"/>
                </a:cubicBezTo>
                <a:lnTo>
                  <a:pt x="73316" y="4565125"/>
                </a:lnTo>
                <a:cubicBezTo>
                  <a:pt x="32852" y="4565125"/>
                  <a:pt x="0" y="4532273"/>
                  <a:pt x="0" y="4491809"/>
                </a:cubicBezTo>
                <a:lnTo>
                  <a:pt x="0" y="36668"/>
                </a:lnTo>
                <a:cubicBezTo>
                  <a:pt x="0" y="16417"/>
                  <a:pt x="16417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5002" dist="36668" dir="540000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49927" y="1228367"/>
            <a:ext cx="5674322" cy="36668"/>
          </a:xfrm>
          <a:custGeom>
            <a:avLst/>
            <a:gdLst/>
            <a:ahLst/>
            <a:cxnLst/>
            <a:rect l="l" t="t" r="r" b="b"/>
            <a:pathLst>
              <a:path w="5674322" h="36668">
                <a:moveTo>
                  <a:pt x="36668" y="0"/>
                </a:moveTo>
                <a:lnTo>
                  <a:pt x="5637654" y="0"/>
                </a:lnTo>
                <a:cubicBezTo>
                  <a:pt x="5657905" y="0"/>
                  <a:pt x="5674322" y="16417"/>
                  <a:pt x="5674322" y="36668"/>
                </a:cubicBezTo>
                <a:lnTo>
                  <a:pt x="5674322" y="36668"/>
                </a:lnTo>
                <a:lnTo>
                  <a:pt x="0" y="36668"/>
                </a:ln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3" name="Shape 41"/>
          <p:cNvSpPr/>
          <p:nvPr/>
        </p:nvSpPr>
        <p:spPr>
          <a:xfrm>
            <a:off x="6319515" y="1439206"/>
            <a:ext cx="165005" cy="165005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82502" y="0"/>
                </a:moveTo>
                <a:cubicBezTo>
                  <a:pt x="87240" y="0"/>
                  <a:pt x="91590" y="2610"/>
                  <a:pt x="93846" y="6768"/>
                </a:cubicBezTo>
                <a:lnTo>
                  <a:pt x="163458" y="135678"/>
                </a:lnTo>
                <a:cubicBezTo>
                  <a:pt x="165617" y="139674"/>
                  <a:pt x="165520" y="144508"/>
                  <a:pt x="163200" y="148407"/>
                </a:cubicBezTo>
                <a:cubicBezTo>
                  <a:pt x="160879" y="152307"/>
                  <a:pt x="156658" y="154692"/>
                  <a:pt x="152114" y="154692"/>
                </a:cubicBezTo>
                <a:lnTo>
                  <a:pt x="12891" y="154692"/>
                </a:lnTo>
                <a:cubicBezTo>
                  <a:pt x="8347" y="154692"/>
                  <a:pt x="4157" y="152307"/>
                  <a:pt x="1805" y="148407"/>
                </a:cubicBezTo>
                <a:cubicBezTo>
                  <a:pt x="-548" y="144508"/>
                  <a:pt x="-612" y="139674"/>
                  <a:pt x="1547" y="135678"/>
                </a:cubicBezTo>
                <a:lnTo>
                  <a:pt x="71158" y="6768"/>
                </a:lnTo>
                <a:cubicBezTo>
                  <a:pt x="73414" y="2610"/>
                  <a:pt x="77765" y="0"/>
                  <a:pt x="82502" y="0"/>
                </a:cubicBezTo>
                <a:close/>
                <a:moveTo>
                  <a:pt x="82502" y="54142"/>
                </a:moveTo>
                <a:cubicBezTo>
                  <a:pt x="78216" y="54142"/>
                  <a:pt x="74768" y="57590"/>
                  <a:pt x="74768" y="61877"/>
                </a:cubicBezTo>
                <a:lnTo>
                  <a:pt x="74768" y="97971"/>
                </a:lnTo>
                <a:cubicBezTo>
                  <a:pt x="74768" y="102258"/>
                  <a:pt x="78216" y="105706"/>
                  <a:pt x="82502" y="105706"/>
                </a:cubicBezTo>
                <a:cubicBezTo>
                  <a:pt x="86789" y="105706"/>
                  <a:pt x="90237" y="102258"/>
                  <a:pt x="90237" y="97971"/>
                </a:cubicBezTo>
                <a:lnTo>
                  <a:pt x="90237" y="61877"/>
                </a:lnTo>
                <a:cubicBezTo>
                  <a:pt x="90237" y="57590"/>
                  <a:pt x="86789" y="54142"/>
                  <a:pt x="82502" y="54142"/>
                </a:cubicBezTo>
                <a:close/>
                <a:moveTo>
                  <a:pt x="91107" y="123753"/>
                </a:moveTo>
                <a:cubicBezTo>
                  <a:pt x="91303" y="120559"/>
                  <a:pt x="89710" y="117521"/>
                  <a:pt x="86972" y="115864"/>
                </a:cubicBezTo>
                <a:cubicBezTo>
                  <a:pt x="84234" y="114208"/>
                  <a:pt x="80803" y="114208"/>
                  <a:pt x="78065" y="115864"/>
                </a:cubicBezTo>
                <a:cubicBezTo>
                  <a:pt x="75327" y="117521"/>
                  <a:pt x="73734" y="120559"/>
                  <a:pt x="73930" y="123753"/>
                </a:cubicBezTo>
                <a:cubicBezTo>
                  <a:pt x="73734" y="126947"/>
                  <a:pt x="75327" y="129986"/>
                  <a:pt x="78065" y="131642"/>
                </a:cubicBezTo>
                <a:cubicBezTo>
                  <a:pt x="80803" y="133299"/>
                  <a:pt x="84234" y="133299"/>
                  <a:pt x="86972" y="131642"/>
                </a:cubicBezTo>
                <a:cubicBezTo>
                  <a:pt x="89710" y="129986"/>
                  <a:pt x="91303" y="126947"/>
                  <a:pt x="91107" y="123753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4" name="Text 42"/>
          <p:cNvSpPr/>
          <p:nvPr/>
        </p:nvSpPr>
        <p:spPr>
          <a:xfrm>
            <a:off x="6507437" y="1393371"/>
            <a:ext cx="5252644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Risks &amp; Mitigation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4932" y="1760048"/>
            <a:ext cx="5362647" cy="1246701"/>
          </a:xfrm>
          <a:custGeom>
            <a:avLst/>
            <a:gdLst/>
            <a:ahLst/>
            <a:cxnLst/>
            <a:rect l="l" t="t" r="r" b="b"/>
            <a:pathLst>
              <a:path w="5362647" h="1246701">
                <a:moveTo>
                  <a:pt x="36668" y="0"/>
                </a:moveTo>
                <a:lnTo>
                  <a:pt x="5289316" y="0"/>
                </a:lnTo>
                <a:cubicBezTo>
                  <a:pt x="5329815" y="0"/>
                  <a:pt x="5362647" y="32831"/>
                  <a:pt x="5362647" y="73331"/>
                </a:cubicBezTo>
                <a:lnTo>
                  <a:pt x="5362647" y="1173370"/>
                </a:lnTo>
                <a:cubicBezTo>
                  <a:pt x="5362647" y="1213869"/>
                  <a:pt x="5329815" y="1246701"/>
                  <a:pt x="5289316" y="1246701"/>
                </a:cubicBezTo>
                <a:lnTo>
                  <a:pt x="36668" y="1246701"/>
                </a:lnTo>
                <a:cubicBezTo>
                  <a:pt x="16417" y="1246701"/>
                  <a:pt x="0" y="1230284"/>
                  <a:pt x="0" y="121003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46" name="Shape 44"/>
          <p:cNvSpPr/>
          <p:nvPr/>
        </p:nvSpPr>
        <p:spPr>
          <a:xfrm>
            <a:off x="6314932" y="1760048"/>
            <a:ext cx="36668" cy="1246701"/>
          </a:xfrm>
          <a:custGeom>
            <a:avLst/>
            <a:gdLst/>
            <a:ahLst/>
            <a:cxnLst/>
            <a:rect l="l" t="t" r="r" b="b"/>
            <a:pathLst>
              <a:path w="36668" h="1246701">
                <a:moveTo>
                  <a:pt x="36668" y="0"/>
                </a:moveTo>
                <a:lnTo>
                  <a:pt x="36668" y="0"/>
                </a:lnTo>
                <a:lnTo>
                  <a:pt x="36668" y="1246701"/>
                </a:lnTo>
                <a:lnTo>
                  <a:pt x="36668" y="1246701"/>
                </a:lnTo>
                <a:cubicBezTo>
                  <a:pt x="16417" y="1246701"/>
                  <a:pt x="0" y="1230284"/>
                  <a:pt x="0" y="121003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7" name="Shape 45"/>
          <p:cNvSpPr/>
          <p:nvPr/>
        </p:nvSpPr>
        <p:spPr>
          <a:xfrm>
            <a:off x="6443269" y="1906719"/>
            <a:ext cx="183338" cy="146671"/>
          </a:xfrm>
          <a:custGeom>
            <a:avLst/>
            <a:gdLst/>
            <a:ahLst/>
            <a:cxnLst/>
            <a:rect l="l" t="t" r="r" b="b"/>
            <a:pathLst>
              <a:path w="183338" h="146671">
                <a:moveTo>
                  <a:pt x="91669" y="4583"/>
                </a:moveTo>
                <a:cubicBezTo>
                  <a:pt x="108112" y="4583"/>
                  <a:pt x="121462" y="17933"/>
                  <a:pt x="121462" y="34376"/>
                </a:cubicBezTo>
                <a:cubicBezTo>
                  <a:pt x="121462" y="50819"/>
                  <a:pt x="108112" y="64168"/>
                  <a:pt x="91669" y="64168"/>
                </a:cubicBezTo>
                <a:cubicBezTo>
                  <a:pt x="75226" y="64168"/>
                  <a:pt x="61877" y="50819"/>
                  <a:pt x="61877" y="34376"/>
                </a:cubicBezTo>
                <a:cubicBezTo>
                  <a:pt x="61877" y="17933"/>
                  <a:pt x="75226" y="4583"/>
                  <a:pt x="91669" y="4583"/>
                </a:cubicBezTo>
                <a:close/>
                <a:moveTo>
                  <a:pt x="27501" y="25209"/>
                </a:moveTo>
                <a:cubicBezTo>
                  <a:pt x="38884" y="25209"/>
                  <a:pt x="48126" y="34451"/>
                  <a:pt x="48126" y="45835"/>
                </a:cubicBezTo>
                <a:cubicBezTo>
                  <a:pt x="48126" y="57218"/>
                  <a:pt x="38884" y="66460"/>
                  <a:pt x="27501" y="66460"/>
                </a:cubicBezTo>
                <a:cubicBezTo>
                  <a:pt x="16117" y="66460"/>
                  <a:pt x="6875" y="57218"/>
                  <a:pt x="6875" y="45835"/>
                </a:cubicBezTo>
                <a:cubicBezTo>
                  <a:pt x="6875" y="34451"/>
                  <a:pt x="16117" y="25209"/>
                  <a:pt x="27501" y="25209"/>
                </a:cubicBezTo>
                <a:close/>
                <a:moveTo>
                  <a:pt x="0" y="119170"/>
                </a:moveTo>
                <a:cubicBezTo>
                  <a:pt x="0" y="98917"/>
                  <a:pt x="16415" y="82502"/>
                  <a:pt x="36668" y="82502"/>
                </a:cubicBezTo>
                <a:cubicBezTo>
                  <a:pt x="40334" y="82502"/>
                  <a:pt x="43887" y="83047"/>
                  <a:pt x="47238" y="84049"/>
                </a:cubicBezTo>
                <a:cubicBezTo>
                  <a:pt x="37814" y="94591"/>
                  <a:pt x="32084" y="108513"/>
                  <a:pt x="32084" y="123753"/>
                </a:cubicBezTo>
                <a:lnTo>
                  <a:pt x="32084" y="128337"/>
                </a:lnTo>
                <a:cubicBezTo>
                  <a:pt x="32084" y="131603"/>
                  <a:pt x="32772" y="134696"/>
                  <a:pt x="34004" y="137504"/>
                </a:cubicBezTo>
                <a:lnTo>
                  <a:pt x="9167" y="137504"/>
                </a:lnTo>
                <a:cubicBezTo>
                  <a:pt x="4096" y="137504"/>
                  <a:pt x="0" y="133407"/>
                  <a:pt x="0" y="128337"/>
                </a:cubicBezTo>
                <a:lnTo>
                  <a:pt x="0" y="119170"/>
                </a:lnTo>
                <a:close/>
                <a:moveTo>
                  <a:pt x="149335" y="137504"/>
                </a:moveTo>
                <a:cubicBezTo>
                  <a:pt x="150567" y="134696"/>
                  <a:pt x="151254" y="131603"/>
                  <a:pt x="151254" y="128337"/>
                </a:cubicBezTo>
                <a:lnTo>
                  <a:pt x="151254" y="123753"/>
                </a:lnTo>
                <a:cubicBezTo>
                  <a:pt x="151254" y="108513"/>
                  <a:pt x="145525" y="94591"/>
                  <a:pt x="136100" y="84049"/>
                </a:cubicBezTo>
                <a:cubicBezTo>
                  <a:pt x="139452" y="83047"/>
                  <a:pt x="143004" y="82502"/>
                  <a:pt x="146671" y="82502"/>
                </a:cubicBezTo>
                <a:cubicBezTo>
                  <a:pt x="166924" y="82502"/>
                  <a:pt x="183338" y="98917"/>
                  <a:pt x="183338" y="119170"/>
                </a:cubicBezTo>
                <a:lnTo>
                  <a:pt x="183338" y="128337"/>
                </a:lnTo>
                <a:cubicBezTo>
                  <a:pt x="183338" y="133407"/>
                  <a:pt x="179242" y="137504"/>
                  <a:pt x="174171" y="137504"/>
                </a:cubicBezTo>
                <a:lnTo>
                  <a:pt x="149335" y="137504"/>
                </a:lnTo>
                <a:close/>
                <a:moveTo>
                  <a:pt x="135212" y="45835"/>
                </a:moveTo>
                <a:cubicBezTo>
                  <a:pt x="135212" y="34451"/>
                  <a:pt x="144454" y="25209"/>
                  <a:pt x="155838" y="25209"/>
                </a:cubicBezTo>
                <a:cubicBezTo>
                  <a:pt x="167221" y="25209"/>
                  <a:pt x="176463" y="34451"/>
                  <a:pt x="176463" y="45835"/>
                </a:cubicBezTo>
                <a:cubicBezTo>
                  <a:pt x="176463" y="57218"/>
                  <a:pt x="167221" y="66460"/>
                  <a:pt x="155838" y="66460"/>
                </a:cubicBezTo>
                <a:cubicBezTo>
                  <a:pt x="144454" y="66460"/>
                  <a:pt x="135212" y="57218"/>
                  <a:pt x="135212" y="45835"/>
                </a:cubicBezTo>
                <a:close/>
                <a:moveTo>
                  <a:pt x="45835" y="123753"/>
                </a:moveTo>
                <a:cubicBezTo>
                  <a:pt x="45835" y="98430"/>
                  <a:pt x="66346" y="77919"/>
                  <a:pt x="91669" y="77919"/>
                </a:cubicBezTo>
                <a:cubicBezTo>
                  <a:pt x="116993" y="77919"/>
                  <a:pt x="137504" y="98430"/>
                  <a:pt x="137504" y="123753"/>
                </a:cubicBezTo>
                <a:lnTo>
                  <a:pt x="137504" y="128337"/>
                </a:lnTo>
                <a:cubicBezTo>
                  <a:pt x="137504" y="133407"/>
                  <a:pt x="133407" y="137504"/>
                  <a:pt x="128337" y="137504"/>
                </a:cubicBezTo>
                <a:lnTo>
                  <a:pt x="55002" y="137504"/>
                </a:lnTo>
                <a:cubicBezTo>
                  <a:pt x="49931" y="137504"/>
                  <a:pt x="45835" y="133407"/>
                  <a:pt x="45835" y="128337"/>
                </a:cubicBezTo>
                <a:lnTo>
                  <a:pt x="45835" y="123753"/>
                </a:lnTo>
                <a:close/>
              </a:path>
            </a:pathLst>
          </a:custGeom>
          <a:solidFill>
            <a:srgbClr val="E7000B"/>
          </a:solidFill>
          <a:ln/>
        </p:spPr>
      </p:sp>
      <p:sp>
        <p:nvSpPr>
          <p:cNvPr id="48" name="Text 46"/>
          <p:cNvSpPr/>
          <p:nvPr/>
        </p:nvSpPr>
        <p:spPr>
          <a:xfrm>
            <a:off x="6699942" y="1870051"/>
            <a:ext cx="1576710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Resistance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43269" y="2126725"/>
            <a:ext cx="518847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MDAs may resist change due to fear of job loss or loss of control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43269" y="2383398"/>
            <a:ext cx="5124307" cy="513347"/>
          </a:xfrm>
          <a:custGeom>
            <a:avLst/>
            <a:gdLst/>
            <a:ahLst/>
            <a:cxnLst/>
            <a:rect l="l" t="t" r="r" b="b"/>
            <a:pathLst>
              <a:path w="5124307" h="513347">
                <a:moveTo>
                  <a:pt x="36668" y="0"/>
                </a:moveTo>
                <a:lnTo>
                  <a:pt x="5087638" y="0"/>
                </a:lnTo>
                <a:cubicBezTo>
                  <a:pt x="5107890" y="0"/>
                  <a:pt x="5124307" y="16417"/>
                  <a:pt x="5124307" y="36668"/>
                </a:cubicBezTo>
                <a:lnTo>
                  <a:pt x="5124307" y="476679"/>
                </a:lnTo>
                <a:cubicBezTo>
                  <a:pt x="5124307" y="496930"/>
                  <a:pt x="5107890" y="513347"/>
                  <a:pt x="5087638" y="513347"/>
                </a:cubicBezTo>
                <a:lnTo>
                  <a:pt x="36668" y="513347"/>
                </a:lnTo>
                <a:cubicBezTo>
                  <a:pt x="16431" y="513347"/>
                  <a:pt x="0" y="496917"/>
                  <a:pt x="0" y="476679"/>
                </a:cubicBezTo>
                <a:lnTo>
                  <a:pt x="0" y="36668"/>
                </a:lnTo>
                <a:cubicBezTo>
                  <a:pt x="0" y="16431"/>
                  <a:pt x="16431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6534938" y="2479651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64168" y="128337"/>
                </a:moveTo>
                <a:cubicBezTo>
                  <a:pt x="99584" y="128337"/>
                  <a:pt x="128337" y="99584"/>
                  <a:pt x="128337" y="64168"/>
                </a:cubicBezTo>
                <a:cubicBezTo>
                  <a:pt x="128337" y="28753"/>
                  <a:pt x="99584" y="0"/>
                  <a:pt x="64168" y="0"/>
                </a:cubicBezTo>
                <a:cubicBezTo>
                  <a:pt x="28753" y="0"/>
                  <a:pt x="0" y="28753"/>
                  <a:pt x="0" y="64168"/>
                </a:cubicBezTo>
                <a:cubicBezTo>
                  <a:pt x="0" y="99584"/>
                  <a:pt x="28753" y="128337"/>
                  <a:pt x="64168" y="128337"/>
                </a:cubicBezTo>
                <a:close/>
                <a:moveTo>
                  <a:pt x="85324" y="53315"/>
                </a:moveTo>
                <a:lnTo>
                  <a:pt x="65271" y="85399"/>
                </a:lnTo>
                <a:cubicBezTo>
                  <a:pt x="64219" y="87079"/>
                  <a:pt x="62414" y="88131"/>
                  <a:pt x="60434" y="88232"/>
                </a:cubicBezTo>
                <a:cubicBezTo>
                  <a:pt x="58453" y="88332"/>
                  <a:pt x="56548" y="87429"/>
                  <a:pt x="55370" y="85825"/>
                </a:cubicBezTo>
                <a:lnTo>
                  <a:pt x="43339" y="69783"/>
                </a:lnTo>
                <a:cubicBezTo>
                  <a:pt x="41333" y="67126"/>
                  <a:pt x="41885" y="63366"/>
                  <a:pt x="44542" y="61361"/>
                </a:cubicBezTo>
                <a:cubicBezTo>
                  <a:pt x="47199" y="59356"/>
                  <a:pt x="50959" y="59907"/>
                  <a:pt x="52964" y="62564"/>
                </a:cubicBezTo>
                <a:lnTo>
                  <a:pt x="59732" y="71588"/>
                </a:lnTo>
                <a:lnTo>
                  <a:pt x="75122" y="46948"/>
                </a:lnTo>
                <a:cubicBezTo>
                  <a:pt x="76877" y="44141"/>
                  <a:pt x="80587" y="43264"/>
                  <a:pt x="83419" y="45043"/>
                </a:cubicBezTo>
                <a:cubicBezTo>
                  <a:pt x="86251" y="46823"/>
                  <a:pt x="87104" y="50508"/>
                  <a:pt x="85324" y="5334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2" name="Text 50"/>
          <p:cNvSpPr/>
          <p:nvPr/>
        </p:nvSpPr>
        <p:spPr>
          <a:xfrm>
            <a:off x="6708075" y="2456734"/>
            <a:ext cx="4850333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16604" y="2640072"/>
            <a:ext cx="504180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management, communication, leadership commitment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4932" y="3080084"/>
            <a:ext cx="5362647" cy="1246701"/>
          </a:xfrm>
          <a:custGeom>
            <a:avLst/>
            <a:gdLst/>
            <a:ahLst/>
            <a:cxnLst/>
            <a:rect l="l" t="t" r="r" b="b"/>
            <a:pathLst>
              <a:path w="5362647" h="1246701">
                <a:moveTo>
                  <a:pt x="36668" y="0"/>
                </a:moveTo>
                <a:lnTo>
                  <a:pt x="5289316" y="0"/>
                </a:lnTo>
                <a:cubicBezTo>
                  <a:pt x="5329815" y="0"/>
                  <a:pt x="5362647" y="32831"/>
                  <a:pt x="5362647" y="73331"/>
                </a:cubicBezTo>
                <a:lnTo>
                  <a:pt x="5362647" y="1173370"/>
                </a:lnTo>
                <a:cubicBezTo>
                  <a:pt x="5362647" y="1213869"/>
                  <a:pt x="5329815" y="1246701"/>
                  <a:pt x="5289316" y="1246701"/>
                </a:cubicBezTo>
                <a:lnTo>
                  <a:pt x="36668" y="1246701"/>
                </a:lnTo>
                <a:cubicBezTo>
                  <a:pt x="16417" y="1246701"/>
                  <a:pt x="0" y="1230284"/>
                  <a:pt x="0" y="121003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55" name="Shape 53"/>
          <p:cNvSpPr/>
          <p:nvPr/>
        </p:nvSpPr>
        <p:spPr>
          <a:xfrm>
            <a:off x="6314932" y="3080084"/>
            <a:ext cx="36668" cy="1246701"/>
          </a:xfrm>
          <a:custGeom>
            <a:avLst/>
            <a:gdLst/>
            <a:ahLst/>
            <a:cxnLst/>
            <a:rect l="l" t="t" r="r" b="b"/>
            <a:pathLst>
              <a:path w="36668" h="1246701">
                <a:moveTo>
                  <a:pt x="36668" y="0"/>
                </a:moveTo>
                <a:lnTo>
                  <a:pt x="36668" y="0"/>
                </a:lnTo>
                <a:lnTo>
                  <a:pt x="36668" y="1246701"/>
                </a:lnTo>
                <a:lnTo>
                  <a:pt x="36668" y="1246701"/>
                </a:lnTo>
                <a:cubicBezTo>
                  <a:pt x="16417" y="1246701"/>
                  <a:pt x="0" y="1230284"/>
                  <a:pt x="0" y="121003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6" name="Shape 54"/>
          <p:cNvSpPr/>
          <p:nvPr/>
        </p:nvSpPr>
        <p:spPr>
          <a:xfrm>
            <a:off x="6452436" y="3226755"/>
            <a:ext cx="165005" cy="146671"/>
          </a:xfrm>
          <a:custGeom>
            <a:avLst/>
            <a:gdLst/>
            <a:ahLst/>
            <a:cxnLst/>
            <a:rect l="l" t="t" r="r" b="b"/>
            <a:pathLst>
              <a:path w="165005" h="146671">
                <a:moveTo>
                  <a:pt x="13750" y="56090"/>
                </a:moveTo>
                <a:lnTo>
                  <a:pt x="73679" y="80755"/>
                </a:lnTo>
                <a:cubicBezTo>
                  <a:pt x="76486" y="81901"/>
                  <a:pt x="79466" y="82502"/>
                  <a:pt x="82502" y="82502"/>
                </a:cubicBezTo>
                <a:cubicBezTo>
                  <a:pt x="85539" y="82502"/>
                  <a:pt x="88518" y="81901"/>
                  <a:pt x="91325" y="80755"/>
                </a:cubicBezTo>
                <a:lnTo>
                  <a:pt x="160765" y="52165"/>
                </a:lnTo>
                <a:cubicBezTo>
                  <a:pt x="163343" y="51106"/>
                  <a:pt x="165005" y="48613"/>
                  <a:pt x="165005" y="45835"/>
                </a:cubicBezTo>
                <a:cubicBezTo>
                  <a:pt x="165005" y="43056"/>
                  <a:pt x="163343" y="40564"/>
                  <a:pt x="160765" y="39504"/>
                </a:cubicBezTo>
                <a:lnTo>
                  <a:pt x="91325" y="10914"/>
                </a:lnTo>
                <a:cubicBezTo>
                  <a:pt x="88518" y="9768"/>
                  <a:pt x="85539" y="9167"/>
                  <a:pt x="82502" y="9167"/>
                </a:cubicBezTo>
                <a:cubicBezTo>
                  <a:pt x="79466" y="9167"/>
                  <a:pt x="76486" y="9768"/>
                  <a:pt x="73679" y="10914"/>
                </a:cubicBezTo>
                <a:lnTo>
                  <a:pt x="4240" y="39504"/>
                </a:lnTo>
                <a:cubicBezTo>
                  <a:pt x="1662" y="40564"/>
                  <a:pt x="0" y="43056"/>
                  <a:pt x="0" y="45835"/>
                </a:cubicBezTo>
                <a:lnTo>
                  <a:pt x="0" y="130629"/>
                </a:lnTo>
                <a:cubicBezTo>
                  <a:pt x="0" y="134439"/>
                  <a:pt x="3065" y="137504"/>
                  <a:pt x="6875" y="137504"/>
                </a:cubicBezTo>
                <a:cubicBezTo>
                  <a:pt x="10685" y="137504"/>
                  <a:pt x="13750" y="134439"/>
                  <a:pt x="13750" y="130629"/>
                </a:cubicBezTo>
                <a:lnTo>
                  <a:pt x="13750" y="56090"/>
                </a:lnTo>
                <a:close/>
                <a:moveTo>
                  <a:pt x="27501" y="76630"/>
                </a:moveTo>
                <a:lnTo>
                  <a:pt x="27501" y="110003"/>
                </a:lnTo>
                <a:cubicBezTo>
                  <a:pt x="27501" y="125186"/>
                  <a:pt x="52137" y="137504"/>
                  <a:pt x="82502" y="137504"/>
                </a:cubicBezTo>
                <a:cubicBezTo>
                  <a:pt x="112868" y="137504"/>
                  <a:pt x="137504" y="125186"/>
                  <a:pt x="137504" y="110003"/>
                </a:cubicBezTo>
                <a:lnTo>
                  <a:pt x="137504" y="76601"/>
                </a:lnTo>
                <a:lnTo>
                  <a:pt x="96568" y="93474"/>
                </a:lnTo>
                <a:cubicBezTo>
                  <a:pt x="92099" y="95307"/>
                  <a:pt x="87344" y="96253"/>
                  <a:pt x="82502" y="96253"/>
                </a:cubicBezTo>
                <a:cubicBezTo>
                  <a:pt x="77661" y="96253"/>
                  <a:pt x="72906" y="95307"/>
                  <a:pt x="68437" y="93474"/>
                </a:cubicBezTo>
                <a:lnTo>
                  <a:pt x="27501" y="76601"/>
                </a:ln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57" name="Text 55"/>
          <p:cNvSpPr/>
          <p:nvPr/>
        </p:nvSpPr>
        <p:spPr>
          <a:xfrm>
            <a:off x="6699942" y="3190087"/>
            <a:ext cx="143003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Capacity Constraints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43269" y="3446761"/>
            <a:ext cx="518847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technical skills within government for implementation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43269" y="3703435"/>
            <a:ext cx="5124307" cy="513347"/>
          </a:xfrm>
          <a:custGeom>
            <a:avLst/>
            <a:gdLst/>
            <a:ahLst/>
            <a:cxnLst/>
            <a:rect l="l" t="t" r="r" b="b"/>
            <a:pathLst>
              <a:path w="5124307" h="513347">
                <a:moveTo>
                  <a:pt x="36668" y="0"/>
                </a:moveTo>
                <a:lnTo>
                  <a:pt x="5087638" y="0"/>
                </a:lnTo>
                <a:cubicBezTo>
                  <a:pt x="5107890" y="0"/>
                  <a:pt x="5124307" y="16417"/>
                  <a:pt x="5124307" y="36668"/>
                </a:cubicBezTo>
                <a:lnTo>
                  <a:pt x="5124307" y="476679"/>
                </a:lnTo>
                <a:cubicBezTo>
                  <a:pt x="5124307" y="496930"/>
                  <a:pt x="5107890" y="513347"/>
                  <a:pt x="5087638" y="513347"/>
                </a:cubicBezTo>
                <a:lnTo>
                  <a:pt x="36668" y="513347"/>
                </a:lnTo>
                <a:cubicBezTo>
                  <a:pt x="16431" y="513347"/>
                  <a:pt x="0" y="496917"/>
                  <a:pt x="0" y="476679"/>
                </a:cubicBezTo>
                <a:lnTo>
                  <a:pt x="0" y="36668"/>
                </a:lnTo>
                <a:cubicBezTo>
                  <a:pt x="0" y="16431"/>
                  <a:pt x="16431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Shape 58"/>
          <p:cNvSpPr/>
          <p:nvPr/>
        </p:nvSpPr>
        <p:spPr>
          <a:xfrm>
            <a:off x="6534938" y="3799687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64168" y="128337"/>
                </a:moveTo>
                <a:cubicBezTo>
                  <a:pt x="99584" y="128337"/>
                  <a:pt x="128337" y="99584"/>
                  <a:pt x="128337" y="64168"/>
                </a:cubicBezTo>
                <a:cubicBezTo>
                  <a:pt x="128337" y="28753"/>
                  <a:pt x="99584" y="0"/>
                  <a:pt x="64168" y="0"/>
                </a:cubicBezTo>
                <a:cubicBezTo>
                  <a:pt x="28753" y="0"/>
                  <a:pt x="0" y="28753"/>
                  <a:pt x="0" y="64168"/>
                </a:cubicBezTo>
                <a:cubicBezTo>
                  <a:pt x="0" y="99584"/>
                  <a:pt x="28753" y="128337"/>
                  <a:pt x="64168" y="128337"/>
                </a:cubicBezTo>
                <a:close/>
                <a:moveTo>
                  <a:pt x="85324" y="53315"/>
                </a:moveTo>
                <a:lnTo>
                  <a:pt x="65271" y="85399"/>
                </a:lnTo>
                <a:cubicBezTo>
                  <a:pt x="64219" y="87079"/>
                  <a:pt x="62414" y="88131"/>
                  <a:pt x="60434" y="88232"/>
                </a:cubicBezTo>
                <a:cubicBezTo>
                  <a:pt x="58453" y="88332"/>
                  <a:pt x="56548" y="87429"/>
                  <a:pt x="55370" y="85825"/>
                </a:cubicBezTo>
                <a:lnTo>
                  <a:pt x="43339" y="69783"/>
                </a:lnTo>
                <a:cubicBezTo>
                  <a:pt x="41333" y="67126"/>
                  <a:pt x="41885" y="63366"/>
                  <a:pt x="44542" y="61361"/>
                </a:cubicBezTo>
                <a:cubicBezTo>
                  <a:pt x="47199" y="59356"/>
                  <a:pt x="50959" y="59907"/>
                  <a:pt x="52964" y="62564"/>
                </a:cubicBezTo>
                <a:lnTo>
                  <a:pt x="59732" y="71588"/>
                </a:lnTo>
                <a:lnTo>
                  <a:pt x="75122" y="46948"/>
                </a:lnTo>
                <a:cubicBezTo>
                  <a:pt x="76877" y="44141"/>
                  <a:pt x="80587" y="43264"/>
                  <a:pt x="83419" y="45043"/>
                </a:cubicBezTo>
                <a:cubicBezTo>
                  <a:pt x="86251" y="46823"/>
                  <a:pt x="87104" y="50508"/>
                  <a:pt x="85324" y="5334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61" name="Text 59"/>
          <p:cNvSpPr/>
          <p:nvPr/>
        </p:nvSpPr>
        <p:spPr>
          <a:xfrm>
            <a:off x="6708075" y="3776770"/>
            <a:ext cx="4850333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16604" y="3960108"/>
            <a:ext cx="504180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programmes, partnerships, phased approach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14932" y="4400120"/>
            <a:ext cx="5362647" cy="1246701"/>
          </a:xfrm>
          <a:custGeom>
            <a:avLst/>
            <a:gdLst/>
            <a:ahLst/>
            <a:cxnLst/>
            <a:rect l="l" t="t" r="r" b="b"/>
            <a:pathLst>
              <a:path w="5362647" h="1246701">
                <a:moveTo>
                  <a:pt x="36668" y="0"/>
                </a:moveTo>
                <a:lnTo>
                  <a:pt x="5289316" y="0"/>
                </a:lnTo>
                <a:cubicBezTo>
                  <a:pt x="5329815" y="0"/>
                  <a:pt x="5362647" y="32831"/>
                  <a:pt x="5362647" y="73331"/>
                </a:cubicBezTo>
                <a:lnTo>
                  <a:pt x="5362647" y="1173370"/>
                </a:lnTo>
                <a:cubicBezTo>
                  <a:pt x="5362647" y="1213869"/>
                  <a:pt x="5329815" y="1246701"/>
                  <a:pt x="5289316" y="1246701"/>
                </a:cubicBezTo>
                <a:lnTo>
                  <a:pt x="36668" y="1246701"/>
                </a:lnTo>
                <a:cubicBezTo>
                  <a:pt x="16417" y="1246701"/>
                  <a:pt x="0" y="1230284"/>
                  <a:pt x="0" y="121003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64" name="Shape 62"/>
          <p:cNvSpPr/>
          <p:nvPr/>
        </p:nvSpPr>
        <p:spPr>
          <a:xfrm>
            <a:off x="6314932" y="4400120"/>
            <a:ext cx="36668" cy="1246701"/>
          </a:xfrm>
          <a:custGeom>
            <a:avLst/>
            <a:gdLst/>
            <a:ahLst/>
            <a:cxnLst/>
            <a:rect l="l" t="t" r="r" b="b"/>
            <a:pathLst>
              <a:path w="36668" h="1246701">
                <a:moveTo>
                  <a:pt x="36668" y="0"/>
                </a:moveTo>
                <a:lnTo>
                  <a:pt x="36668" y="0"/>
                </a:lnTo>
                <a:lnTo>
                  <a:pt x="36668" y="1246701"/>
                </a:lnTo>
                <a:lnTo>
                  <a:pt x="36668" y="1246701"/>
                </a:lnTo>
                <a:cubicBezTo>
                  <a:pt x="16417" y="1246701"/>
                  <a:pt x="0" y="1230284"/>
                  <a:pt x="0" y="1210033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65" name="Shape 63"/>
          <p:cNvSpPr/>
          <p:nvPr/>
        </p:nvSpPr>
        <p:spPr>
          <a:xfrm>
            <a:off x="6479936" y="4546791"/>
            <a:ext cx="110003" cy="146671"/>
          </a:xfrm>
          <a:custGeom>
            <a:avLst/>
            <a:gdLst/>
            <a:ahLst/>
            <a:cxnLst/>
            <a:rect l="l" t="t" r="r" b="b"/>
            <a:pathLst>
              <a:path w="110003" h="146671">
                <a:moveTo>
                  <a:pt x="36668" y="27501"/>
                </a:moveTo>
                <a:lnTo>
                  <a:pt x="36668" y="45835"/>
                </a:lnTo>
                <a:lnTo>
                  <a:pt x="73335" y="45835"/>
                </a:lnTo>
                <a:lnTo>
                  <a:pt x="73335" y="27501"/>
                </a:lnTo>
                <a:cubicBezTo>
                  <a:pt x="73335" y="17388"/>
                  <a:pt x="65114" y="9167"/>
                  <a:pt x="55002" y="9167"/>
                </a:cubicBezTo>
                <a:cubicBezTo>
                  <a:pt x="44889" y="9167"/>
                  <a:pt x="36668" y="17388"/>
                  <a:pt x="36668" y="27501"/>
                </a:cubicBezTo>
                <a:close/>
                <a:moveTo>
                  <a:pt x="18334" y="45835"/>
                </a:moveTo>
                <a:lnTo>
                  <a:pt x="18334" y="27501"/>
                </a:lnTo>
                <a:cubicBezTo>
                  <a:pt x="18334" y="7248"/>
                  <a:pt x="34748" y="-9167"/>
                  <a:pt x="55002" y="-9167"/>
                </a:cubicBezTo>
                <a:cubicBezTo>
                  <a:pt x="75255" y="-9167"/>
                  <a:pt x="91669" y="7248"/>
                  <a:pt x="91669" y="27501"/>
                </a:cubicBezTo>
                <a:lnTo>
                  <a:pt x="91669" y="45835"/>
                </a:lnTo>
                <a:cubicBezTo>
                  <a:pt x="101781" y="45835"/>
                  <a:pt x="110003" y="54056"/>
                  <a:pt x="110003" y="64168"/>
                </a:cubicBezTo>
                <a:lnTo>
                  <a:pt x="110003" y="128337"/>
                </a:lnTo>
                <a:cubicBezTo>
                  <a:pt x="110003" y="138449"/>
                  <a:pt x="101781" y="146671"/>
                  <a:pt x="91669" y="146671"/>
                </a:cubicBezTo>
                <a:lnTo>
                  <a:pt x="18334" y="146671"/>
                </a:lnTo>
                <a:cubicBezTo>
                  <a:pt x="8222" y="146671"/>
                  <a:pt x="0" y="138449"/>
                  <a:pt x="0" y="128337"/>
                </a:cubicBezTo>
                <a:lnTo>
                  <a:pt x="0" y="64168"/>
                </a:lnTo>
                <a:cubicBezTo>
                  <a:pt x="0" y="54056"/>
                  <a:pt x="8222" y="45835"/>
                  <a:pt x="18334" y="45835"/>
                </a:cubicBez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66" name="Text 64"/>
          <p:cNvSpPr/>
          <p:nvPr/>
        </p:nvSpPr>
        <p:spPr>
          <a:xfrm>
            <a:off x="6699942" y="4510123"/>
            <a:ext cx="135670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1A3A5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 Risks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43269" y="4766797"/>
            <a:ext cx="518847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attack surface from interconnected systems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443269" y="5023471"/>
            <a:ext cx="5124307" cy="513347"/>
          </a:xfrm>
          <a:custGeom>
            <a:avLst/>
            <a:gdLst/>
            <a:ahLst/>
            <a:cxnLst/>
            <a:rect l="l" t="t" r="r" b="b"/>
            <a:pathLst>
              <a:path w="5124307" h="513347">
                <a:moveTo>
                  <a:pt x="36668" y="0"/>
                </a:moveTo>
                <a:lnTo>
                  <a:pt x="5087638" y="0"/>
                </a:lnTo>
                <a:cubicBezTo>
                  <a:pt x="5107890" y="0"/>
                  <a:pt x="5124307" y="16417"/>
                  <a:pt x="5124307" y="36668"/>
                </a:cubicBezTo>
                <a:lnTo>
                  <a:pt x="5124307" y="476679"/>
                </a:lnTo>
                <a:cubicBezTo>
                  <a:pt x="5124307" y="496930"/>
                  <a:pt x="5107890" y="513347"/>
                  <a:pt x="5087638" y="513347"/>
                </a:cubicBezTo>
                <a:lnTo>
                  <a:pt x="36668" y="513347"/>
                </a:lnTo>
                <a:cubicBezTo>
                  <a:pt x="16431" y="513347"/>
                  <a:pt x="0" y="496917"/>
                  <a:pt x="0" y="476679"/>
                </a:cubicBezTo>
                <a:lnTo>
                  <a:pt x="0" y="36668"/>
                </a:lnTo>
                <a:cubicBezTo>
                  <a:pt x="0" y="16431"/>
                  <a:pt x="16431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Shape 67"/>
          <p:cNvSpPr/>
          <p:nvPr/>
        </p:nvSpPr>
        <p:spPr>
          <a:xfrm>
            <a:off x="6534938" y="5119723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64168" y="128337"/>
                </a:moveTo>
                <a:cubicBezTo>
                  <a:pt x="99584" y="128337"/>
                  <a:pt x="128337" y="99584"/>
                  <a:pt x="128337" y="64168"/>
                </a:cubicBezTo>
                <a:cubicBezTo>
                  <a:pt x="128337" y="28753"/>
                  <a:pt x="99584" y="0"/>
                  <a:pt x="64168" y="0"/>
                </a:cubicBezTo>
                <a:cubicBezTo>
                  <a:pt x="28753" y="0"/>
                  <a:pt x="0" y="28753"/>
                  <a:pt x="0" y="64168"/>
                </a:cubicBezTo>
                <a:cubicBezTo>
                  <a:pt x="0" y="99584"/>
                  <a:pt x="28753" y="128337"/>
                  <a:pt x="64168" y="128337"/>
                </a:cubicBezTo>
                <a:close/>
                <a:moveTo>
                  <a:pt x="85324" y="53315"/>
                </a:moveTo>
                <a:lnTo>
                  <a:pt x="65271" y="85399"/>
                </a:lnTo>
                <a:cubicBezTo>
                  <a:pt x="64219" y="87079"/>
                  <a:pt x="62414" y="88131"/>
                  <a:pt x="60434" y="88232"/>
                </a:cubicBezTo>
                <a:cubicBezTo>
                  <a:pt x="58453" y="88332"/>
                  <a:pt x="56548" y="87429"/>
                  <a:pt x="55370" y="85825"/>
                </a:cubicBezTo>
                <a:lnTo>
                  <a:pt x="43339" y="69783"/>
                </a:lnTo>
                <a:cubicBezTo>
                  <a:pt x="41333" y="67126"/>
                  <a:pt x="41885" y="63366"/>
                  <a:pt x="44542" y="61361"/>
                </a:cubicBezTo>
                <a:cubicBezTo>
                  <a:pt x="47199" y="59356"/>
                  <a:pt x="50959" y="59907"/>
                  <a:pt x="52964" y="62564"/>
                </a:cubicBezTo>
                <a:lnTo>
                  <a:pt x="59732" y="71588"/>
                </a:lnTo>
                <a:lnTo>
                  <a:pt x="75122" y="46948"/>
                </a:lnTo>
                <a:cubicBezTo>
                  <a:pt x="76877" y="44141"/>
                  <a:pt x="80587" y="43264"/>
                  <a:pt x="83419" y="45043"/>
                </a:cubicBezTo>
                <a:cubicBezTo>
                  <a:pt x="86251" y="46823"/>
                  <a:pt x="87104" y="50508"/>
                  <a:pt x="85324" y="5334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70" name="Text 68"/>
          <p:cNvSpPr/>
          <p:nvPr/>
        </p:nvSpPr>
        <p:spPr>
          <a:xfrm>
            <a:off x="6708075" y="5096806"/>
            <a:ext cx="4850333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1A3A5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Mitigation: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16604" y="5280144"/>
            <a:ext cx="504180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4A6B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Security-by-design, continuous monitoring, incident response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149927" y="5903495"/>
            <a:ext cx="5674322" cy="953359"/>
          </a:xfrm>
          <a:custGeom>
            <a:avLst/>
            <a:gdLst/>
            <a:ahLst/>
            <a:cxnLst/>
            <a:rect l="l" t="t" r="r" b="b"/>
            <a:pathLst>
              <a:path w="5674322" h="953359">
                <a:moveTo>
                  <a:pt x="73332" y="0"/>
                </a:moveTo>
                <a:lnTo>
                  <a:pt x="5600989" y="0"/>
                </a:lnTo>
                <a:cubicBezTo>
                  <a:pt x="5641490" y="0"/>
                  <a:pt x="5674322" y="32832"/>
                  <a:pt x="5674322" y="73332"/>
                </a:cubicBezTo>
                <a:lnTo>
                  <a:pt x="5674322" y="880027"/>
                </a:lnTo>
                <a:cubicBezTo>
                  <a:pt x="5674322" y="920527"/>
                  <a:pt x="5641490" y="953359"/>
                  <a:pt x="5600989" y="953359"/>
                </a:cubicBezTo>
                <a:lnTo>
                  <a:pt x="73332" y="953359"/>
                </a:lnTo>
                <a:cubicBezTo>
                  <a:pt x="32832" y="953359"/>
                  <a:pt x="0" y="920527"/>
                  <a:pt x="0" y="880027"/>
                </a:cubicBezTo>
                <a:lnTo>
                  <a:pt x="0" y="73332"/>
                </a:lnTo>
                <a:cubicBezTo>
                  <a:pt x="0" y="32859"/>
                  <a:pt x="32859" y="0"/>
                  <a:pt x="73332" y="0"/>
                </a:cubicBezTo>
                <a:close/>
              </a:path>
            </a:pathLst>
          </a:custGeom>
          <a:gradFill rotWithShape="1" flip="none">
            <a:gsLst>
              <a:gs pos="0">
                <a:srgbClr val="00A63E"/>
              </a:gs>
              <a:gs pos="100000">
                <a:srgbClr val="00C950"/>
              </a:gs>
            </a:gsLst>
            <a:lin ang="0" scaled="1"/>
          </a:gradFill>
          <a:ln/>
          <a:effectLst>
            <a:outerShdw sx="100000" sy="100000" kx="0" ky="0" algn="bl" rotWithShape="0" blurRad="55002" dist="36668" dir="5400000">
              <a:srgbClr val="000000">
                <a:alpha val="10196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278264" y="6050165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28337" y="73335"/>
                </a:moveTo>
                <a:cubicBezTo>
                  <a:pt x="128337" y="42979"/>
                  <a:pt x="103691" y="18334"/>
                  <a:pt x="73335" y="18334"/>
                </a:cubicBezTo>
                <a:cubicBezTo>
                  <a:pt x="42979" y="18334"/>
                  <a:pt x="18334" y="42979"/>
                  <a:pt x="18334" y="73335"/>
                </a:cubicBezTo>
                <a:cubicBezTo>
                  <a:pt x="18334" y="103691"/>
                  <a:pt x="42979" y="128337"/>
                  <a:pt x="73335" y="128337"/>
                </a:cubicBezTo>
                <a:cubicBezTo>
                  <a:pt x="103691" y="128337"/>
                  <a:pt x="128337" y="103691"/>
                  <a:pt x="128337" y="73335"/>
                </a:cubicBezTo>
                <a:close/>
                <a:moveTo>
                  <a:pt x="0" y="73335"/>
                </a:moveTo>
                <a:cubicBezTo>
                  <a:pt x="0" y="32860"/>
                  <a:pt x="32860" y="0"/>
                  <a:pt x="73335" y="0"/>
                </a:cubicBezTo>
                <a:cubicBezTo>
                  <a:pt x="113810" y="0"/>
                  <a:pt x="146671" y="32860"/>
                  <a:pt x="146671" y="73335"/>
                </a:cubicBezTo>
                <a:cubicBezTo>
                  <a:pt x="146671" y="113810"/>
                  <a:pt x="113810" y="146671"/>
                  <a:pt x="73335" y="146671"/>
                </a:cubicBezTo>
                <a:cubicBezTo>
                  <a:pt x="32860" y="146671"/>
                  <a:pt x="0" y="113810"/>
                  <a:pt x="0" y="73335"/>
                </a:cubicBezTo>
                <a:close/>
                <a:moveTo>
                  <a:pt x="73335" y="96253"/>
                </a:moveTo>
                <a:cubicBezTo>
                  <a:pt x="85984" y="96253"/>
                  <a:pt x="96253" y="85984"/>
                  <a:pt x="96253" y="73335"/>
                </a:cubicBezTo>
                <a:cubicBezTo>
                  <a:pt x="96253" y="60687"/>
                  <a:pt x="85984" y="50418"/>
                  <a:pt x="73335" y="50418"/>
                </a:cubicBezTo>
                <a:cubicBezTo>
                  <a:pt x="60687" y="50418"/>
                  <a:pt x="50418" y="60687"/>
                  <a:pt x="50418" y="73335"/>
                </a:cubicBezTo>
                <a:cubicBezTo>
                  <a:pt x="50418" y="85984"/>
                  <a:pt x="60687" y="96253"/>
                  <a:pt x="73335" y="96253"/>
                </a:cubicBezTo>
                <a:close/>
                <a:moveTo>
                  <a:pt x="73335" y="32084"/>
                </a:moveTo>
                <a:cubicBezTo>
                  <a:pt x="96102" y="32084"/>
                  <a:pt x="114586" y="50568"/>
                  <a:pt x="114586" y="73335"/>
                </a:cubicBezTo>
                <a:cubicBezTo>
                  <a:pt x="114586" y="96102"/>
                  <a:pt x="96102" y="114586"/>
                  <a:pt x="73335" y="114586"/>
                </a:cubicBezTo>
                <a:cubicBezTo>
                  <a:pt x="50568" y="114586"/>
                  <a:pt x="32084" y="96102"/>
                  <a:pt x="32084" y="73335"/>
                </a:cubicBezTo>
                <a:cubicBezTo>
                  <a:pt x="32084" y="50568"/>
                  <a:pt x="50568" y="32084"/>
                  <a:pt x="73335" y="32084"/>
                </a:cubicBezTo>
                <a:close/>
                <a:moveTo>
                  <a:pt x="64168" y="73335"/>
                </a:moveTo>
                <a:cubicBezTo>
                  <a:pt x="64168" y="68276"/>
                  <a:pt x="68276" y="64168"/>
                  <a:pt x="73335" y="64168"/>
                </a:cubicBezTo>
                <a:cubicBezTo>
                  <a:pt x="78395" y="64168"/>
                  <a:pt x="82502" y="68276"/>
                  <a:pt x="82502" y="73335"/>
                </a:cubicBezTo>
                <a:cubicBezTo>
                  <a:pt x="82502" y="78395"/>
                  <a:pt x="78395" y="82502"/>
                  <a:pt x="73335" y="82502"/>
                </a:cubicBezTo>
                <a:cubicBezTo>
                  <a:pt x="68276" y="82502"/>
                  <a:pt x="64168" y="78395"/>
                  <a:pt x="64168" y="733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443269" y="6013498"/>
            <a:ext cx="5344313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278264" y="6334340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64168" y="128337"/>
                </a:moveTo>
                <a:cubicBezTo>
                  <a:pt x="99584" y="128337"/>
                  <a:pt x="128337" y="99584"/>
                  <a:pt x="128337" y="64168"/>
                </a:cubicBezTo>
                <a:cubicBezTo>
                  <a:pt x="128337" y="28753"/>
                  <a:pt x="99584" y="0"/>
                  <a:pt x="64168" y="0"/>
                </a:cubicBezTo>
                <a:cubicBezTo>
                  <a:pt x="28753" y="0"/>
                  <a:pt x="0" y="28753"/>
                  <a:pt x="0" y="64168"/>
                </a:cubicBezTo>
                <a:cubicBezTo>
                  <a:pt x="0" y="99584"/>
                  <a:pt x="28753" y="128337"/>
                  <a:pt x="64168" y="128337"/>
                </a:cubicBezTo>
                <a:close/>
                <a:moveTo>
                  <a:pt x="85324" y="53315"/>
                </a:moveTo>
                <a:lnTo>
                  <a:pt x="65271" y="85399"/>
                </a:lnTo>
                <a:cubicBezTo>
                  <a:pt x="64219" y="87079"/>
                  <a:pt x="62414" y="88131"/>
                  <a:pt x="60434" y="88232"/>
                </a:cubicBezTo>
                <a:cubicBezTo>
                  <a:pt x="58453" y="88332"/>
                  <a:pt x="56548" y="87429"/>
                  <a:pt x="55370" y="85825"/>
                </a:cubicBezTo>
                <a:lnTo>
                  <a:pt x="43339" y="69783"/>
                </a:lnTo>
                <a:cubicBezTo>
                  <a:pt x="41333" y="67126"/>
                  <a:pt x="41885" y="63366"/>
                  <a:pt x="44542" y="61361"/>
                </a:cubicBezTo>
                <a:cubicBezTo>
                  <a:pt x="47199" y="59356"/>
                  <a:pt x="50959" y="59907"/>
                  <a:pt x="52964" y="62564"/>
                </a:cubicBezTo>
                <a:lnTo>
                  <a:pt x="59732" y="71588"/>
                </a:lnTo>
                <a:lnTo>
                  <a:pt x="75122" y="46948"/>
                </a:lnTo>
                <a:cubicBezTo>
                  <a:pt x="76877" y="44141"/>
                  <a:pt x="80587" y="43264"/>
                  <a:pt x="83419" y="45043"/>
                </a:cubicBezTo>
                <a:cubicBezTo>
                  <a:pt x="86251" y="46823"/>
                  <a:pt x="87104" y="50508"/>
                  <a:pt x="85324" y="533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6493687" y="6306839"/>
            <a:ext cx="117336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efficiency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041588" y="6334340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64168" y="128337"/>
                </a:moveTo>
                <a:cubicBezTo>
                  <a:pt x="99584" y="128337"/>
                  <a:pt x="128337" y="99584"/>
                  <a:pt x="128337" y="64168"/>
                </a:cubicBezTo>
                <a:cubicBezTo>
                  <a:pt x="128337" y="28753"/>
                  <a:pt x="99584" y="0"/>
                  <a:pt x="64168" y="0"/>
                </a:cubicBezTo>
                <a:cubicBezTo>
                  <a:pt x="28753" y="0"/>
                  <a:pt x="0" y="28753"/>
                  <a:pt x="0" y="64168"/>
                </a:cubicBezTo>
                <a:cubicBezTo>
                  <a:pt x="0" y="99584"/>
                  <a:pt x="28753" y="128337"/>
                  <a:pt x="64168" y="128337"/>
                </a:cubicBezTo>
                <a:close/>
                <a:moveTo>
                  <a:pt x="85324" y="53315"/>
                </a:moveTo>
                <a:lnTo>
                  <a:pt x="65271" y="85399"/>
                </a:lnTo>
                <a:cubicBezTo>
                  <a:pt x="64219" y="87079"/>
                  <a:pt x="62414" y="88131"/>
                  <a:pt x="60434" y="88232"/>
                </a:cubicBezTo>
                <a:cubicBezTo>
                  <a:pt x="58453" y="88332"/>
                  <a:pt x="56548" y="87429"/>
                  <a:pt x="55370" y="85825"/>
                </a:cubicBezTo>
                <a:lnTo>
                  <a:pt x="43339" y="69783"/>
                </a:lnTo>
                <a:cubicBezTo>
                  <a:pt x="41333" y="67126"/>
                  <a:pt x="41885" y="63366"/>
                  <a:pt x="44542" y="61361"/>
                </a:cubicBezTo>
                <a:cubicBezTo>
                  <a:pt x="47199" y="59356"/>
                  <a:pt x="50959" y="59907"/>
                  <a:pt x="52964" y="62564"/>
                </a:cubicBezTo>
                <a:lnTo>
                  <a:pt x="59732" y="71588"/>
                </a:lnTo>
                <a:lnTo>
                  <a:pt x="75122" y="46948"/>
                </a:lnTo>
                <a:cubicBezTo>
                  <a:pt x="76877" y="44141"/>
                  <a:pt x="80587" y="43264"/>
                  <a:pt x="83419" y="45043"/>
                </a:cubicBezTo>
                <a:cubicBezTo>
                  <a:pt x="86251" y="46823"/>
                  <a:pt x="87104" y="50508"/>
                  <a:pt x="85324" y="533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9257011" y="6306839"/>
            <a:ext cx="88002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costs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278264" y="6591014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64168" y="128337"/>
                </a:moveTo>
                <a:cubicBezTo>
                  <a:pt x="99584" y="128337"/>
                  <a:pt x="128337" y="99584"/>
                  <a:pt x="128337" y="64168"/>
                </a:cubicBezTo>
                <a:cubicBezTo>
                  <a:pt x="128337" y="28753"/>
                  <a:pt x="99584" y="0"/>
                  <a:pt x="64168" y="0"/>
                </a:cubicBezTo>
                <a:cubicBezTo>
                  <a:pt x="28753" y="0"/>
                  <a:pt x="0" y="28753"/>
                  <a:pt x="0" y="64168"/>
                </a:cubicBezTo>
                <a:cubicBezTo>
                  <a:pt x="0" y="99584"/>
                  <a:pt x="28753" y="128337"/>
                  <a:pt x="64168" y="128337"/>
                </a:cubicBezTo>
                <a:close/>
                <a:moveTo>
                  <a:pt x="85324" y="53315"/>
                </a:moveTo>
                <a:lnTo>
                  <a:pt x="65271" y="85399"/>
                </a:lnTo>
                <a:cubicBezTo>
                  <a:pt x="64219" y="87079"/>
                  <a:pt x="62414" y="88131"/>
                  <a:pt x="60434" y="88232"/>
                </a:cubicBezTo>
                <a:cubicBezTo>
                  <a:pt x="58453" y="88332"/>
                  <a:pt x="56548" y="87429"/>
                  <a:pt x="55370" y="85825"/>
                </a:cubicBezTo>
                <a:lnTo>
                  <a:pt x="43339" y="69783"/>
                </a:lnTo>
                <a:cubicBezTo>
                  <a:pt x="41333" y="67126"/>
                  <a:pt x="41885" y="63366"/>
                  <a:pt x="44542" y="61361"/>
                </a:cubicBezTo>
                <a:cubicBezTo>
                  <a:pt x="47199" y="59356"/>
                  <a:pt x="50959" y="59907"/>
                  <a:pt x="52964" y="62564"/>
                </a:cubicBezTo>
                <a:lnTo>
                  <a:pt x="59732" y="71588"/>
                </a:lnTo>
                <a:lnTo>
                  <a:pt x="75122" y="46948"/>
                </a:lnTo>
                <a:cubicBezTo>
                  <a:pt x="76877" y="44141"/>
                  <a:pt x="80587" y="43264"/>
                  <a:pt x="83419" y="45043"/>
                </a:cubicBezTo>
                <a:cubicBezTo>
                  <a:pt x="86251" y="46823"/>
                  <a:pt x="87104" y="50508"/>
                  <a:pt x="85324" y="533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6493687" y="6563513"/>
            <a:ext cx="136587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Enhanced transparency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041588" y="6591014"/>
            <a:ext cx="128337" cy="128337"/>
          </a:xfrm>
          <a:custGeom>
            <a:avLst/>
            <a:gdLst/>
            <a:ahLst/>
            <a:cxnLst/>
            <a:rect l="l" t="t" r="r" b="b"/>
            <a:pathLst>
              <a:path w="128337" h="128337">
                <a:moveTo>
                  <a:pt x="64168" y="128337"/>
                </a:moveTo>
                <a:cubicBezTo>
                  <a:pt x="99584" y="128337"/>
                  <a:pt x="128337" y="99584"/>
                  <a:pt x="128337" y="64168"/>
                </a:cubicBezTo>
                <a:cubicBezTo>
                  <a:pt x="128337" y="28753"/>
                  <a:pt x="99584" y="0"/>
                  <a:pt x="64168" y="0"/>
                </a:cubicBezTo>
                <a:cubicBezTo>
                  <a:pt x="28753" y="0"/>
                  <a:pt x="0" y="28753"/>
                  <a:pt x="0" y="64168"/>
                </a:cubicBezTo>
                <a:cubicBezTo>
                  <a:pt x="0" y="99584"/>
                  <a:pt x="28753" y="128337"/>
                  <a:pt x="64168" y="128337"/>
                </a:cubicBezTo>
                <a:close/>
                <a:moveTo>
                  <a:pt x="85324" y="53315"/>
                </a:moveTo>
                <a:lnTo>
                  <a:pt x="65271" y="85399"/>
                </a:lnTo>
                <a:cubicBezTo>
                  <a:pt x="64219" y="87079"/>
                  <a:pt x="62414" y="88131"/>
                  <a:pt x="60434" y="88232"/>
                </a:cubicBezTo>
                <a:cubicBezTo>
                  <a:pt x="58453" y="88332"/>
                  <a:pt x="56548" y="87429"/>
                  <a:pt x="55370" y="85825"/>
                </a:cubicBezTo>
                <a:lnTo>
                  <a:pt x="43339" y="69783"/>
                </a:lnTo>
                <a:cubicBezTo>
                  <a:pt x="41333" y="67126"/>
                  <a:pt x="41885" y="63366"/>
                  <a:pt x="44542" y="61361"/>
                </a:cubicBezTo>
                <a:cubicBezTo>
                  <a:pt x="47199" y="59356"/>
                  <a:pt x="50959" y="59907"/>
                  <a:pt x="52964" y="62564"/>
                </a:cubicBezTo>
                <a:lnTo>
                  <a:pt x="59732" y="71588"/>
                </a:lnTo>
                <a:lnTo>
                  <a:pt x="75122" y="46948"/>
                </a:lnTo>
                <a:cubicBezTo>
                  <a:pt x="76877" y="44141"/>
                  <a:pt x="80587" y="43264"/>
                  <a:pt x="83419" y="45043"/>
                </a:cubicBezTo>
                <a:cubicBezTo>
                  <a:pt x="86251" y="46823"/>
                  <a:pt x="87104" y="50508"/>
                  <a:pt x="85324" y="533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9257011" y="6563513"/>
            <a:ext cx="1274202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citizen trust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24d1d8c91c566bb5811e5fe11bd1b3af248827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60" r="16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3A52">
                  <a:alpha val="95000"/>
                </a:srgbClr>
              </a:gs>
              <a:gs pos="50000">
                <a:srgbClr val="1A3A52">
                  <a:alpha val="90000"/>
                </a:srgbClr>
              </a:gs>
              <a:gs pos="100000">
                <a:srgbClr val="4A6B82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128713"/>
            <a:ext cx="1285875" cy="342900"/>
          </a:xfrm>
          <a:custGeom>
            <a:avLst/>
            <a:gdLst/>
            <a:ahLst/>
            <a:cxnLst/>
            <a:rect l="l" t="t" r="r" b="b"/>
            <a:pathLst>
              <a:path w="1285875" h="342900">
                <a:moveTo>
                  <a:pt x="0" y="0"/>
                </a:moveTo>
                <a:lnTo>
                  <a:pt x="1285875" y="0"/>
                </a:lnTo>
                <a:lnTo>
                  <a:pt x="12858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128713"/>
            <a:ext cx="38100" cy="342900"/>
          </a:xfrm>
          <a:custGeom>
            <a:avLst/>
            <a:gdLst/>
            <a:ahLst/>
            <a:cxnLst/>
            <a:rect l="l" t="t" r="r" b="b"/>
            <a:pathLst>
              <a:path w="38100" h="342900">
                <a:moveTo>
                  <a:pt x="0" y="0"/>
                </a:moveTo>
                <a:lnTo>
                  <a:pt x="38100" y="0"/>
                </a:lnTo>
                <a:lnTo>
                  <a:pt x="381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204913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24013"/>
            <a:ext cx="1165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Fragmented Digitisation to </a:t>
            </a:r>
            <a:pPr>
              <a:lnSpc>
                <a:spcPct val="100000"/>
              </a:lnSpc>
            </a:pPr>
            <a:r>
              <a:rPr lang="en-US" sz="3600" b="1" dirty="0">
                <a:solidFill>
                  <a:srgbClr val="C9A2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Coordinated Transformation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29194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3262313"/>
            <a:ext cx="5619750" cy="1390650"/>
          </a:xfrm>
          <a:custGeom>
            <a:avLst/>
            <a:gdLst/>
            <a:ahLst/>
            <a:cxnLst/>
            <a:rect l="l" t="t" r="r" b="b"/>
            <a:pathLst>
              <a:path w="5619750" h="1390650">
                <a:moveTo>
                  <a:pt x="38100" y="0"/>
                </a:moveTo>
                <a:lnTo>
                  <a:pt x="5543556" y="0"/>
                </a:lnTo>
                <a:cubicBezTo>
                  <a:pt x="5585609" y="0"/>
                  <a:pt x="5619750" y="34141"/>
                  <a:pt x="5619750" y="76194"/>
                </a:cubicBezTo>
                <a:lnTo>
                  <a:pt x="5619750" y="1314456"/>
                </a:lnTo>
                <a:cubicBezTo>
                  <a:pt x="5619750" y="1356509"/>
                  <a:pt x="5585609" y="1390650"/>
                  <a:pt x="55435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00050" y="3262313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Shape 8"/>
          <p:cNvSpPr/>
          <p:nvPr/>
        </p:nvSpPr>
        <p:spPr>
          <a:xfrm>
            <a:off x="614363" y="343376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28575" y="6385"/>
                  <a:pt x="22190" y="0"/>
                  <a:pt x="14288" y="0"/>
                </a:cubicBezTo>
                <a:cubicBezTo>
                  <a:pt x="6385" y="0"/>
                  <a:pt x="0" y="6385"/>
                  <a:pt x="0" y="14288"/>
                </a:cubicBezTo>
                <a:lnTo>
                  <a:pt x="0" y="214313"/>
                </a:lnTo>
                <a:cubicBezTo>
                  <a:pt x="0" y="222215"/>
                  <a:pt x="6385" y="228600"/>
                  <a:pt x="14288" y="228600"/>
                </a:cubicBezTo>
                <a:cubicBezTo>
                  <a:pt x="22190" y="228600"/>
                  <a:pt x="28575" y="222215"/>
                  <a:pt x="28575" y="214313"/>
                </a:cubicBezTo>
                <a:lnTo>
                  <a:pt x="28575" y="160020"/>
                </a:lnTo>
                <a:lnTo>
                  <a:pt x="56570" y="151626"/>
                </a:lnTo>
                <a:cubicBezTo>
                  <a:pt x="75277" y="146000"/>
                  <a:pt x="95458" y="147742"/>
                  <a:pt x="112916" y="156493"/>
                </a:cubicBezTo>
                <a:cubicBezTo>
                  <a:pt x="131981" y="166048"/>
                  <a:pt x="154216" y="167208"/>
                  <a:pt x="174174" y="159707"/>
                </a:cubicBezTo>
                <a:lnTo>
                  <a:pt x="190738" y="153501"/>
                </a:lnTo>
                <a:cubicBezTo>
                  <a:pt x="196319" y="151403"/>
                  <a:pt x="200025" y="146090"/>
                  <a:pt x="200025" y="140107"/>
                </a:cubicBezTo>
                <a:lnTo>
                  <a:pt x="200025" y="29513"/>
                </a:lnTo>
                <a:cubicBezTo>
                  <a:pt x="200025" y="19243"/>
                  <a:pt x="189220" y="12546"/>
                  <a:pt x="180023" y="17145"/>
                </a:cubicBezTo>
                <a:lnTo>
                  <a:pt x="174754" y="19779"/>
                </a:lnTo>
                <a:cubicBezTo>
                  <a:pt x="154707" y="29825"/>
                  <a:pt x="131088" y="29825"/>
                  <a:pt x="110996" y="19779"/>
                </a:cubicBezTo>
                <a:cubicBezTo>
                  <a:pt x="94744" y="11653"/>
                  <a:pt x="76036" y="10046"/>
                  <a:pt x="58668" y="15270"/>
                </a:cubicBezTo>
                <a:lnTo>
                  <a:pt x="28575" y="24289"/>
                </a:lnTo>
                <a:lnTo>
                  <a:pt x="28575" y="14288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971550" y="3414713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 Achieved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1500" y="3757613"/>
            <a:ext cx="5372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sustainable and scalable digital government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serves citizens efficiently, transparently, and accountably—positioning Kenya as a regional leader in public sector digital transformation.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91250" y="3262313"/>
            <a:ext cx="5619750" cy="1390650"/>
          </a:xfrm>
          <a:custGeom>
            <a:avLst/>
            <a:gdLst/>
            <a:ahLst/>
            <a:cxnLst/>
            <a:rect l="l" t="t" r="r" b="b"/>
            <a:pathLst>
              <a:path w="5619750" h="1390650">
                <a:moveTo>
                  <a:pt x="38100" y="0"/>
                </a:moveTo>
                <a:lnTo>
                  <a:pt x="5543556" y="0"/>
                </a:lnTo>
                <a:cubicBezTo>
                  <a:pt x="5585609" y="0"/>
                  <a:pt x="5619750" y="34141"/>
                  <a:pt x="5619750" y="76194"/>
                </a:cubicBezTo>
                <a:lnTo>
                  <a:pt x="5619750" y="1314456"/>
                </a:lnTo>
                <a:cubicBezTo>
                  <a:pt x="5619750" y="1356509"/>
                  <a:pt x="5585609" y="1390650"/>
                  <a:pt x="5543556" y="1390650"/>
                </a:cubicBez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191250" y="3262313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3810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38100" y="1390650"/>
                </a:lnTo>
                <a:cubicBezTo>
                  <a:pt x="17072" y="1390650"/>
                  <a:pt x="0" y="1373578"/>
                  <a:pt x="0" y="13525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Shape 13"/>
          <p:cNvSpPr/>
          <p:nvPr/>
        </p:nvSpPr>
        <p:spPr>
          <a:xfrm>
            <a:off x="6391275" y="34337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6762750" y="3414713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Transformation Journey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62700" y="3757613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registry-centric architecture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automation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9A22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governance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we are building a digital government that works for every Kenyan.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85763" y="4810125"/>
            <a:ext cx="11420475" cy="600075"/>
          </a:xfrm>
          <a:custGeom>
            <a:avLst/>
            <a:gdLst/>
            <a:ahLst/>
            <a:cxnLst/>
            <a:rect l="l" t="t" r="r" b="b"/>
            <a:pathLst>
              <a:path w="11420475" h="6000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523877"/>
                </a:lnTo>
                <a:cubicBezTo>
                  <a:pt x="11420475" y="565960"/>
                  <a:pt x="11386360" y="600075"/>
                  <a:pt x="11344277" y="600075"/>
                </a:cubicBezTo>
                <a:lnTo>
                  <a:pt x="76198" y="600075"/>
                </a:lnTo>
                <a:cubicBezTo>
                  <a:pt x="34115" y="600075"/>
                  <a:pt x="0" y="565960"/>
                  <a:pt x="0" y="5238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9A227">
              <a:alpha val="20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8884" y="496728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1" name="Text 18"/>
          <p:cNvSpPr/>
          <p:nvPr/>
        </p:nvSpPr>
        <p:spPr>
          <a:xfrm>
            <a:off x="1052513" y="4970859"/>
            <a:ext cx="83629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"This is not merely a technology upgrade—it is a fundamental reimagining of how government serves its people."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81000" y="61674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16719" y="63150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16669"/>
                </a:lnTo>
                <a:cubicBezTo>
                  <a:pt x="100013" y="7475"/>
                  <a:pt x="92538" y="0"/>
                  <a:pt x="83344" y="0"/>
                </a:cubicBezTo>
                <a:lnTo>
                  <a:pt x="16669" y="0"/>
                </a:lnTo>
                <a:close/>
                <a:moveTo>
                  <a:pt x="45839" y="91678"/>
                </a:moveTo>
                <a:lnTo>
                  <a:pt x="54173" y="91678"/>
                </a:lnTo>
                <a:cubicBezTo>
                  <a:pt x="58783" y="91678"/>
                  <a:pt x="62508" y="95403"/>
                  <a:pt x="62508" y="100013"/>
                </a:cubicBezTo>
                <a:lnTo>
                  <a:pt x="62508" y="120848"/>
                </a:lnTo>
                <a:lnTo>
                  <a:pt x="37505" y="120848"/>
                </a:lnTo>
                <a:lnTo>
                  <a:pt x="37505" y="100013"/>
                </a:lnTo>
                <a:cubicBezTo>
                  <a:pt x="37505" y="95403"/>
                  <a:pt x="41229" y="91678"/>
                  <a:pt x="45839" y="91678"/>
                </a:cubicBezTo>
                <a:close/>
                <a:moveTo>
                  <a:pt x="25003" y="29170"/>
                </a:moveTo>
                <a:cubicBezTo>
                  <a:pt x="25003" y="26878"/>
                  <a:pt x="26878" y="25003"/>
                  <a:pt x="29170" y="25003"/>
                </a:cubicBezTo>
                <a:lnTo>
                  <a:pt x="37505" y="25003"/>
                </a:lnTo>
                <a:cubicBezTo>
                  <a:pt x="39797" y="25003"/>
                  <a:pt x="41672" y="26878"/>
                  <a:pt x="41672" y="29170"/>
                </a:cubicBezTo>
                <a:lnTo>
                  <a:pt x="41672" y="37505"/>
                </a:lnTo>
                <a:cubicBezTo>
                  <a:pt x="41672" y="39797"/>
                  <a:pt x="39797" y="41672"/>
                  <a:pt x="37505" y="41672"/>
                </a:cubicBezTo>
                <a:lnTo>
                  <a:pt x="29170" y="41672"/>
                </a:lnTo>
                <a:cubicBezTo>
                  <a:pt x="26878" y="41672"/>
                  <a:pt x="25003" y="39797"/>
                  <a:pt x="25003" y="37505"/>
                </a:cubicBezTo>
                <a:lnTo>
                  <a:pt x="25003" y="29170"/>
                </a:lnTo>
                <a:close/>
                <a:moveTo>
                  <a:pt x="62508" y="25003"/>
                </a:moveTo>
                <a:lnTo>
                  <a:pt x="70842" y="25003"/>
                </a:lnTo>
                <a:cubicBezTo>
                  <a:pt x="73134" y="25003"/>
                  <a:pt x="75009" y="26878"/>
                  <a:pt x="75009" y="29170"/>
                </a:cubicBezTo>
                <a:lnTo>
                  <a:pt x="75009" y="37505"/>
                </a:lnTo>
                <a:cubicBezTo>
                  <a:pt x="75009" y="39797"/>
                  <a:pt x="73134" y="41672"/>
                  <a:pt x="70842" y="41672"/>
                </a:cubicBezTo>
                <a:lnTo>
                  <a:pt x="62508" y="41672"/>
                </a:lnTo>
                <a:cubicBezTo>
                  <a:pt x="60216" y="41672"/>
                  <a:pt x="58341" y="39797"/>
                  <a:pt x="58341" y="37505"/>
                </a:cubicBezTo>
                <a:lnTo>
                  <a:pt x="58341" y="29170"/>
                </a:lnTo>
                <a:cubicBezTo>
                  <a:pt x="58341" y="26878"/>
                  <a:pt x="60216" y="25003"/>
                  <a:pt x="62508" y="25003"/>
                </a:cubicBezTo>
                <a:close/>
                <a:moveTo>
                  <a:pt x="25003" y="62508"/>
                </a:moveTo>
                <a:cubicBezTo>
                  <a:pt x="25003" y="60216"/>
                  <a:pt x="26878" y="58341"/>
                  <a:pt x="29170" y="58341"/>
                </a:cubicBezTo>
                <a:lnTo>
                  <a:pt x="37505" y="58341"/>
                </a:lnTo>
                <a:cubicBezTo>
                  <a:pt x="39797" y="58341"/>
                  <a:pt x="41672" y="60216"/>
                  <a:pt x="41672" y="62508"/>
                </a:cubicBezTo>
                <a:lnTo>
                  <a:pt x="41672" y="70842"/>
                </a:lnTo>
                <a:cubicBezTo>
                  <a:pt x="41672" y="73134"/>
                  <a:pt x="39797" y="75009"/>
                  <a:pt x="37505" y="75009"/>
                </a:cubicBezTo>
                <a:lnTo>
                  <a:pt x="29170" y="75009"/>
                </a:lnTo>
                <a:cubicBezTo>
                  <a:pt x="26878" y="75009"/>
                  <a:pt x="25003" y="73134"/>
                  <a:pt x="25003" y="70842"/>
                </a:cubicBezTo>
                <a:lnTo>
                  <a:pt x="25003" y="62508"/>
                </a:lnTo>
                <a:close/>
                <a:moveTo>
                  <a:pt x="62508" y="58341"/>
                </a:moveTo>
                <a:lnTo>
                  <a:pt x="70842" y="58341"/>
                </a:lnTo>
                <a:cubicBezTo>
                  <a:pt x="73134" y="58341"/>
                  <a:pt x="75009" y="60216"/>
                  <a:pt x="75009" y="62508"/>
                </a:cubicBezTo>
                <a:lnTo>
                  <a:pt x="75009" y="70842"/>
                </a:lnTo>
                <a:cubicBezTo>
                  <a:pt x="75009" y="73134"/>
                  <a:pt x="73134" y="75009"/>
                  <a:pt x="70842" y="75009"/>
                </a:cubicBezTo>
                <a:lnTo>
                  <a:pt x="62508" y="75009"/>
                </a:lnTo>
                <a:cubicBezTo>
                  <a:pt x="60216" y="75009"/>
                  <a:pt x="58341" y="73134"/>
                  <a:pt x="58341" y="70842"/>
                </a:cubicBezTo>
                <a:lnTo>
                  <a:pt x="58341" y="62508"/>
                </a:lnTo>
                <a:cubicBezTo>
                  <a:pt x="58341" y="60216"/>
                  <a:pt x="60216" y="58341"/>
                  <a:pt x="62508" y="58341"/>
                </a:cubicBez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4" name="Text 21"/>
          <p:cNvSpPr/>
          <p:nvPr/>
        </p:nvSpPr>
        <p:spPr>
          <a:xfrm>
            <a:off x="623888" y="628650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of Kenya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137767" y="63150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0"/>
                </a:moveTo>
                <a:cubicBezTo>
                  <a:pt x="28728" y="0"/>
                  <a:pt x="25003" y="3724"/>
                  <a:pt x="25003" y="8334"/>
                </a:cubicBezTo>
                <a:lnTo>
                  <a:pt x="25003" y="16669"/>
                </a:lnTo>
                <a:lnTo>
                  <a:pt x="16669" y="16669"/>
                </a:lnTo>
                <a:cubicBezTo>
                  <a:pt x="7475" y="16669"/>
                  <a:pt x="0" y="24144"/>
                  <a:pt x="0" y="33337"/>
                </a:cubicBezTo>
                <a:lnTo>
                  <a:pt x="0" y="45839"/>
                </a:lnTo>
                <a:lnTo>
                  <a:pt x="116681" y="45839"/>
                </a:lnTo>
                <a:lnTo>
                  <a:pt x="116681" y="33337"/>
                </a:lnTo>
                <a:cubicBezTo>
                  <a:pt x="116681" y="24144"/>
                  <a:pt x="109206" y="16669"/>
                  <a:pt x="100013" y="16669"/>
                </a:cubicBezTo>
                <a:lnTo>
                  <a:pt x="91678" y="16669"/>
                </a:lnTo>
                <a:lnTo>
                  <a:pt x="91678" y="8334"/>
                </a:lnTo>
                <a:cubicBezTo>
                  <a:pt x="91678" y="3724"/>
                  <a:pt x="87954" y="0"/>
                  <a:pt x="83344" y="0"/>
                </a:cubicBezTo>
                <a:cubicBezTo>
                  <a:pt x="78734" y="0"/>
                  <a:pt x="75009" y="3724"/>
                  <a:pt x="75009" y="8334"/>
                </a:cubicBezTo>
                <a:lnTo>
                  <a:pt x="75009" y="16669"/>
                </a:lnTo>
                <a:lnTo>
                  <a:pt x="41672" y="16669"/>
                </a:lnTo>
                <a:lnTo>
                  <a:pt x="41672" y="8334"/>
                </a:lnTo>
                <a:cubicBezTo>
                  <a:pt x="41672" y="3724"/>
                  <a:pt x="37947" y="0"/>
                  <a:pt x="33337" y="0"/>
                </a:cubicBezTo>
                <a:close/>
                <a:moveTo>
                  <a:pt x="0" y="58341"/>
                </a:move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58341"/>
                </a:lnTo>
                <a:lnTo>
                  <a:pt x="0" y="58341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6" name="Text 23"/>
          <p:cNvSpPr/>
          <p:nvPr/>
        </p:nvSpPr>
        <p:spPr>
          <a:xfrm>
            <a:off x="2353270" y="6286500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320189" y="6315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2502" y="16669"/>
                </a:moveTo>
                <a:cubicBezTo>
                  <a:pt x="5600" y="16669"/>
                  <a:pt x="0" y="22268"/>
                  <a:pt x="0" y="29170"/>
                </a:cubicBezTo>
                <a:cubicBezTo>
                  <a:pt x="0" y="33103"/>
                  <a:pt x="1849" y="36801"/>
                  <a:pt x="5001" y="39172"/>
                </a:cubicBezTo>
                <a:lnTo>
                  <a:pt x="59174" y="79802"/>
                </a:lnTo>
                <a:cubicBezTo>
                  <a:pt x="63628" y="83135"/>
                  <a:pt x="69722" y="83135"/>
                  <a:pt x="74176" y="79802"/>
                </a:cubicBezTo>
                <a:lnTo>
                  <a:pt x="128349" y="39172"/>
                </a:lnTo>
                <a:cubicBezTo>
                  <a:pt x="131501" y="36801"/>
                  <a:pt x="133350" y="33103"/>
                  <a:pt x="133350" y="29170"/>
                </a:cubicBezTo>
                <a:cubicBezTo>
                  <a:pt x="133350" y="22268"/>
                  <a:pt x="127750" y="16669"/>
                  <a:pt x="120848" y="16669"/>
                </a:cubicBezTo>
                <a:lnTo>
                  <a:pt x="12502" y="16669"/>
                </a:lnTo>
                <a:close/>
                <a:moveTo>
                  <a:pt x="0" y="51048"/>
                </a:moveTo>
                <a:lnTo>
                  <a:pt x="0" y="100013"/>
                </a:lnTo>
                <a:cubicBezTo>
                  <a:pt x="0" y="109206"/>
                  <a:pt x="7475" y="116681"/>
                  <a:pt x="16669" y="116681"/>
                </a:cubicBezTo>
                <a:lnTo>
                  <a:pt x="116681" y="116681"/>
                </a:lnTo>
                <a:cubicBezTo>
                  <a:pt x="125875" y="116681"/>
                  <a:pt x="133350" y="109206"/>
                  <a:pt x="133350" y="100013"/>
                </a:cubicBezTo>
                <a:lnTo>
                  <a:pt x="133350" y="51048"/>
                </a:lnTo>
                <a:lnTo>
                  <a:pt x="81677" y="89803"/>
                </a:lnTo>
                <a:cubicBezTo>
                  <a:pt x="72796" y="96470"/>
                  <a:pt x="60554" y="96470"/>
                  <a:pt x="51673" y="89803"/>
                </a:cubicBezTo>
                <a:lnTo>
                  <a:pt x="0" y="51048"/>
                </a:lnTo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8" name="Text 25"/>
          <p:cNvSpPr/>
          <p:nvPr/>
        </p:nvSpPr>
        <p:spPr>
          <a:xfrm>
            <a:off x="10544026" y="62865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digitisation@gov.go.ke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Digitisation &amp; Automation Reform Programme</dc:title>
  <dc:subject>Government Digitisation &amp; Automation Reform Programme</dc:subject>
  <dc:creator>Kimi</dc:creator>
  <cp:lastModifiedBy>Kimi</cp:lastModifiedBy>
  <cp:revision>1</cp:revision>
  <dcterms:created xsi:type="dcterms:W3CDTF">2026-03-26T10:06:56Z</dcterms:created>
  <dcterms:modified xsi:type="dcterms:W3CDTF">2026-03-26T10:06:56Z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{"Label":"Government Digitisation &amp; Automation Reform Programme","ContentProducer":"001191110108MACG2KBH8F10000","ProduceID":"19d29952-0312-8dc5-8000-00003d7775d5","ReservedCode1":"","ContentPropagator":"001191110108MACG2KBH8F20000","PropagateID":"19d29952-0312-8dc5-8000-00003d7775d5","ReservedCode2":""}</vt:lpwstr>
  </property>
</Properties>
</file>