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KDEAP [16] - Proof of Concept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Service Architecture Programme</a:t>
            </a:r>
          </a:p>
          <a:p>
            <a:r>
              <a:t>Transforming Government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Agriculture and Food Authority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Farmer Registration &amp; 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**Manual Verification:** Officers manually verify BRS and KRA documents, leading to fraud risks.</a:t>
            </a:r>
          </a:p>
          <a:p>
            <a:pPr>
              <a:spcBef>
                <a:spcPts val="600"/>
              </a:spcBef>
              <a:defRPr sz="1400"/>
            </a:pPr>
            <a:r>
              <a:t>• **Inspection Delays:** Physical premise inspections cause massive backlogs.</a:t>
            </a:r>
          </a:p>
          <a:p>
            <a:pPr>
              <a:spcBef>
                <a:spcPts val="600"/>
              </a:spcBef>
              <a:defRPr sz="1400"/>
            </a:pPr>
            <a:r>
              <a:t>• **Siloed Registries:** KIAMIS (farmers), AFA IMIS (licenses), and Kentrade (exports) are not fully integrated.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**Automated Validation:** Use KeSEL to validate BRS (ownership) and KRA (tax compliance) instantly.</a:t>
            </a:r>
          </a:p>
          <a:p>
            <a:pPr>
              <a:spcBef>
                <a:spcPts val="600"/>
              </a:spcBef>
              <a:defRPr sz="1400"/>
            </a:pPr>
            <a:r>
              <a:t>• **Risk-Based Inspections:** Auto-approve renewals for low-risk applicants without physical visits.</a:t>
            </a:r>
          </a:p>
          <a:p>
            <a:pPr>
              <a:spcBef>
                <a:spcPts val="600"/>
              </a:spcBef>
              <a:defRPr sz="1400"/>
            </a:pPr>
            <a:r>
              <a:t>• **Integrated Payments:** Shift all cess and license fees to the Government Payment Aggregator (GPA).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Assets Recovery Agency (ARA)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Asset Identification, Preservation, and Forfeiture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**Tracing Lag:** Assets are often moved or sold before ARA can obtain ownership data from siloed registries.</a:t>
            </a:r>
          </a:p>
          <a:p>
            <a:pPr>
              <a:spcBef>
                <a:spcPts val="600"/>
              </a:spcBef>
              <a:defRPr sz="1400"/>
            </a:pPr>
            <a:r>
              <a:t>• **Evidence Integrity:** Physical documents can be lost, stolen, or altered during the long tracing process.</a:t>
            </a:r>
          </a:p>
          <a:p>
            <a:pPr>
              <a:spcBef>
                <a:spcPts val="600"/>
              </a:spcBef>
              <a:defRPr sz="1400"/>
            </a:pPr>
            <a:r>
              <a:t>• **Resource Fragmentation:** No unified view of all assets associated with a specific "Maisha Namba" across government.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**Instant Asset Discovery:** Using **X-Road** to query Lands (Ardhisasa), NTSA, and BRS simultaneously to see a suspect's full "Wealth Map" in seconds.</a:t>
            </a:r>
          </a:p>
          <a:p>
            <a:pPr>
              <a:spcBef>
                <a:spcPts val="600"/>
              </a:spcBef>
              <a:defRPr sz="1400"/>
            </a:pPr>
            <a:r>
              <a:t>• **Digital Evidence Vault:** All ownership records fetched via the **Huduma Bridge** are digitally signed (NPKI), serving as immutable evidence for court.</a:t>
            </a:r>
          </a:p>
          <a:p>
            <a:pPr>
              <a:spcBef>
                <a:spcPts val="600"/>
              </a:spcBef>
              <a:defRPr sz="1400"/>
            </a:pPr>
            <a:r>
              <a:t>• **Blockchain for Seized Assets:** Using a private ledger to track every seized asset (serial numbers, GPS locations) from "Freeze" to "Liquidation."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Ministry of Water, Sanitation and Irrigation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Infrastructure Development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**Siloed Project Data:** Planning, Procurement, and Construction data are held in different formats and systems.</a:t>
            </a:r>
          </a:p>
          <a:p>
            <a:pPr>
              <a:spcBef>
                <a:spcPts val="600"/>
              </a:spcBef>
              <a:defRPr sz="1400"/>
            </a:pPr>
            <a:r>
              <a:t>• **Delayed Payments:** Manual verification of "Interim Payment Certificates" (IPCs) leads to contractor interest claims.</a:t>
            </a:r>
          </a:p>
          <a:p>
            <a:pPr>
              <a:spcBef>
                <a:spcPts val="600"/>
              </a:spcBef>
              <a:defRPr sz="1400"/>
            </a:pPr>
            <a:r>
              <a:t>• **Manual Reporting:** Tracking the progress of 50+ sites via paper-based site diaries is inefficient.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**Integrated PMS:** A single Project Management System that tracks every milestone from "Feasibility" to "Handover".</a:t>
            </a:r>
          </a:p>
          <a:p>
            <a:pPr>
              <a:spcBef>
                <a:spcPts val="600"/>
              </a:spcBef>
              <a:defRPr sz="1400"/>
            </a:pPr>
            <a:r>
              <a:t>• **Digital Site Diaries:** Using a mobile app to capture real-time construction progress and GPS-tagged photos.</a:t>
            </a:r>
          </a:p>
          <a:p>
            <a:pPr>
              <a:spcBef>
                <a:spcPts val="600"/>
              </a:spcBef>
              <a:defRPr sz="1400"/>
            </a:pPr>
            <a:r>
              <a:t>• **Blockchain for Contracts:** Using an immutable ledger to track contract amendments and payment certificates.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Cabinet Affairs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Cabinet Memorandum Processing &amp;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**Sequential Routing:** The "Route to AG then Route to Treasury" flow is slow; if one party delays, the whole policy is stalled.</a:t>
            </a:r>
          </a:p>
          <a:p>
            <a:pPr>
              <a:spcBef>
                <a:spcPts val="600"/>
              </a:spcBef>
              <a:defRPr sz="1400"/>
            </a:pPr>
            <a:r>
              <a:t>• **Feedback Loops:** Manual consolidation of inter-ministerial comments is labor-intensive and error-prone.</a:t>
            </a:r>
          </a:p>
          <a:p>
            <a:pPr>
              <a:spcBef>
                <a:spcPts val="600"/>
              </a:spcBef>
              <a:defRPr sz="1400"/>
            </a:pPr>
            <a:r>
              <a:t>• **Resource Management:** Fleet management and trip approvals are still largely paper-based (work tickets).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**Parallel Processing:** Using the **Huduma Bridge** to route the CABMEMO to AG, Treasury, and other MDAs simultaneously for comments.</a:t>
            </a:r>
          </a:p>
          <a:p>
            <a:pPr>
              <a:spcBef>
                <a:spcPts val="600"/>
              </a:spcBef>
              <a:defRPr sz="1400"/>
            </a:pPr>
            <a:r>
              <a:t>• **Immutable Audit Trail:** Using **NPKI**  to digitally sign all Cabinet Memoranda, ensuring they cannot be altered.</a:t>
            </a:r>
          </a:p>
          <a:p>
            <a:pPr>
              <a:spcBef>
                <a:spcPts val="600"/>
              </a:spcBef>
              <a:defRPr sz="1400"/>
            </a:pPr>
            <a:r>
              <a:t>• **Integrated Fleet Management:** Automating work tickets and vehicle allocation via a mobile app linked to the **Government Payment Aggregator** for fuel and maintenance.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Culture, Arts and Heritage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Ushanga Kenya (Beadwork Value 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**Lack of Traceability:** Once products are aggregated, it is difficult to trace a specific sale back to a specific artisan.</a:t>
            </a:r>
          </a:p>
          <a:p>
            <a:pPr>
              <a:spcBef>
                <a:spcPts val="600"/>
              </a:spcBef>
              <a:defRPr sz="1400"/>
            </a:pPr>
            <a:r>
              <a:t>• **Manual Inventory:** Paper-based logging at centers leads to stock discrepancies and loss.</a:t>
            </a:r>
          </a:p>
          <a:p>
            <a:pPr>
              <a:spcBef>
                <a:spcPts val="600"/>
              </a:spcBef>
              <a:defRPr sz="1400"/>
            </a:pPr>
            <a:r>
              <a:t>• **Delayed Payments:** The 14-day payment target is often missed due to manual reconciliation of sales summaries.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**Digital Inventory Registry:** Assigning a unique QR code to every item upon grading to allow for instant tracking and automated sales logging.</a:t>
            </a:r>
          </a:p>
          <a:p>
            <a:pPr>
              <a:spcBef>
                <a:spcPts val="600"/>
              </a:spcBef>
              <a:defRPr sz="1400"/>
            </a:pPr>
            <a:r>
              <a:t>• **Unified Payment Aggregator:** Using the **GPA** to receive customer payments and auto-split the funds (Artisan share, Cooperative fee, Government fee) instantly.</a:t>
            </a:r>
          </a:p>
          <a:p>
            <a:pPr>
              <a:spcBef>
                <a:spcPts val="600"/>
              </a:spcBef>
              <a:defRPr sz="1400"/>
            </a:pPr>
            <a:r>
              <a:t>• **Creative Economy Marketplace:** Direct API integration between the center's inventory and a national e-commerce portal via **X-Road**.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Energy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Records Management &amp; Energy 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**Lost Correspondence:** Physical files are difficult to track once they leave the registry.</a:t>
            </a:r>
          </a:p>
          <a:p>
            <a:pPr>
              <a:spcBef>
                <a:spcPts val="600"/>
              </a:spcBef>
              <a:defRPr sz="1400"/>
            </a:pPr>
            <a:r>
              <a:t>• **Slow Licensing:** Manual routing of license applications through multiple departments leads to massive delays.</a:t>
            </a:r>
          </a:p>
          <a:p>
            <a:pPr>
              <a:spcBef>
                <a:spcPts val="600"/>
              </a:spcBef>
              <a:defRPr sz="1400"/>
            </a:pPr>
            <a:r>
              <a:t>• **Storage Constraints:** Physical archives are reaching capacity, and retrieval of old records is slow.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**Full EDRMS Implementation:** Digitizing every incoming document at the point of entry and using digital workflows for approvals.</a:t>
            </a:r>
          </a:p>
          <a:p>
            <a:pPr>
              <a:spcBef>
                <a:spcPts val="600"/>
              </a:spcBef>
              <a:defRPr sz="1400"/>
            </a:pPr>
            <a:r>
              <a:t>• **Licensing via Huduma Bridge:** Integrating with **BRS** and **KRA** to automate the vetting of energy companies.</a:t>
            </a:r>
          </a:p>
          <a:p>
            <a:pPr>
              <a:spcBef>
                <a:spcPts val="600"/>
              </a:spcBef>
              <a:defRPr sz="1400"/>
            </a:pPr>
            <a:r>
              <a:t>• **Digital Archives:** Using OCR and metadata tagging to make the national energy archive instantly searchable.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Office of the Government Spokesperson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Public Communication &amp; Information Archiving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ICT Authority (ICTA)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Government ICT Project Implementation and Digital Infrastructure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Digital Systems:** Multiple government systems operate independently without integration.</a:t>
            </a:r>
          </a:p>
          <a:p>
            <a:pPr>
              <a:spcBef>
                <a:spcPts val="600"/>
              </a:spcBef>
              <a:defRPr sz="1400"/>
            </a:pPr>
            <a:r>
              <a:t>• **Duplicated Infrastructure:** Different agencies procure similar ICT infrastructure.</a:t>
            </a:r>
          </a:p>
          <a:p>
            <a:pPr>
              <a:spcBef>
                <a:spcPts val="600"/>
              </a:spcBef>
              <a:defRPr sz="1400"/>
            </a:pPr>
            <a:r>
              <a:t>• **Limited Interoperability:** Data exchange between MDAs is often manual or through batch exports.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**Shared Government Platforms:** Centralized infrastructure including government cloud and national interoperability platforms.</a:t>
            </a:r>
          </a:p>
          <a:p>
            <a:pPr>
              <a:spcBef>
                <a:spcPts val="600"/>
              </a:spcBef>
              <a:defRPr sz="1400"/>
            </a:pPr>
            <a:r>
              <a:t>• **Secure Interoperability:** Adoption of KeSEL / X-Road for secure data exchange.</a:t>
            </a:r>
          </a:p>
          <a:p>
            <a:pPr>
              <a:spcBef>
                <a:spcPts val="600"/>
              </a:spcBef>
              <a:defRPr sz="1400"/>
            </a:pPr>
            <a:r>
              <a:t>• **Digital Trust Infrastructure:** Integration with National PKI and digital identity frameworks.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Kenya Broadcasting Corporation (KBC)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Archival Access and Content 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**Format Deterioration:** Analog tapes (U-matic, Betacam) are degrading, leading to permanent loss of history.</a:t>
            </a:r>
          </a:p>
          <a:p>
            <a:pPr>
              <a:spcBef>
                <a:spcPts val="600"/>
              </a:spcBef>
              <a:defRPr sz="1400"/>
            </a:pPr>
            <a:r>
              <a:t>• **Access Barriers:** Citizens must physically travel to KBC Nairobi to search or collect content.</a:t>
            </a:r>
          </a:p>
          <a:p>
            <a:pPr>
              <a:spcBef>
                <a:spcPts val="600"/>
              </a:spcBef>
              <a:defRPr sz="1400"/>
            </a:pPr>
            <a:r>
              <a:t>• **Payment Friction:** Lack of mobile payment options for small archival requests (e.g., student researchers).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**National Content Lake:** Digitizing all 33M archives and storing them in a secure government cloud.</a:t>
            </a:r>
          </a:p>
          <a:p>
            <a:pPr>
              <a:spcBef>
                <a:spcPts val="600"/>
              </a:spcBef>
              <a:defRPr sz="1400"/>
            </a:pPr>
            <a:r>
              <a:t>• **Public Content Portal:** Allowing citizens to browse low-resolution previews on eCitizen and pay for high-resolution downloads.</a:t>
            </a:r>
          </a:p>
          <a:p>
            <a:pPr>
              <a:spcBef>
                <a:spcPts val="600"/>
              </a:spcBef>
              <a:defRPr sz="1400"/>
            </a:pPr>
            <a:r>
              <a:t>• **GPA Integration:** Enabling instant M-Pesa payments for "Clip Licensing" via the **Government Payment Aggregator**.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Kenya National Qualifications Authority (KNQA)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Qualification Validation and Recognition of Prior Learning (RPL)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**Manual Authentication:** Contacting global universities via email takes weeks or months.</a:t>
            </a:r>
          </a:p>
          <a:p>
            <a:pPr>
              <a:spcBef>
                <a:spcPts val="600"/>
              </a:spcBef>
              <a:defRPr sz="1400"/>
            </a:pPr>
            <a:r>
              <a:t>• **Duplicate Records:** No real-time link to KNEC or university student portals.</a:t>
            </a:r>
          </a:p>
          <a:p>
            <a:pPr>
              <a:spcBef>
                <a:spcPts val="600"/>
              </a:spcBef>
              <a:defRPr sz="1400"/>
            </a:pPr>
            <a:r>
              <a:t>• **Fraud Risk:** Easy to forge paper-based validation letters.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**Automated Verification:** Using **KeSEL (X-Road)** to query KNEC and University databases instantly for student records.</a:t>
            </a:r>
          </a:p>
          <a:p>
            <a:pPr>
              <a:spcBef>
                <a:spcPts val="600"/>
              </a:spcBef>
              <a:defRPr sz="1400"/>
            </a:pPr>
            <a:r>
              <a:t>• **Verifiable Credentials:** Issuing digital validation letters with a QR code that employers can verify instantly on eCitizen.</a:t>
            </a:r>
          </a:p>
          <a:p>
            <a:pPr>
              <a:spcBef>
                <a:spcPts val="600"/>
              </a:spcBef>
              <a:defRPr sz="1400"/>
            </a:pPr>
            <a:r>
              <a:t>• **Blockchain for Qualifications:** Creating an immutable national repository of all academic achievements linked to **Maisha Namba**.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MSME Development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MSME Credit, Fund Management &amp; Apprenticeship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Portals:** Hustler, Uwezo, and Women Enterprise Fund (WEF) have different entry points and rules.</a:t>
            </a:r>
          </a:p>
          <a:p>
            <a:pPr>
              <a:spcBef>
                <a:spcPts val="600"/>
              </a:spcBef>
              <a:defRPr sz="1400"/>
            </a:pPr>
            <a:r>
              <a:t>• **Manual Group Registration:** Opening physical bank accounts and submitting paper constitutions for Uwezo is a significant barrier.</a:t>
            </a:r>
          </a:p>
          <a:p>
            <a:pPr>
              <a:spcBef>
                <a:spcPts val="600"/>
              </a:spcBef>
              <a:defRPr sz="1400"/>
            </a:pPr>
            <a:r>
              <a:t>• **Limited Business Data:** Reliance on ID data alone; lack of integration with BRS for business performance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**Unified MSME Portal:** A single "eCitizen for Business" entry point for all government credit and support programs.</a:t>
            </a:r>
          </a:p>
          <a:p>
            <a:pPr>
              <a:spcBef>
                <a:spcPts val="600"/>
              </a:spcBef>
              <a:defRPr sz="1400"/>
            </a:pPr>
            <a:r>
              <a:t>• **Digital Group Wallets:** Replacing physical bank accounts for groups with digital wallets integrated into the **Government Payment Aggregator**.</a:t>
            </a:r>
          </a:p>
          <a:p>
            <a:pPr>
              <a:spcBef>
                <a:spcPts val="600"/>
              </a:spcBef>
              <a:defRPr sz="1400"/>
            </a:pPr>
            <a:r>
              <a:t>• **Alternative Credit Scoring:** Using BRS data and transaction history from the **GPA** to provide better credit limits.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MINISTRY OF HEALTH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Health Information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Identity:** Patients have different IDs at every hospital.</a:t>
            </a:r>
          </a:p>
          <a:p>
            <a:pPr>
              <a:spcBef>
                <a:spcPts val="600"/>
              </a:spcBef>
              <a:defRPr sz="1400"/>
            </a:pPr>
            <a:r>
              <a:t>• **Data Silos:** Medical history, lab results, and prescriptions cannot be securely shared between facilities.</a:t>
            </a:r>
          </a:p>
          <a:p>
            <a:pPr>
              <a:spcBef>
                <a:spcPts val="600"/>
              </a:spcBef>
              <a:defRPr sz="1400"/>
            </a:pPr>
            <a:r>
              <a:t>• **Incomplete Visibility:** The Ministry cannot view comprehensive public health data in real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**National KHIE Integration:** Deploying a central health exchange using the DSAP X-Road layer.</a:t>
            </a:r>
          </a:p>
          <a:p>
            <a:pPr>
              <a:spcBef>
                <a:spcPts val="600"/>
              </a:spcBef>
              <a:defRPr sz="1400"/>
            </a:pPr>
            <a:r>
              <a:t>• **Unified Identity:** Leveraging Maisha Namba as the primary health identifier.</a:t>
            </a:r>
          </a:p>
          <a:p>
            <a:pPr>
              <a:spcBef>
                <a:spcPts val="600"/>
              </a:spcBef>
              <a:defRPr sz="1400"/>
            </a:pPr>
            <a:r>
              <a:t>• **Shared Health Record (SHR):** Centralized clinical repository for continuity of care.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National Commission for Science, Technology and Innovation (NACOSTI)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Research Licensing and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**Payment Latency:** Waiting for manual bank reconciliation stalls the process even after technical approval.</a:t>
            </a:r>
          </a:p>
          <a:p>
            <a:pPr>
              <a:spcBef>
                <a:spcPts val="600"/>
              </a:spcBef>
              <a:defRPr sz="1400"/>
            </a:pPr>
            <a:r>
              <a:t>• **Manual Verification:** Confirming researcher credentials (from Universities) is done via email/phone.</a:t>
            </a:r>
          </a:p>
          <a:p>
            <a:pPr>
              <a:spcBef>
                <a:spcPts val="600"/>
              </a:spcBef>
              <a:defRPr sz="1400"/>
            </a:pPr>
            <a:r>
              <a:t>• **Fragmented Repositories:** Research findings are not automatically captured in a searchable national knowledge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**Instant GPA Integration:** Using the **Government Payment Aggregator** for real-time mobile/card payments and instant license generation.</a:t>
            </a:r>
          </a:p>
          <a:p>
            <a:pPr>
              <a:spcBef>
                <a:spcPts val="600"/>
              </a:spcBef>
              <a:defRPr sz="1400"/>
            </a:pPr>
            <a:r>
              <a:t>• **Automated Credential Vetting:** Integrating with **KNQA** and **CUE** via **X-Road** to verify academic standing instantly.</a:t>
            </a:r>
          </a:p>
          <a:p>
            <a:pPr>
              <a:spcBef>
                <a:spcPts val="600"/>
              </a:spcBef>
              <a:defRPr sz="1400"/>
            </a:pPr>
            <a:r>
              <a:t>• **Digital Research Repository:** Automatically archiving the research abstract into a national knowledge lake once the license is issued.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National Environment Management Authority (NEMA)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Environmental Impact Assessment (EIA) 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**Lead Agency Delays:** Waiting for comments from other government departments via physical mail stalls projects for months.</a:t>
            </a:r>
          </a:p>
          <a:p>
            <a:pPr>
              <a:spcBef>
                <a:spcPts val="600"/>
              </a:spcBef>
              <a:defRPr sz="1400"/>
            </a:pPr>
            <a:r>
              <a:t>• **Counterfeit Licenses:** Paper-based certificates are easily forged.</a:t>
            </a:r>
          </a:p>
          <a:p>
            <a:pPr>
              <a:spcBef>
                <a:spcPts val="600"/>
              </a:spcBef>
              <a:defRPr sz="1400"/>
            </a:pPr>
            <a:r>
              <a:t>• **Manual Site Logs:** No centralized GIS record of all previous inspections for a specific parcel of land.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**Digital Lead Agency Consultation:** Using **X-Road** to route project reports to all lead agencies simultaneously for digital comment within 7 days.</a:t>
            </a:r>
          </a:p>
          <a:p>
            <a:pPr>
              <a:spcBef>
                <a:spcPts val="600"/>
              </a:spcBef>
              <a:defRPr sz="1400"/>
            </a:pPr>
            <a:r>
              <a:t>• **Mobile GIS Inspections:** Officers use a mobile app to capture site photos and GPS coordinates, instantly syncing with the national environmental database.</a:t>
            </a:r>
          </a:p>
          <a:p>
            <a:pPr>
              <a:spcBef>
                <a:spcPts val="600"/>
              </a:spcBef>
              <a:defRPr sz="1400"/>
            </a:pPr>
            <a:r>
              <a:t>• **Verifiable QR Licenses:** Issuing licenses as digital credentials that can be verified instantly by any law enforcement officer or citizen.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National Government Coordination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Inter-Agency Coordination and Information Tasking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**Template Non-Compliance:** MDAs often modify Excel templates, making automated merging impossible.</a:t>
            </a:r>
          </a:p>
          <a:p>
            <a:pPr>
              <a:spcBef>
                <a:spcPts val="600"/>
              </a:spcBef>
              <a:defRPr sz="1400"/>
            </a:pPr>
            <a:r>
              <a:t>• **Reporting Fatigue:** MDAs are constantly asked for similar data by different coordination offices (Coordination, Cabinet, HPS).</a:t>
            </a:r>
          </a:p>
          <a:p>
            <a:pPr>
              <a:spcBef>
                <a:spcPts val="600"/>
              </a:spcBef>
              <a:defRPr sz="1400"/>
            </a:pPr>
            <a:r>
              <a:t>• **Static SitReps:** Reports are "snapshots" in time and are often outdated by the time they reach leadership.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**Automated Data Pull:** Instead of asking MDAs for data, the coordination hub "pulls" the required fields directly from MDA databases via **X-Road**.</a:t>
            </a:r>
          </a:p>
          <a:p>
            <a:pPr>
              <a:spcBef>
                <a:spcPts val="600"/>
              </a:spcBef>
              <a:defRPr sz="1400"/>
            </a:pPr>
            <a:r>
              <a:t>• **Real-Time Dashboards:** Replacing weekly SitReps with a live dashboard that MDAs update as part of their daily operations.</a:t>
            </a:r>
          </a:p>
          <a:p>
            <a:pPr>
              <a:spcBef>
                <a:spcPts val="600"/>
              </a:spcBef>
              <a:defRPr sz="1400"/>
            </a:pPr>
            <a:r>
              <a:t>• **Unified Tasking:** A single "National Tasks" engine that ensures Principal Secretaries see all directives in one place.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Office of the Head of Public Service (OHPS)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Executive Coordination and Presidential Directives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**Manual Tracking:** Relying on emails and memos makes it nearly impossible to have real-time visibility into MDA compliance.</a:t>
            </a:r>
          </a:p>
          <a:p>
            <a:pPr>
              <a:spcBef>
                <a:spcPts val="600"/>
              </a:spcBef>
              <a:defRPr sz="1400"/>
            </a:pPr>
            <a:r>
              <a:t>• **Data Silos:** Reports from MDAs are unstructured (Word/Excel), requiring massive manual effort to consolidate.</a:t>
            </a:r>
          </a:p>
          <a:p>
            <a:pPr>
              <a:spcBef>
                <a:spcPts val="600"/>
              </a:spcBef>
              <a:defRPr sz="1400"/>
            </a:pPr>
            <a:r>
              <a:t>• **Delayed Intervention:** Corrective actions happen only after quarterly reports are reviewed, leading to long implementation delays.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**Automated Workflow:** Implement an Executive Coordination Portal to digitize tasking and tracking.</a:t>
            </a:r>
          </a:p>
          <a:p>
            <a:pPr>
              <a:spcBef>
                <a:spcPts val="600"/>
              </a:spcBef>
              <a:defRPr sz="1400"/>
            </a:pPr>
            <a:r>
              <a:t>• **Interoperability (X-Road):** Pull actual performance data directly from MDA core systems rather than relying on self-reported spreadsheets.</a:t>
            </a:r>
          </a:p>
          <a:p>
            <a:pPr>
              <a:spcBef>
                <a:spcPts val="600"/>
              </a:spcBef>
              <a:defRPr sz="1400"/>
            </a:pPr>
            <a:r>
              <a:t>• **Real-Time Dashboards:** Provide the Head of Public Service with live tracking of all directives.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Office of the Head of Public Service (OHPS)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Executive Coordination and Presidential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**Delayed Feedback:** Relying on quarterly paper-based reports means gaps are identified months too late.</a:t>
            </a:r>
          </a:p>
          <a:p>
            <a:pPr>
              <a:spcBef>
                <a:spcPts val="600"/>
              </a:spcBef>
              <a:defRPr sz="1400"/>
            </a:pPr>
            <a:r>
              <a:t>• **Manual Consolidation:** High risk of errors and data manipulation when merging reports from 20+ Ministries.</a:t>
            </a:r>
          </a:p>
          <a:p>
            <a:pPr>
              <a:spcBef>
                <a:spcPts val="600"/>
              </a:spcBef>
              <a:defRPr sz="1400"/>
            </a:pPr>
            <a:r>
              <a:t>• **Lack of Real-Time Tracking:** No central dashboard to see the current status of "National Priority" projects instantly.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**Automated Performance Pull:** Instead of waiting for reports, the OHPS system can "pull" completion data from MDA systems via **X-Road**.</a:t>
            </a:r>
          </a:p>
          <a:p>
            <a:pPr>
              <a:spcBef>
                <a:spcPts val="600"/>
              </a:spcBef>
              <a:defRPr sz="1400"/>
            </a:pPr>
            <a:r>
              <a:t>• **Unified Executive Dashboard:** A real-time visualization of all Presidential Directives and their current "RAG" (Red/Amber/Green) status.</a:t>
            </a:r>
          </a:p>
          <a:p>
            <a:pPr>
              <a:spcBef>
                <a:spcPts val="600"/>
              </a:spcBef>
              <a:defRPr sz="1400"/>
            </a:pPr>
            <a:r>
              <a:t>• **Digital Directives:** Issuing and tracking instructions through a secure, non-repudiable workflow engine.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Correctional Services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Inmate Case Management and Rehabilitation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Records:** If a prisoner is moved from Nairobi to Shimo La Tewa, their medical and behavioral history often follows weeks later via physical mail.</a:t>
            </a:r>
          </a:p>
          <a:p>
            <a:pPr>
              <a:spcBef>
                <a:spcPts val="600"/>
              </a:spcBef>
              <a:defRPr sz="1400"/>
            </a:pPr>
            <a:r>
              <a:t>• **Identity Gaps:** Hard to verify if an individual has previously served time under a different name without central biometrics.</a:t>
            </a:r>
          </a:p>
          <a:p>
            <a:pPr>
              <a:spcBef>
                <a:spcPts val="600"/>
              </a:spcBef>
              <a:defRPr sz="1400"/>
            </a:pPr>
            <a:r>
              <a:t>• **Manual Computation:** High risk of errors in calculating sentence expiry 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**National Inmate Registry:** A central, biometric-linked database accessible to all facilities via **X-Road**.</a:t>
            </a:r>
          </a:p>
          <a:p>
            <a:pPr>
              <a:spcBef>
                <a:spcPts val="600"/>
              </a:spcBef>
              <a:defRPr sz="1400"/>
            </a:pPr>
            <a:r>
              <a:t>• **Judiciary Integration:** Real-time digital committal warrants pushed directly from the **Judiciary CMS**.</a:t>
            </a:r>
          </a:p>
          <a:p>
            <a:pPr>
              <a:spcBef>
                <a:spcPts val="600"/>
              </a:spcBef>
              <a:defRPr sz="1400"/>
            </a:pPr>
            <a:r>
              <a:t>• **Unified Health/Education:** Linking inmate progress to **MOH (Afya App)** and **KNQA** for vocational certification.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IMMIGRATION AND CITIZEN SERVICES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Passport Application &amp; Issuance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**Booklet Shortage:** Frequent delays due to lack of blank passport booklets.</a:t>
            </a:r>
          </a:p>
          <a:p>
            <a:pPr>
              <a:spcBef>
                <a:spcPts val="600"/>
              </a:spcBef>
              <a:defRPr sz="1400"/>
            </a:pPr>
            <a:r>
              <a:t>• **Machine Breakdown:** Few printing machines (mainly in Nairobi), causing national backlog.</a:t>
            </a:r>
          </a:p>
          <a:p>
            <a:pPr>
              <a:spcBef>
                <a:spcPts val="600"/>
              </a:spcBef>
              <a:defRPr sz="1400"/>
            </a:pPr>
            <a:r>
              <a:t>• **Appointment Delays:** Slots booked out for months; forced to travel to other towns.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**Decentralized Printing:** Install printers in key regional offices (Mombasa, Kisumu).</a:t>
            </a:r>
          </a:p>
          <a:p>
            <a:pPr>
              <a:spcBef>
                <a:spcPts val="600"/>
              </a:spcBef>
              <a:defRPr sz="1400"/>
            </a:pPr>
            <a:r>
              <a:t>• **Mobile Enrollment:** Portable biometric kits for diaspora or remote areas.</a:t>
            </a:r>
          </a:p>
          <a:p>
            <a:pPr>
              <a:spcBef>
                <a:spcPts val="600"/>
              </a:spcBef>
              <a:defRPr sz="1400"/>
            </a:pPr>
            <a:r>
              <a:t>• **Auto-Approval:** Integrate with IPRS/NRB to auto-approve renewal applications (no new biometrics needed if data hasn't changed).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Sports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Federation Registration, Grants &amp; Facility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Athlete Data:** No central database of all registered athletes, making talent tracking difficult.</a:t>
            </a:r>
          </a:p>
          <a:p>
            <a:pPr>
              <a:spcBef>
                <a:spcPts val="600"/>
              </a:spcBef>
              <a:defRPr sz="1400"/>
            </a:pPr>
            <a:r>
              <a:t>• **Grant Transparency:** Manual grant processing leads to delays and lack of visibility for athletes.</a:t>
            </a:r>
          </a:p>
          <a:p>
            <a:pPr>
              <a:spcBef>
                <a:spcPts val="600"/>
              </a:spcBef>
              <a:defRPr sz="1400"/>
            </a:pPr>
            <a:r>
              <a:t>• **Double Booking:** Standalone facility systems sometimes conflict with high-level government event schedules.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**National Athlete Registry:** Using **Maisha Namba** to track every athlete's career from school (NEMIS) to professional level.</a:t>
            </a:r>
          </a:p>
          <a:p>
            <a:pPr>
              <a:spcBef>
                <a:spcPts val="600"/>
              </a:spcBef>
              <a:defRPr sz="1400"/>
            </a:pPr>
            <a:r>
              <a:t>• **Unified Booking Engine:** A central "Stadium App" integrated with the **Government Payment Aggregator** for instant booking and payment.</a:t>
            </a:r>
          </a:p>
          <a:p>
            <a:pPr>
              <a:spcBef>
                <a:spcPts val="600"/>
              </a:spcBef>
              <a:defRPr sz="1400"/>
            </a:pPr>
            <a:r>
              <a:t>• **Digital Grant Wallets:** Directly disbursing grants to athletes' digital wallets, bypassing intermediaries.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Children Services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Child Protection Case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**Siloed Paper Records:** If a child moves from Nairobi to Mombasa, their protection history is lost because the files are physical.</a:t>
            </a:r>
          </a:p>
          <a:p>
            <a:pPr>
              <a:spcBef>
                <a:spcPts val="600"/>
              </a:spcBef>
              <a:defRPr sz="1400"/>
            </a:pPr>
            <a:r>
              <a:t>• **Delayed Response:** Manual routing of emergency cases through physical committees takes too long.</a:t>
            </a:r>
          </a:p>
          <a:p>
            <a:pPr>
              <a:spcBef>
                <a:spcPts val="600"/>
              </a:spcBef>
              <a:defRPr sz="1400"/>
            </a:pPr>
            <a:r>
              <a:t>• **Data Security:** Sensitive case files are stored in physical cabinets, posing a risk to the child's privacy.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**National CPIMS:** A unified digital platform for tracking every child protection case across Kenya.</a:t>
            </a:r>
          </a:p>
          <a:p>
            <a:pPr>
              <a:spcBef>
                <a:spcPts val="600"/>
              </a:spcBef>
              <a:defRPr sz="1400"/>
            </a:pPr>
            <a:r>
              <a:t>• **Biometric Identity (Maisha Namba):** Linking every case to a child's UPI to ensure continuity of care regardless of location.</a:t>
            </a:r>
          </a:p>
          <a:p>
            <a:pPr>
              <a:spcBef>
                <a:spcPts val="600"/>
              </a:spcBef>
              <a:defRPr sz="1400"/>
            </a:pPr>
            <a:r>
              <a:t>• **Digital Court Integration:** Direct API link to the Judiciary's Case Management System for filing protection orders.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Special Programmes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Social Protection &amp; Beneficiary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ICT and the Digital Economy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Digital Government Infrastructure and ICT Policy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Systems:** Many MDAs develop standalone systems that do not integrate with other government platforms.</a:t>
            </a:r>
          </a:p>
          <a:p>
            <a:pPr>
              <a:spcBef>
                <a:spcPts val="600"/>
              </a:spcBef>
              <a:defRPr sz="1400"/>
            </a:pPr>
            <a:r>
              <a:t>• **Duplication of Infrastructure:** Multiple agencies build similar systems without shared platforms.</a:t>
            </a:r>
          </a:p>
          <a:p>
            <a:pPr>
              <a:spcBef>
                <a:spcPts val="600"/>
              </a:spcBef>
              <a:defRPr sz="1400"/>
            </a:pPr>
            <a:r>
              <a:t>• **Limited Interoperability:** Data exchange between MDAs is often manual or ad-hoc.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**Whole-of-Government Interoperability:** Adoption of KeSEL / X-Road architecture for secure data exchange.</a:t>
            </a:r>
          </a:p>
          <a:p>
            <a:pPr>
              <a:spcBef>
                <a:spcPts val="600"/>
              </a:spcBef>
              <a:defRPr sz="1400"/>
            </a:pPr>
            <a:r>
              <a:t>• **Shared Digital Infrastructure:** Government cloud, national data centers, and shared digital platforms.</a:t>
            </a:r>
          </a:p>
          <a:p>
            <a:pPr>
              <a:spcBef>
                <a:spcPts val="600"/>
              </a:spcBef>
              <a:defRPr sz="1400"/>
            </a:pPr>
            <a:r>
              <a:t>• **Digital Identity Integration:** Use of Maisha Namba / National Digital ID across government services.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ICT and the Digital Economy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Digital Government Infrastructure and ICT Policy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**Fragmented Systems:** Many MDAs develop standalone systems that do not integrate with other government platforms.</a:t>
            </a:r>
          </a:p>
          <a:p>
            <a:pPr>
              <a:spcBef>
                <a:spcPts val="600"/>
              </a:spcBef>
              <a:defRPr sz="1400"/>
            </a:pPr>
            <a:r>
              <a:t>• **Duplication of Infrastructure:** Multiple agencies build similar systems without shared platforms.</a:t>
            </a:r>
          </a:p>
          <a:p>
            <a:pPr>
              <a:spcBef>
                <a:spcPts val="600"/>
              </a:spcBef>
              <a:defRPr sz="1400"/>
            </a:pPr>
            <a:r>
              <a:t>• **Limited Interoperability:** Data exchange between MDAs is often manual or ad-hoc.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**Whole-of-Government Interoperability:** Adoption of KeSEL / X-Road architecture for secure data exchange.</a:t>
            </a:r>
          </a:p>
          <a:p>
            <a:pPr>
              <a:spcBef>
                <a:spcPts val="600"/>
              </a:spcBef>
              <a:defRPr sz="1400"/>
            </a:pPr>
            <a:r>
              <a:t>• **Shared Digital Infrastructure:** Government cloud, national data centers, and shared digital platforms.</a:t>
            </a:r>
          </a:p>
          <a:p>
            <a:pPr>
              <a:spcBef>
                <a:spcPts val="600"/>
              </a:spcBef>
              <a:defRPr sz="1400"/>
            </a:pPr>
            <a:r>
              <a:t>• **Digital Identity Integration:** Use of Maisha Namba / National Digital ID across government services.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State Department for Youth Affairs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Youth Internship Placement &amp; AGPO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**Document Fatigue:** Youth have to upload the same ID and certificates for every application.</a:t>
            </a:r>
          </a:p>
          <a:p>
            <a:pPr>
              <a:spcBef>
                <a:spcPts val="600"/>
              </a:spcBef>
              <a:defRPr sz="1400"/>
            </a:pPr>
            <a:r>
              <a:t>• **Inefficient Matching:** Manual matching of 50,000+ interns to 1,000+ slots is slow and error-prone.</a:t>
            </a:r>
          </a:p>
          <a:p>
            <a:pPr>
              <a:spcBef>
                <a:spcPts val="600"/>
              </a:spcBef>
              <a:defRPr sz="1400"/>
            </a:pPr>
            <a:r>
              <a:t>• **Vetting Delays:** AGPO certification takes weeks due to manual business ownership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**Once-Only Data Pull:** Fetching ID from **IPRS**, Academic data from **KNEC/KNQA**, and Business data from **BRS** via **X-Road**.</a:t>
            </a:r>
          </a:p>
          <a:p>
            <a:pPr>
              <a:spcBef>
                <a:spcPts val="600"/>
              </a:spcBef>
              <a:defRPr sz="1400"/>
            </a:pPr>
            <a:r>
              <a:t>• **AI-Powered Matching:** An automated engine that matches interns to hosts based on GPS location and skill sets.</a:t>
            </a:r>
          </a:p>
          <a:p>
            <a:pPr>
              <a:spcBef>
                <a:spcPts val="600"/>
              </a:spcBef>
              <a:defRPr sz="1400"/>
            </a:pPr>
            <a:r>
              <a:t>• **Real-Time AGPO Certification:** Instantly issuing AGPO certificates once the system confirms the directors are 18-35 via IPRS.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Department of Civil Registration Services (CRS)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Birth and Death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**Manual Backlogs:** Physical registers in district offices lead to delays in searching and retrieving records.</a:t>
            </a:r>
          </a:p>
          <a:p>
            <a:pPr>
              <a:spcBef>
                <a:spcPts val="600"/>
              </a:spcBef>
              <a:defRPr sz="1400"/>
            </a:pPr>
            <a:r>
              <a:t>• **Identity Fraud:** Difficulty in verifying the identity of parents or informants against IPRS in real-time.</a:t>
            </a:r>
          </a:p>
          <a:p>
            <a:pPr>
              <a:spcBef>
                <a:spcPts val="600"/>
              </a:spcBef>
              <a:defRPr sz="1400"/>
            </a:pPr>
            <a:r>
              <a:t>• **Late Registration:** Complexities in "Late Registration" (after 6 months) discourage citizens from formalizing vital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**Event-Driven Architecture:** Automatic registration triggered when a birth is logged in the MOH **Afya App**.</a:t>
            </a:r>
          </a:p>
          <a:p>
            <a:pPr>
              <a:spcBef>
                <a:spcPts val="600"/>
              </a:spcBef>
              <a:defRPr sz="1400"/>
            </a:pPr>
            <a:r>
              <a:t>• **Unified Identity (Maisha Namba):** Instant generation of a Unique Personal Identifier (UPI) upon birth registration.</a:t>
            </a:r>
          </a:p>
          <a:p>
            <a:pPr>
              <a:spcBef>
                <a:spcPts val="600"/>
              </a:spcBef>
              <a:defRPr sz="1400"/>
            </a:pPr>
            <a:r>
              <a:t>• **Digital Certificates:** Issuing cryptographically signed digital certificates directly to the citizen's mobile wallet.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03366"/>
                </a:solidFill>
              </a:defRPr>
            </a:pPr>
            <a:r>
              <a:t>Department of Refugee Services (DRS)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Refugee Status Determination and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C80000"/>
                </a:solidFill>
              </a:defRPr>
            </a:pPr>
            <a:r>
              <a:t>Current Pain Points (AS-IS)</a:t>
            </a:r>
          </a:p>
          <a:p>
            <a:pPr>
              <a:spcBef>
                <a:spcPts val="600"/>
              </a:spcBef>
              <a:defRPr sz="1400"/>
            </a:pPr>
            <a:r>
              <a:t>• **Siloed Databases:** Disconnect between DRS systems, UNHCR proGres, and the national IPRS/NRB.</a:t>
            </a:r>
          </a:p>
          <a:p>
            <a:pPr>
              <a:spcBef>
                <a:spcPts val="600"/>
              </a:spcBef>
              <a:defRPr sz="1400"/>
            </a:pPr>
            <a:r>
              <a:t>• **Manual Verification:** RSD Committee relies on paper files and manual testimony transcription.</a:t>
            </a:r>
          </a:p>
          <a:p>
            <a:pPr>
              <a:spcBef>
                <a:spcPts val="600"/>
              </a:spcBef>
              <a:defRPr sz="1400"/>
            </a:pPr>
            <a:r>
              <a:t>• **Documentation Delays:** Producing physical Refugee ID Cards and Travel Documents takes months due to lack of integration with central printing facilities.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009600"/>
                </a:solidFill>
              </a:defRPr>
            </a:pPr>
            <a:r>
              <a:t>Digital Transformation (TO-BE)</a:t>
            </a:r>
          </a:p>
          <a:p>
            <a:pPr>
              <a:spcBef>
                <a:spcPts val="600"/>
              </a:spcBef>
              <a:defRPr sz="1400"/>
            </a:pPr>
            <a:r>
              <a:t>• **National Identity Integration:** Minting a specific "Maisha Namba" for recognized refugees to allow them access to eCitizen services (like KRA PIN, SHA, NSSF).</a:t>
            </a:r>
          </a:p>
          <a:p>
            <a:pPr>
              <a:spcBef>
                <a:spcPts val="600"/>
              </a:spcBef>
              <a:defRPr sz="1400"/>
            </a:pPr>
            <a:r>
              <a:t>• **Automated Workflows:** Using a central Workflow Engine to route files from Registration to the RSD Committee digitally.</a:t>
            </a:r>
          </a:p>
          <a:p>
            <a:pPr>
              <a:spcBef>
                <a:spcPts val="600"/>
              </a:spcBef>
              <a:defRPr sz="1400"/>
            </a:pPr>
            <a:r>
              <a:t>• **Digital Credentials:** Issuing verifiable digital IDs alongside physical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